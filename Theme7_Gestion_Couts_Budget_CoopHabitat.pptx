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fr-FR" sz="1300" b="0" i="0" u="none" strike="noStrike">
                <a:solidFill>
                  <a:srgbClr val="1B2A4A"/>
                </a:solidFill>
                <a:latin typeface="Calibri"/>
              </a:rPr>
              <a:t>Coût cumulé (millions FCFA)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 planifiée (PV)</c:v>
                </c:pt>
              </c:strCache>
            </c:strRef>
          </c:tx>
          <c:spPr>
            <a:ln w="31750" cap="flat">
              <a:solidFill>
                <a:srgbClr val="6E7F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E7FA0"/>
              </a:solidFill>
              <a:ln w="9525" cap="flat">
                <a:solidFill>
                  <a:srgbClr val="6E7FA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Mois 1</c:v>
                </c:pt>
                <c:pt idx="1">
                  <c:v>Mois 2</c:v>
                </c:pt>
                <c:pt idx="2">
                  <c:v>Mois 3</c:v>
                </c:pt>
                <c:pt idx="3">
                  <c:v>Mois 4</c:v>
                </c:pt>
                <c:pt idx="4">
                  <c:v>Mois 5</c:v>
                </c:pt>
                <c:pt idx="5">
                  <c:v>Mois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3.75</c:v>
                </c:pt>
                <c:pt idx="2">
                  <c:v>6.75</c:v>
                </c:pt>
                <c:pt idx="3">
                  <c:v>10</c:v>
                </c:pt>
                <c:pt idx="4">
                  <c:v>12.75</c:v>
                </c:pt>
                <c:pt idx="5">
                  <c:v>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Valeur acquise (EV)</c:v>
                </c:pt>
              </c:strCache>
            </c:strRef>
          </c:tx>
          <c:spPr>
            <a:ln w="31750" cap="flat">
              <a:solidFill>
                <a:srgbClr val="E0A5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A526"/>
              </a:solidFill>
              <a:ln w="9525" cap="flat">
                <a:solidFill>
                  <a:srgbClr val="E0A52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Mois 1</c:v>
                </c:pt>
                <c:pt idx="1">
                  <c:v>Mois 2</c:v>
                </c:pt>
                <c:pt idx="2">
                  <c:v>Mois 3</c:v>
                </c:pt>
                <c:pt idx="3">
                  <c:v>Mois 4</c:v>
                </c:pt>
                <c:pt idx="4">
                  <c:v>Mois 5</c:v>
                </c:pt>
                <c:pt idx="5">
                  <c:v>Mois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1.35</c:v>
                </c:pt>
                <c:pt idx="1">
                  <c:v>3</c:v>
                </c:pt>
                <c:pt idx="2">
                  <c:v>5.25</c:v>
                </c:pt>
                <c:pt idx="3">
                  <c:v>8.25</c:v>
                </c:pt>
                <c:pt idx="4">
                  <c:v>11.25</c:v>
                </c:pt>
                <c:pt idx="5">
                  <c:v>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Coût réel (AC)</c:v>
                </c:pt>
              </c:strCache>
            </c:strRef>
          </c:tx>
          <c:spPr>
            <a:ln w="31750" cap="flat">
              <a:solidFill>
                <a:srgbClr val="C1121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1121F"/>
              </a:solidFill>
              <a:ln w="9525" cap="flat">
                <a:solidFill>
                  <a:srgbClr val="C1121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Mois 1</c:v>
                </c:pt>
                <c:pt idx="1">
                  <c:v>Mois 2</c:v>
                </c:pt>
                <c:pt idx="2">
                  <c:v>Mois 3</c:v>
                </c:pt>
                <c:pt idx="3">
                  <c:v>Mois 4</c:v>
                </c:pt>
                <c:pt idx="4">
                  <c:v>Mois 5</c:v>
                </c:pt>
                <c:pt idx="5">
                  <c:v>Mois 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1.8</c:v>
                </c:pt>
                <c:pt idx="1">
                  <c:v>4.2</c:v>
                </c:pt>
                <c:pt idx="2">
                  <c:v>7.5</c:v>
                </c:pt>
                <c:pt idx="3">
                  <c:v>10.5</c:v>
                </c:pt>
                <c:pt idx="4">
                  <c:v>15.5</c:v>
                </c:pt>
                <c:pt idx="5">
                  <c:v>19.079999999999998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2857464"/>
        <c:axId val="332859032"/>
      </c:lineChart>
      <c:catAx>
        <c:axId val="332857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fr-FR"/>
          </a:p>
        </c:txPr>
        <c:crossAx val="332859032"/>
        <c:crosses val="autoZero"/>
        <c:auto val="1"/>
        <c:lblAlgn val="ctr"/>
        <c:lblOffset val="100"/>
        <c:noMultiLvlLbl val="1"/>
      </c:catAx>
      <c:valAx>
        <c:axId val="33285903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3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lang="fr-FR" sz="1100" b="0" i="0" u="none" strike="noStrike">
                    <a:solidFill>
                      <a:srgbClr val="5B6472"/>
                    </a:solidFill>
                    <a:latin typeface="Arial"/>
                  </a:rPr>
                  <a:t>M FCFA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fr-FR"/>
          </a:p>
        </c:txPr>
        <c:crossAx val="332857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B2A4A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644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383280"/>
            <a:ext cx="1188720" cy="118872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760720"/>
            <a:ext cx="320040" cy="32004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Coûts et du Budget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Estimation, Earned Value Management et pilotage financier — appliqués au projet CoopHabitat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25400">
            <a:solidFill>
              <a:srgbClr val="E0A5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CoopHabitat — Gestion numérique d'une coopérative d'habitat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82296" cy="82296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5537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Coumbel Ka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4709160"/>
            <a:ext cx="82296" cy="82296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45537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Abdourahmane Diaw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4709160"/>
            <a:ext cx="82296" cy="82296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45537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Ousmane Niang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4709160"/>
            <a:ext cx="82296" cy="82296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45537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 Diallo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35440" y="4709160"/>
            <a:ext cx="82296" cy="82296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0" y="45537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Abib Traore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r>
              <a:rPr lang="en-US" sz="115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smtClean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Licence 3 Génie Informatique  •  UFR Sciences et Technologies  •  Université Assane Seck de Ziguinchor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01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Théorique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2724912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968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d'estimation des coûts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383280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55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décomposition des coûts (CBS)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041648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913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Management : principes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4700016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72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EVM : CPI &amp; SPI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5358384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230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d'achèvement : EAC, ETC, VAC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45352" y="1600200"/>
            <a:ext cx="5394960" cy="443484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65392" y="1901952"/>
            <a:ext cx="502920" cy="50292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0" name="Text 18"/>
          <p:cNvSpPr/>
          <p:nvPr/>
        </p:nvSpPr>
        <p:spPr>
          <a:xfrm>
            <a:off x="6565392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51192" y="1901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Pratique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565392" y="2724912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3" name="Text 21"/>
          <p:cNvSpPr/>
          <p:nvPr/>
        </p:nvSpPr>
        <p:spPr>
          <a:xfrm>
            <a:off x="6793992" y="25968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le budget CoopHabitat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65392" y="3383280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5" name="Text 23"/>
          <p:cNvSpPr/>
          <p:nvPr/>
        </p:nvSpPr>
        <p:spPr>
          <a:xfrm>
            <a:off x="6793992" y="3255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indicateurs EVM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65392" y="4041648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7" name="Text 25"/>
          <p:cNvSpPr/>
          <p:nvPr/>
        </p:nvSpPr>
        <p:spPr>
          <a:xfrm>
            <a:off x="6793992" y="3913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écarts &amp; décisions correctives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65392" y="4700016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9" name="Text 27"/>
          <p:cNvSpPr/>
          <p:nvPr/>
        </p:nvSpPr>
        <p:spPr>
          <a:xfrm>
            <a:off x="6793992" y="4572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S : baseline vs réalisé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565392" y="5358384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31" name="Text 29"/>
          <p:cNvSpPr/>
          <p:nvPr/>
        </p:nvSpPr>
        <p:spPr>
          <a:xfrm>
            <a:off x="6793992" y="5230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financier de projet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Méthodes d'estimation des coûts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approches, trois compromis entre rapidité et précision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520440" cy="164592"/>
          </a:xfrm>
          <a:prstGeom prst="rect">
            <a:avLst/>
          </a:prstGeom>
          <a:solidFill>
            <a:srgbClr val="6E7FA0"/>
          </a:solidFill>
          <a:ln/>
        </p:spPr>
      </p:sp>
      <p:sp>
        <p:nvSpPr>
          <p:cNvPr id="7" name="Shape 5"/>
          <p:cNvSpPr/>
          <p:nvPr/>
        </p:nvSpPr>
        <p:spPr>
          <a:xfrm>
            <a:off x="1943100" y="2194560"/>
            <a:ext cx="731520" cy="731520"/>
          </a:xfrm>
          <a:prstGeom prst="ellipse">
            <a:avLst/>
          </a:prstGeom>
          <a:solidFill>
            <a:srgbClr val="6E7FA0"/>
          </a:solidFill>
          <a:ln/>
        </p:spPr>
      </p:sp>
      <p:sp>
        <p:nvSpPr>
          <p:cNvPr id="8" name="Text 6"/>
          <p:cNvSpPr/>
          <p:nvPr/>
        </p:nvSpPr>
        <p:spPr>
          <a:xfrm>
            <a:off x="19431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Analogique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S'appuie sur des projets similaires déjà réalisés pour estimer rapidement un ordre de grandeur.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5074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5349240"/>
            <a:ext cx="2880360" cy="164592"/>
          </a:xfrm>
          <a:prstGeom prst="rect">
            <a:avLst/>
          </a:prstGeom>
          <a:solidFill>
            <a:srgbClr val="E7E7E4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5349240"/>
            <a:ext cx="864108" cy="164592"/>
          </a:xfrm>
          <a:prstGeom prst="rect">
            <a:avLst/>
          </a:prstGeom>
          <a:solidFill>
            <a:srgbClr val="6E7FA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6418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5916168"/>
            <a:ext cx="2880360" cy="164592"/>
          </a:xfrm>
          <a:prstGeom prst="rect">
            <a:avLst/>
          </a:prstGeom>
          <a:solidFill>
            <a:srgbClr val="E7E7E4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5916168"/>
            <a:ext cx="864108" cy="164592"/>
          </a:xfrm>
          <a:prstGeom prst="rect">
            <a:avLst/>
          </a:prstGeom>
          <a:solidFill>
            <a:srgbClr val="6E7FA0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5112" y="178308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25112" y="1783080"/>
            <a:ext cx="3520440" cy="164592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9572" y="2194560"/>
            <a:ext cx="731520" cy="73152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0" name="Text 18"/>
          <p:cNvSpPr/>
          <p:nvPr/>
        </p:nvSpPr>
        <p:spPr>
          <a:xfrm>
            <a:off x="5719572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07992" y="3108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Paramétrique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45152" y="365760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un modèle statistique reliant le coût à des variables mesurables (ex. coût / fonctionnalité).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45152" y="5074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45152" y="5349240"/>
            <a:ext cx="2880360" cy="164592"/>
          </a:xfrm>
          <a:prstGeom prst="rect">
            <a:avLst/>
          </a:prstGeom>
          <a:solidFill>
            <a:srgbClr val="E7E7E4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5349240"/>
            <a:ext cx="1785823" cy="164592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56418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45152" y="5916168"/>
            <a:ext cx="2880360" cy="164592"/>
          </a:xfrm>
          <a:prstGeom prst="rect">
            <a:avLst/>
          </a:prstGeom>
          <a:solidFill>
            <a:srgbClr val="E7E7E4"/>
          </a:solidFill>
          <a:ln/>
        </p:spPr>
      </p:sp>
      <p:sp>
        <p:nvSpPr>
          <p:cNvPr id="28" name="Shape 26"/>
          <p:cNvSpPr/>
          <p:nvPr/>
        </p:nvSpPr>
        <p:spPr>
          <a:xfrm>
            <a:off x="4645152" y="5916168"/>
            <a:ext cx="1785823" cy="164592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29" name="Shape 27"/>
          <p:cNvSpPr/>
          <p:nvPr/>
        </p:nvSpPr>
        <p:spPr>
          <a:xfrm>
            <a:off x="8101584" y="178308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01584" y="1783080"/>
            <a:ext cx="3520440" cy="1645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9496044" y="219456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9496044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284464" y="3108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21624" y="365760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 chaque tâche du WBS en détail puis agrège l'ensemble : la plus précise, la plus coûteuse en temps.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21624" y="50749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421624" y="5349240"/>
            <a:ext cx="2880360" cy="164592"/>
          </a:xfrm>
          <a:prstGeom prst="rect">
            <a:avLst/>
          </a:prstGeom>
          <a:solidFill>
            <a:srgbClr val="E7E7E4"/>
          </a:solidFill>
          <a:ln/>
        </p:spPr>
      </p:sp>
      <p:sp>
        <p:nvSpPr>
          <p:cNvPr id="37" name="Shape 35"/>
          <p:cNvSpPr/>
          <p:nvPr/>
        </p:nvSpPr>
        <p:spPr>
          <a:xfrm>
            <a:off x="8421624" y="5349240"/>
            <a:ext cx="2736342" cy="1645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8421624" y="56418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421624" y="5916168"/>
            <a:ext cx="2880360" cy="164592"/>
          </a:xfrm>
          <a:prstGeom prst="rect">
            <a:avLst/>
          </a:prstGeom>
          <a:solidFill>
            <a:srgbClr val="E7E7E4"/>
          </a:solidFill>
          <a:ln/>
        </p:spPr>
      </p:sp>
      <p:sp>
        <p:nvSpPr>
          <p:cNvPr id="40" name="Shape 38"/>
          <p:cNvSpPr/>
          <p:nvPr/>
        </p:nvSpPr>
        <p:spPr>
          <a:xfrm>
            <a:off x="8421624" y="5916168"/>
            <a:ext cx="2736342" cy="1645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de décomposition des coûts (CBS)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budget total est ventilé en postes de coûts homogènes et mesurables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978908" cy="685800"/>
          </a:xfrm>
          <a:prstGeom prst="rect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27548" y="1965960"/>
            <a:ext cx="1106424" cy="685800"/>
          </a:xfrm>
          <a:prstGeom prst="rect">
            <a:avLst/>
          </a:prstGeom>
          <a:solidFill>
            <a:srgbClr val="6E7F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33972" y="1965960"/>
            <a:ext cx="1327709" cy="685800"/>
          </a:xfrm>
          <a:prstGeom prst="rect">
            <a:avLst/>
          </a:prstGeom>
          <a:solidFill>
            <a:srgbClr val="E0A52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61681" y="1965960"/>
            <a:ext cx="1438351" cy="685800"/>
          </a:xfrm>
          <a:prstGeom prst="rect">
            <a:avLst/>
          </a:prstGeom>
          <a:solidFill>
            <a:srgbClr val="C112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00032" y="1965960"/>
            <a:ext cx="885139" cy="685800"/>
          </a:xfrm>
          <a:prstGeom prst="rect">
            <a:avLst/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85171" y="1965960"/>
            <a:ext cx="1327709" cy="685800"/>
          </a:xfrm>
          <a:prstGeom prst="rect">
            <a:avLst/>
          </a:prstGeom>
          <a:solidFill>
            <a:srgbClr val="9FB0C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118104"/>
            <a:ext cx="27432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9900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(Spring Boot / Angular)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3355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6 750 000 FCFA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3118104"/>
            <a:ext cx="274320" cy="274320"/>
          </a:xfrm>
          <a:prstGeom prst="rect">
            <a:avLst/>
          </a:prstGeom>
          <a:solidFill>
            <a:srgbClr val="6E7FA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9900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Cloud &amp; hébergement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3355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1 500 000 FCFA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69664"/>
            <a:ext cx="274320" cy="27432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0416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paiement (Wave / SendFlash)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4407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1 800 000 FCFA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4169664"/>
            <a:ext cx="274320" cy="2743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0416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tests (JWT, unitaires, intégration)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4407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1 950 000 FCFA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21224"/>
            <a:ext cx="27432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0932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déploiement membres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0120" y="54589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1 200 000 FCFA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5221224"/>
            <a:ext cx="274320" cy="274320"/>
          </a:xfrm>
          <a:prstGeom prst="rect">
            <a:avLst/>
          </a:prstGeom>
          <a:solidFill>
            <a:srgbClr val="9FB0C8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50932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&amp; documentation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54589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1 800 000 FCFA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(Budget At Completion) = 15 000 000 FCFA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Earned Value Management : les 3 piliers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L'EVM compare ce qui était prévu, ce qui est fait, et ce qui a été dépensé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3520440"/>
            <a:ext cx="3291840" cy="2103120"/>
          </a:xfrm>
          <a:prstGeom prst="rect">
            <a:avLst/>
          </a:prstGeom>
          <a:solidFill>
            <a:srgbClr val="6E7FA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630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617720" y="4160520"/>
            <a:ext cx="3291840" cy="146304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4270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0" y="2971800"/>
            <a:ext cx="3291840" cy="26517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3081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5760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 planifiée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5760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 acquise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5760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 réel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600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budgété du travail qui devait être réalisé à cette date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7720" y="1600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budgété du travail réellement effectué à cette date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0" y="1600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réellement dépensé pour le travail effectué à cette date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générique : ici EV &lt; PV (retard) et AC &gt; EV (dépassement de coût) — signal d'alerte typique.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Indicateurs EVM : CPI et SPI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51960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Performance Index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4663440" cy="502920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= EV / AC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l'efficience budgétaire : combien de valeur est produite par unité d'argent dépensée.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480560"/>
            <a:ext cx="777240" cy="32918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805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4480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le budget — bonne performance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4937760"/>
            <a:ext cx="777240" cy="329184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9377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4937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aux prévisions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5394960"/>
            <a:ext cx="777240" cy="32918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949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5394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de budget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691640"/>
            <a:ext cx="53949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1965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8368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Performance Index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2880360"/>
            <a:ext cx="4663440" cy="5029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= EV / PV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3520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l'efficience du planning : où en est le projet par rapport à l'échéancier prévu.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4480560"/>
            <a:ext cx="777240" cy="32918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4805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4480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avance sur le planning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83680" y="4937760"/>
            <a:ext cx="777240" cy="329184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49377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4937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aux prévisions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83680" y="5394960"/>
            <a:ext cx="777240" cy="32918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53949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5394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 sur le planning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Prévision d'achèvement : EAC, ETC, VAC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des indicateurs actuels, on projette le coût final du projet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520440" cy="1645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At Completion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2971800" cy="5029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 = BAC / CPI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 prévisionnel du projet compte tenu de la performance actuelle.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5112" y="178308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5112" y="1783080"/>
            <a:ext cx="3520440" cy="164592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21488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ETC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07992" y="2788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To Complete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99432" y="3291840"/>
            <a:ext cx="2971800" cy="5029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7" name="Text 15"/>
          <p:cNvSpPr/>
          <p:nvPr/>
        </p:nvSpPr>
        <p:spPr>
          <a:xfrm>
            <a:off x="4599432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 = EAC − AC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45152" y="40233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restant à engager pour terminer le projet.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178308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01584" y="1783080"/>
            <a:ext cx="3520440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8284464" y="21488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284464" y="2788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At Completion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75904" y="3291840"/>
            <a:ext cx="2971800" cy="5029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4" name="Text 22"/>
          <p:cNvSpPr/>
          <p:nvPr/>
        </p:nvSpPr>
        <p:spPr>
          <a:xfrm>
            <a:off x="8375904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 = BAC − EAC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421624" y="40233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final projeté entre le budget initial et le coût réel estimé.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3200400" cy="320040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CoopHabitat : un projet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dérive budgétaire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indicateurs EVM  ·  Analyse des écarts  ·  Courbe S  ·  Rapport financier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budget CoopHabitat, point de contrôle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développement de CoopHabitat est planifié sur 6 mois pour un budget total (BAC) de 15 000 000 FCFA. À la fin du mois 4, une revue de projet est réalisée pour vérifier si l'avancement et les dépenses respectent la trajectoire prévue.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5478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</a:t>
            </a: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FCFA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total (BAC)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33832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35478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6</a:t>
            </a:r>
            <a:r>
              <a:rPr lang="en-US" sz="13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mois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contrôle actuel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330952" cy="4572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Constats de la revue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629400" y="2313432"/>
            <a:ext cx="32004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7114032" y="21945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réel : 55%
</a:t>
            </a: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livrables terminés, alors que 66,7% étaient prévus à ce stade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29400" y="3547872"/>
            <a:ext cx="320040" cy="3200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7114032" y="342900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 réelles : 10 500 000 FCFA
</a:t>
            </a: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 10 000 000 FCFA budgétés pour ce même stade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29400" y="4782312"/>
            <a:ext cx="320040" cy="32004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8" name="Text 16"/>
          <p:cNvSpPr/>
          <p:nvPr/>
        </p:nvSpPr>
        <p:spPr>
          <a:xfrm>
            <a:off x="7114032" y="466344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identifiées
</a:t>
            </a: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sous-estimation de l'intégration Mobile Money, retards sur les tests de sécurité JWT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 des indicateurs EVM — CoopHabitat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918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0" y="1371600"/>
            <a:ext cx="27432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/ donnée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371600"/>
            <a:ext cx="2286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3291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— Valeur planifiée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0" y="1874520"/>
            <a:ext cx="2743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66,7% × 15 000 000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0" y="187452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10 000 000 FCFA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329184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77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— Valeur acquise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0" y="2377440"/>
            <a:ext cx="274320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× 15 000 000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2377440"/>
            <a:ext cx="228600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8 250 000 FCFA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3291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— Coût réel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0" y="2880360"/>
            <a:ext cx="2743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 constatées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288036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10 500 000 FCFA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23774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3703320"/>
            <a:ext cx="18288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703320"/>
            <a:ext cx="24688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23760" y="3703320"/>
            <a:ext cx="35661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3703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20624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(écart de coût)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926080" y="420624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− AC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54880" y="4206240"/>
            <a:ext cx="24688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− 2 250 000 FCFA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223760" y="4206240"/>
            <a:ext cx="3566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4709160"/>
            <a:ext cx="237744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(écart de délai)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926080" y="4709160"/>
            <a:ext cx="182880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0" y="4709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− PV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754880" y="4709160"/>
            <a:ext cx="246888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4709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− 1 750 000 FCFA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223760" y="4709160"/>
            <a:ext cx="356616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4709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521208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212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926080" y="521208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0" y="5212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/ AC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754880" y="5212080"/>
            <a:ext cx="24688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5212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0,79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223760" y="5212080"/>
            <a:ext cx="3566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23760" y="5212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Sous-performance coût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48640" y="5715000"/>
            <a:ext cx="237744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5715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2926080" y="5715000"/>
            <a:ext cx="182880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26080" y="5715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/ PV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754880" y="5715000"/>
            <a:ext cx="246888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5715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0,83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7223760" y="5715000"/>
            <a:ext cx="3566160" cy="502920"/>
          </a:xfrm>
          <a:prstGeom prst="rect">
            <a:avLst/>
          </a:prstGeom>
          <a:solidFill>
            <a:srgbClr val="EDEDEA"/>
          </a:solidFill>
          <a:ln w="9525">
            <a:solidFill>
              <a:srgbClr val="E3E3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2376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Sous-performance délai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écarts &amp; décisions correctives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434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des indicateurs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= 0,79  </a:t>
            </a:r>
            <a:r>
              <a:rPr lang="en-US" sz="125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pour chaque FCFA dépensé, seuls 0,79 FCFA de valeur sont produits : l'équipe dépense environ 27% de plus que nécessaire.
</a:t>
            </a:r>
            <a:r>
              <a:rPr lang="en-US" sz="1400" b="1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= 0,83  </a:t>
            </a:r>
            <a:r>
              <a:rPr lang="en-US" sz="1250" dirty="0">
                <a:solidFill>
                  <a:srgbClr val="FD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projet accuse un retard d'environ 17% par rapport au planning prévu à ce stade.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51206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dérive : le projet coûte plus cher et avance plus lentement que prévu — situation à traiter en priorité.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correctives proposées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35040" y="219456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37744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2194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Recadrer le périmètre du sprint en cours avec le trésorier et le président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20040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338328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3200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temporairement l'équipe sur l'intégration Mobile Money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420624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438912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4206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Plafonner les dépenses d'infrastructure cloud non essentielles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521208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5394960"/>
            <a:ext cx="457200" cy="45720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5212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une revue budgétaire hebdomadaire jusqu'à stabilisation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 S — baseline budgétaire vs réalisé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110642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 à 4 : données réelles constatées.  Mois 5-6 : projection au rythme actuel (CPI/SPI inchangés).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Prévisions d'achèvement — CoopHabitat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20440" cy="1645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5877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final projeté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15 000 000 / 0,79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19 084 000 FCFA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25112" y="169164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1691640"/>
            <a:ext cx="3520440" cy="164592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2011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07992" y="25877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à dépenser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07992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19 084 000 − 10 500 000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07992" y="3566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8 584 000 FCFA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01584" y="169164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1584" y="1691640"/>
            <a:ext cx="3520440" cy="16459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2011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84464" y="25877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projeté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84464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15 000 000 − 19 084 000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84464" y="3566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− 4 084 000 FCFA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1064240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1663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conclusion 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rythme actuel se maintient, CoopHabitat coûtera environ </a:t>
            </a:r>
            <a:r>
              <a:rPr lang="en-US" sz="14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de plus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le budget initial, soit un dépassement d'environ 4 084 000 FCFA.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financier de projet — synthèse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09728" cy="13716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600200"/>
            <a:ext cx="109728" cy="13716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600200"/>
            <a:ext cx="109728" cy="13716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− 4,08 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78240" y="1600200"/>
            <a:ext cx="2514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0" y="1600200"/>
            <a:ext cx="109728" cy="1371600"/>
          </a:xfrm>
          <a:prstGeom prst="rect">
            <a:avLst/>
          </a:prstGeom>
          <a:solidFill>
            <a:srgbClr val="E0A52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9611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11064240" cy="2788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4564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Statut du projet : sous surveillance renforcée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" y="4050792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904488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CoopHabitat présente à mi-parcours un double dépassement : budgétaire (CPI 0,79) et calendaire (SPI 0,83).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" y="4709160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562856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action corrective, le coût final projeté (EAC) atteindrait 19 084 000 FCFA, soit +27% par rapport au budget initial.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68680" y="5367528"/>
            <a:ext cx="100584" cy="100584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5221224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actions correctives proposées (recadrage de périmètre, renfort ciblé, revue hebdomadaire) visent à ramener le CPI et le SPI au-dessus de 0,90 d'ici le mois 5.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faut retenir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Estimer avant de dépenser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Analogique, paramétrique ou bottom-up : le choix dépend du niveau de précision requis.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856232"/>
            <a:ext cx="502920" cy="50292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8013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L'EVM révèle ce que le budget seul cache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et SPI détectent simultanément les dérives de coût et de délai.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00507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9502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Anticiper le coût final, pas seulement le suivre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EAC, ETC et VAC transforment un constat en décision.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349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005072"/>
            <a:ext cx="502920" cy="50292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9502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CoopHabitat le confirme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4617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écart détecté au mois 4 permet une correction ; détecté au mois 6, il est trop tard.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7 – Gestion des Coûts et du Budget  |  Groupe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200400" cy="3200400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743200" cy="0"/>
          </a:xfrm>
          <a:prstGeom prst="line">
            <a:avLst/>
          </a:prstGeom>
          <a:noFill/>
          <a:ln w="25400">
            <a:solidFill>
              <a:srgbClr val="E0A5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smtClean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Coumbel Ka · Abdourahmane Diaw · Ousmane Niang · Hawa Diallo · Abib Traore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3 Génie Informatique — UFR ST — Université Assane Seck de Ziguinchor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1439</Words>
  <Application>Microsoft Office PowerPoint</Application>
  <PresentationFormat>Grand écran</PresentationFormat>
  <Paragraphs>269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bmd tech</cp:lastModifiedBy>
  <cp:revision>2</cp:revision>
  <dcterms:created xsi:type="dcterms:W3CDTF">2026-07-15T13:08:12Z</dcterms:created>
  <dcterms:modified xsi:type="dcterms:W3CDTF">2026-07-20T07:45:41Z</dcterms:modified>
</cp:coreProperties>
</file>