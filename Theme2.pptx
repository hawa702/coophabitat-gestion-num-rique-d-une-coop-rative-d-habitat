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5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256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D"/>
        </a:solidFill>
        <a:effectLst/>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B85042">
              <a:alpha val="85000"/>
            </a:srgbClr>
          </a:solidFill>
          <a:ln/>
        </p:spPr>
      </p:sp>
      <p:sp>
        <p:nvSpPr>
          <p:cNvPr id="3" name="Shape 1"/>
          <p:cNvSpPr/>
          <p:nvPr/>
        </p:nvSpPr>
        <p:spPr>
          <a:xfrm>
            <a:off x="10607040" y="4389120"/>
            <a:ext cx="2743200" cy="2743200"/>
          </a:xfrm>
          <a:prstGeom prst="ellipse">
            <a:avLst/>
          </a:prstGeom>
          <a:solidFill>
            <a:srgbClr val="6B8F7F">
              <a:alpha val="60000"/>
            </a:srgbClr>
          </a:solidFill>
          <a:ln/>
        </p:spPr>
      </p:sp>
      <p:sp>
        <p:nvSpPr>
          <p:cNvPr id="4" name="Text 2"/>
          <p:cNvSpPr/>
          <p:nvPr/>
        </p:nvSpPr>
        <p:spPr>
          <a:xfrm>
            <a:off x="822960" y="1965960"/>
            <a:ext cx="5486400" cy="457200"/>
          </a:xfrm>
          <a:prstGeom prst="rect">
            <a:avLst/>
          </a:prstGeom>
          <a:noFill/>
          <a:ln/>
        </p:spPr>
        <p:txBody>
          <a:bodyPr wrap="square" rtlCol="0" anchor="ctr"/>
          <a:lstStyle/>
          <a:p>
            <a:pPr marL="0" indent="0">
              <a:buNone/>
            </a:pPr>
            <a:r>
              <a:rPr lang="en-US" sz="1600" b="1" kern="0" spc="300" dirty="0">
                <a:solidFill>
                  <a:srgbClr val="E7E8D1"/>
                </a:solidFill>
                <a:latin typeface="Calibri" pitchFamily="34" charset="0"/>
                <a:ea typeface="Calibri" pitchFamily="34" charset="-122"/>
                <a:cs typeface="Calibri" pitchFamily="34" charset="-120"/>
              </a:rPr>
              <a:t>THÈME 2</a:t>
            </a:r>
            <a:endParaRPr lang="en-US" sz="1600" dirty="0"/>
          </a:p>
        </p:txBody>
      </p:sp>
      <p:sp>
        <p:nvSpPr>
          <p:cNvPr id="5" name="Text 3"/>
          <p:cNvSpPr/>
          <p:nvPr/>
        </p:nvSpPr>
        <p:spPr>
          <a:xfrm>
            <a:off x="777240" y="2377440"/>
            <a:ext cx="8686800" cy="173736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Cadrage et Initialisation</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du Projet</a:t>
            </a:r>
            <a:endParaRPr lang="en-US" sz="4400" dirty="0"/>
          </a:p>
        </p:txBody>
      </p:sp>
      <p:sp>
        <p:nvSpPr>
          <p:cNvPr id="6" name="Shape 4"/>
          <p:cNvSpPr/>
          <p:nvPr/>
        </p:nvSpPr>
        <p:spPr>
          <a:xfrm>
            <a:off x="822960" y="4160520"/>
            <a:ext cx="2011680" cy="0"/>
          </a:xfrm>
          <a:prstGeom prst="line">
            <a:avLst/>
          </a:prstGeom>
          <a:noFill/>
          <a:ln w="38100">
            <a:solidFill>
              <a:srgbClr val="B85042"/>
            </a:solidFill>
            <a:prstDash val="solid"/>
          </a:ln>
        </p:spPr>
      </p:sp>
      <p:sp>
        <p:nvSpPr>
          <p:cNvPr id="7" name="Text 5"/>
          <p:cNvSpPr/>
          <p:nvPr/>
        </p:nvSpPr>
        <p:spPr>
          <a:xfrm>
            <a:off x="842554" y="4617720"/>
            <a:ext cx="8686800" cy="457200"/>
          </a:xfrm>
          <a:prstGeom prst="rect">
            <a:avLst/>
          </a:prstGeom>
          <a:noFill/>
          <a:ln/>
        </p:spPr>
        <p:txBody>
          <a:bodyPr wrap="square" rtlCol="0" anchor="ctr"/>
          <a:lstStyle/>
          <a:p>
            <a:pPr marL="0" indent="0">
              <a:buNone/>
            </a:pPr>
            <a:r>
              <a:rPr lang="en-US" sz="1600" i="1" dirty="0">
                <a:solidFill>
                  <a:srgbClr val="DCE8E2"/>
                </a:solidFill>
                <a:latin typeface="Calibri" pitchFamily="34" charset="0"/>
                <a:ea typeface="Calibri" pitchFamily="34" charset="-122"/>
                <a:cs typeface="Calibri" pitchFamily="34" charset="-120"/>
              </a:rPr>
              <a:t>Cas pratique : CoopHabitat — Gestion numérique d'une </a:t>
            </a:r>
            <a:r>
              <a:rPr lang="en-US" sz="1600" i="1" dirty="0" err="1">
                <a:solidFill>
                  <a:srgbClr val="DCE8E2"/>
                </a:solidFill>
                <a:latin typeface="Calibri" pitchFamily="34" charset="0"/>
                <a:ea typeface="Calibri" pitchFamily="34" charset="-122"/>
                <a:cs typeface="Calibri" pitchFamily="34" charset="-120"/>
              </a:rPr>
              <a:t>coopérative</a:t>
            </a:r>
            <a:r>
              <a:rPr lang="en-US" sz="1600" i="1" dirty="0">
                <a:solidFill>
                  <a:srgbClr val="DCE8E2"/>
                </a:solidFill>
                <a:latin typeface="Calibri" pitchFamily="34" charset="0"/>
                <a:ea typeface="Calibri" pitchFamily="34" charset="-122"/>
                <a:cs typeface="Calibri" pitchFamily="34" charset="-120"/>
              </a:rPr>
              <a:t> </a:t>
            </a:r>
            <a:r>
              <a:rPr lang="en-US" sz="1600" i="1" dirty="0" err="1" smtClean="0">
                <a:solidFill>
                  <a:srgbClr val="DCE8E2"/>
                </a:solidFill>
                <a:latin typeface="Calibri" pitchFamily="34" charset="0"/>
                <a:ea typeface="Calibri" pitchFamily="34" charset="-122"/>
                <a:cs typeface="Calibri" pitchFamily="34" charset="-120"/>
              </a:rPr>
              <a:t>d'habitat</a:t>
            </a:r>
            <a:endParaRPr lang="en-US" sz="1600" i="1" dirty="0" smtClean="0">
              <a:solidFill>
                <a:srgbClr val="DCE8E2"/>
              </a:solidFill>
              <a:latin typeface="Calibri" pitchFamily="34" charset="0"/>
              <a:ea typeface="Calibri" pitchFamily="34" charset="-122"/>
              <a:cs typeface="Calibri" pitchFamily="34" charset="-120"/>
            </a:endParaRPr>
          </a:p>
          <a:p>
            <a:r>
              <a:rPr lang="en-US" sz="1600" i="1" dirty="0" smtClean="0">
                <a:solidFill>
                  <a:srgbClr val="DCE8E2"/>
                </a:solidFill>
                <a:latin typeface="Calibri" pitchFamily="34" charset="0"/>
                <a:ea typeface="Calibri" pitchFamily="34" charset="-122"/>
                <a:cs typeface="Calibri" pitchFamily="34" charset="-120"/>
              </a:rPr>
              <a:t>GROUPE 11:  </a:t>
            </a:r>
            <a:r>
              <a:rPr lang="en-US" sz="1600" b="1" dirty="0" err="1">
                <a:solidFill>
                  <a:srgbClr val="FFFFFF"/>
                </a:solidFill>
                <a:latin typeface="Calibri" pitchFamily="34" charset="0"/>
                <a:ea typeface="Calibri" pitchFamily="34" charset="-122"/>
                <a:cs typeface="Calibri" pitchFamily="34" charset="-120"/>
              </a:rPr>
              <a:t>Coumbel</a:t>
            </a:r>
            <a:r>
              <a:rPr lang="en-US" sz="1600" b="1" dirty="0">
                <a:solidFill>
                  <a:srgbClr val="FFFFFF"/>
                </a:solidFill>
                <a:latin typeface="Calibri" pitchFamily="34" charset="0"/>
                <a:ea typeface="Calibri" pitchFamily="34" charset="-122"/>
                <a:cs typeface="Calibri" pitchFamily="34" charset="-120"/>
              </a:rPr>
              <a:t> </a:t>
            </a:r>
            <a:r>
              <a:rPr lang="en-US" sz="1600" b="1" dirty="0" err="1" smtClean="0">
                <a:solidFill>
                  <a:srgbClr val="FFFFFF"/>
                </a:solidFill>
                <a:latin typeface="Calibri" pitchFamily="34" charset="0"/>
                <a:ea typeface="Calibri" pitchFamily="34" charset="-122"/>
                <a:cs typeface="Calibri" pitchFamily="34" charset="-120"/>
              </a:rPr>
              <a:t>Ka</a:t>
            </a:r>
            <a:r>
              <a:rPr lang="en-US" sz="1600" b="1" dirty="0" smtClean="0">
                <a:solidFill>
                  <a:srgbClr val="FFFFFF"/>
                </a:solidFill>
                <a:latin typeface="Calibri" pitchFamily="34" charset="0"/>
                <a:ea typeface="Calibri" pitchFamily="34" charset="-122"/>
                <a:cs typeface="Calibri" pitchFamily="34" charset="-120"/>
              </a:rPr>
              <a:t>, </a:t>
            </a:r>
            <a:r>
              <a:rPr lang="en-US" sz="1600" b="1" dirty="0" err="1">
                <a:solidFill>
                  <a:srgbClr val="FFFFFF"/>
                </a:solidFill>
                <a:latin typeface="Calibri" pitchFamily="34" charset="0"/>
                <a:ea typeface="Calibri" pitchFamily="34" charset="-122"/>
                <a:cs typeface="Calibri" pitchFamily="34" charset="-120"/>
              </a:rPr>
              <a:t>Abdourahmane</a:t>
            </a:r>
            <a:r>
              <a:rPr lang="en-US" sz="1600" b="1" dirty="0">
                <a:solidFill>
                  <a:srgbClr val="FFFFFF"/>
                </a:solidFill>
                <a:latin typeface="Calibri" pitchFamily="34" charset="0"/>
                <a:ea typeface="Calibri" pitchFamily="34" charset="-122"/>
                <a:cs typeface="Calibri" pitchFamily="34" charset="-120"/>
              </a:rPr>
              <a:t> </a:t>
            </a:r>
            <a:r>
              <a:rPr lang="en-US" sz="1600" b="1" dirty="0" err="1" smtClean="0">
                <a:solidFill>
                  <a:srgbClr val="FFFFFF"/>
                </a:solidFill>
                <a:latin typeface="Calibri" pitchFamily="34" charset="0"/>
                <a:ea typeface="Calibri" pitchFamily="34" charset="-122"/>
                <a:cs typeface="Calibri" pitchFamily="34" charset="-120"/>
              </a:rPr>
              <a:t>Diaw</a:t>
            </a:r>
            <a:r>
              <a:rPr lang="en-US" sz="1600" b="1" dirty="0" smtClean="0">
                <a:solidFill>
                  <a:srgbClr val="FFFFFF"/>
                </a:solidFill>
                <a:latin typeface="Calibri" pitchFamily="34" charset="0"/>
                <a:ea typeface="Calibri" pitchFamily="34" charset="-122"/>
                <a:cs typeface="Calibri" pitchFamily="34" charset="-120"/>
              </a:rPr>
              <a:t>, </a:t>
            </a:r>
            <a:r>
              <a:rPr lang="en-US" sz="1600" b="1" dirty="0" err="1">
                <a:solidFill>
                  <a:srgbClr val="FFFFFF"/>
                </a:solidFill>
                <a:latin typeface="Calibri" pitchFamily="34" charset="0"/>
                <a:ea typeface="Calibri" pitchFamily="34" charset="-122"/>
                <a:cs typeface="Calibri" pitchFamily="34" charset="-120"/>
              </a:rPr>
              <a:t>Ousmane</a:t>
            </a:r>
            <a:r>
              <a:rPr lang="en-US" sz="1600" b="1" dirty="0">
                <a:solidFill>
                  <a:srgbClr val="FFFFFF"/>
                </a:solidFill>
                <a:latin typeface="Calibri" pitchFamily="34" charset="0"/>
                <a:ea typeface="Calibri" pitchFamily="34" charset="-122"/>
                <a:cs typeface="Calibri" pitchFamily="34" charset="-120"/>
              </a:rPr>
              <a:t> </a:t>
            </a:r>
            <a:r>
              <a:rPr lang="en-US" sz="1600" b="1" dirty="0" err="1" smtClean="0">
                <a:solidFill>
                  <a:srgbClr val="FFFFFF"/>
                </a:solidFill>
                <a:latin typeface="Calibri" pitchFamily="34" charset="0"/>
                <a:ea typeface="Calibri" pitchFamily="34" charset="-122"/>
                <a:cs typeface="Calibri" pitchFamily="34" charset="-120"/>
              </a:rPr>
              <a:t>Niang</a:t>
            </a:r>
            <a:r>
              <a:rPr lang="en-US" sz="1600" b="1" dirty="0" smtClean="0">
                <a:solidFill>
                  <a:srgbClr val="FFFFFF"/>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Hawa </a:t>
            </a:r>
            <a:r>
              <a:rPr lang="en-US" sz="1600" b="1" dirty="0" smtClean="0">
                <a:solidFill>
                  <a:srgbClr val="FFFFFF"/>
                </a:solidFill>
                <a:latin typeface="Calibri" pitchFamily="34" charset="0"/>
                <a:ea typeface="Calibri" pitchFamily="34" charset="-122"/>
                <a:cs typeface="Calibri" pitchFamily="34" charset="-120"/>
              </a:rPr>
              <a:t>Diallo, </a:t>
            </a:r>
            <a:r>
              <a:rPr lang="en-US" sz="1600" b="1" dirty="0" err="1">
                <a:solidFill>
                  <a:srgbClr val="FFFFFF"/>
                </a:solidFill>
                <a:latin typeface="Calibri" pitchFamily="34" charset="0"/>
                <a:ea typeface="Calibri" pitchFamily="34" charset="-122"/>
                <a:cs typeface="Calibri" pitchFamily="34" charset="-120"/>
              </a:rPr>
              <a:t>Abib</a:t>
            </a:r>
            <a:r>
              <a:rPr lang="en-US" sz="1600" b="1" dirty="0">
                <a:solidFill>
                  <a:srgbClr val="FFFFFF"/>
                </a:solidFill>
                <a:latin typeface="Calibri" pitchFamily="34" charset="0"/>
                <a:ea typeface="Calibri" pitchFamily="34" charset="-122"/>
                <a:cs typeface="Calibri" pitchFamily="34" charset="-120"/>
              </a:rPr>
              <a:t> </a:t>
            </a:r>
            <a:r>
              <a:rPr lang="en-US" sz="1600" b="1" dirty="0" err="1">
                <a:solidFill>
                  <a:srgbClr val="FFFFFF"/>
                </a:solidFill>
                <a:latin typeface="Calibri" pitchFamily="34" charset="0"/>
                <a:ea typeface="Calibri" pitchFamily="34" charset="-122"/>
                <a:cs typeface="Calibri" pitchFamily="34" charset="-120"/>
              </a:rPr>
              <a:t>Traore</a:t>
            </a:r>
            <a:endParaRPr lang="en-US" sz="1600" dirty="0"/>
          </a:p>
          <a:p>
            <a:endParaRPr lang="en-US" sz="1600" dirty="0"/>
          </a:p>
          <a:p>
            <a:endParaRPr lang="en-US" sz="1600" dirty="0"/>
          </a:p>
          <a:p>
            <a:endParaRPr lang="en-US" sz="1600" dirty="0"/>
          </a:p>
          <a:p>
            <a:endParaRPr lang="en-US" sz="1600" dirty="0"/>
          </a:p>
          <a:p>
            <a:pPr marL="0" indent="0">
              <a:buNone/>
            </a:pPr>
            <a:endParaRPr lang="en-US" sz="1600" dirty="0"/>
          </a:p>
        </p:txBody>
      </p:sp>
      <p:pic>
        <p:nvPicPr>
          <p:cNvPr id="8" name="Image 0" descr="icons/FaHome_white.png"/>
          <p:cNvPicPr>
            <a:picLocks noChangeAspect="1"/>
          </p:cNvPicPr>
          <p:nvPr/>
        </p:nvPicPr>
        <p:blipFill>
          <a:blip r:embed="rId3"/>
          <a:stretch>
            <a:fillRect/>
          </a:stretch>
        </p:blipFill>
        <p:spPr>
          <a:xfrm>
            <a:off x="822960" y="5074920"/>
            <a:ext cx="384048" cy="384048"/>
          </a:xfrm>
          <a:prstGeom prst="rect">
            <a:avLst/>
          </a:prstGeom>
        </p:spPr>
      </p:pic>
      <p:sp>
        <p:nvSpPr>
          <p:cNvPr id="9" name="Text 6"/>
          <p:cNvSpPr/>
          <p:nvPr/>
        </p:nvSpPr>
        <p:spPr>
          <a:xfrm>
            <a:off x="1325880" y="5074920"/>
            <a:ext cx="7315200" cy="384048"/>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Spring Boot  ·  Angular  ·  PostgreSQL  ·  Jasper Reports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SOMMAIRE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Ce que nous allons voir</a:t>
            </a:r>
            <a:endParaRPr lang="en-US" sz="3000" dirty="0"/>
          </a:p>
        </p:txBody>
      </p:sp>
      <p:sp>
        <p:nvSpPr>
          <p:cNvPr id="4" name="Shape 2"/>
          <p:cNvSpPr/>
          <p:nvPr/>
        </p:nvSpPr>
        <p:spPr>
          <a:xfrm>
            <a:off x="548640" y="1920240"/>
            <a:ext cx="685800" cy="685800"/>
          </a:xfrm>
          <a:prstGeom prst="ellipse">
            <a:avLst/>
          </a:prstGeom>
          <a:solidFill>
            <a:srgbClr val="B85042"/>
          </a:solidFill>
          <a:ln/>
        </p:spPr>
      </p:sp>
      <p:sp>
        <p:nvSpPr>
          <p:cNvPr id="5" name="Text 3"/>
          <p:cNvSpPr/>
          <p:nvPr/>
        </p:nvSpPr>
        <p:spPr>
          <a:xfrm>
            <a:off x="548640" y="1920240"/>
            <a:ext cx="685800" cy="6858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6" name="Text 4"/>
          <p:cNvSpPr/>
          <p:nvPr/>
        </p:nvSpPr>
        <p:spPr>
          <a:xfrm>
            <a:off x="1508760" y="1892808"/>
            <a:ext cx="6035040" cy="365760"/>
          </a:xfrm>
          <a:prstGeom prst="rect">
            <a:avLst/>
          </a:prstGeom>
          <a:noFill/>
          <a:ln/>
        </p:spPr>
        <p:txBody>
          <a:bodyPr wrap="square" rtlCol="0" anchor="ctr"/>
          <a:lstStyle/>
          <a:p>
            <a:pPr marL="0" indent="0">
              <a:buNone/>
            </a:pPr>
            <a:r>
              <a:rPr lang="en-US" sz="1700" b="1" dirty="0">
                <a:solidFill>
                  <a:srgbClr val="3A2E28"/>
                </a:solidFill>
                <a:latin typeface="Cambria" pitchFamily="34" charset="0"/>
                <a:ea typeface="Cambria" pitchFamily="34" charset="-122"/>
                <a:cs typeface="Cambria" pitchFamily="34" charset="-120"/>
              </a:rPr>
              <a:t>Partie théorique</a:t>
            </a:r>
            <a:endParaRPr lang="en-US" sz="1700" dirty="0"/>
          </a:p>
        </p:txBody>
      </p:sp>
      <p:sp>
        <p:nvSpPr>
          <p:cNvPr id="7" name="Text 5"/>
          <p:cNvSpPr/>
          <p:nvPr/>
        </p:nvSpPr>
        <p:spPr>
          <a:xfrm>
            <a:off x="1508760" y="2231136"/>
            <a:ext cx="8778240" cy="548640"/>
          </a:xfrm>
          <a:prstGeom prst="rect">
            <a:avLst/>
          </a:prstGeom>
          <a:noFill/>
          <a:ln/>
        </p:spPr>
        <p:txBody>
          <a:bodyPr wrap="square" rtlCol="0" anchor="ctr"/>
          <a:lstStyle/>
          <a:p>
            <a:pPr marL="0" indent="0">
              <a:buNone/>
            </a:pPr>
            <a:r>
              <a:rPr lang="en-US" sz="1250" dirty="0">
                <a:solidFill>
                  <a:srgbClr val="6B625D"/>
                </a:solidFill>
                <a:latin typeface="Calibri" pitchFamily="34" charset="0"/>
                <a:ea typeface="Calibri" pitchFamily="34" charset="-122"/>
                <a:cs typeface="Calibri" pitchFamily="34" charset="-120"/>
              </a:rPr>
              <a:t>Charte, faisabilité, besoins, cahier des charges, parties prenantes</a:t>
            </a:r>
            <a:endParaRPr lang="en-US" sz="1250" dirty="0"/>
          </a:p>
        </p:txBody>
      </p:sp>
      <p:sp>
        <p:nvSpPr>
          <p:cNvPr id="8" name="Shape 6"/>
          <p:cNvSpPr/>
          <p:nvPr/>
        </p:nvSpPr>
        <p:spPr>
          <a:xfrm>
            <a:off x="548640" y="3017520"/>
            <a:ext cx="685800" cy="685800"/>
          </a:xfrm>
          <a:prstGeom prst="ellipse">
            <a:avLst/>
          </a:prstGeom>
          <a:solidFill>
            <a:srgbClr val="6B8F7F"/>
          </a:solidFill>
          <a:ln/>
        </p:spPr>
      </p:sp>
      <p:sp>
        <p:nvSpPr>
          <p:cNvPr id="9" name="Text 7"/>
          <p:cNvSpPr/>
          <p:nvPr/>
        </p:nvSpPr>
        <p:spPr>
          <a:xfrm>
            <a:off x="548640" y="3017520"/>
            <a:ext cx="685800" cy="6858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0" name="Text 8"/>
          <p:cNvSpPr/>
          <p:nvPr/>
        </p:nvSpPr>
        <p:spPr>
          <a:xfrm>
            <a:off x="1508760" y="2990088"/>
            <a:ext cx="6035040" cy="365760"/>
          </a:xfrm>
          <a:prstGeom prst="rect">
            <a:avLst/>
          </a:prstGeom>
          <a:noFill/>
          <a:ln/>
        </p:spPr>
        <p:txBody>
          <a:bodyPr wrap="square" rtlCol="0" anchor="ctr"/>
          <a:lstStyle/>
          <a:p>
            <a:pPr marL="0" indent="0">
              <a:buNone/>
            </a:pPr>
            <a:r>
              <a:rPr lang="en-US" sz="1700" b="1" dirty="0">
                <a:solidFill>
                  <a:srgbClr val="3A2E28"/>
                </a:solidFill>
                <a:latin typeface="Cambria" pitchFamily="34" charset="0"/>
                <a:ea typeface="Cambria" pitchFamily="34" charset="-122"/>
                <a:cs typeface="Cambria" pitchFamily="34" charset="-120"/>
              </a:rPr>
              <a:t>Cas pratique : CoopHabitat</a:t>
            </a:r>
            <a:endParaRPr lang="en-US" sz="1700" dirty="0"/>
          </a:p>
        </p:txBody>
      </p:sp>
      <p:sp>
        <p:nvSpPr>
          <p:cNvPr id="11" name="Text 9"/>
          <p:cNvSpPr/>
          <p:nvPr/>
        </p:nvSpPr>
        <p:spPr>
          <a:xfrm>
            <a:off x="1508760" y="3328416"/>
            <a:ext cx="8778240" cy="548640"/>
          </a:xfrm>
          <a:prstGeom prst="rect">
            <a:avLst/>
          </a:prstGeom>
          <a:noFill/>
          <a:ln/>
        </p:spPr>
        <p:txBody>
          <a:bodyPr wrap="square" rtlCol="0" anchor="ctr"/>
          <a:lstStyle/>
          <a:p>
            <a:pPr marL="0" indent="0">
              <a:buNone/>
            </a:pPr>
            <a:r>
              <a:rPr lang="en-US" sz="1250" dirty="0">
                <a:solidFill>
                  <a:srgbClr val="6B625D"/>
                </a:solidFill>
                <a:latin typeface="Calibri" pitchFamily="34" charset="0"/>
                <a:ea typeface="Calibri" pitchFamily="34" charset="-122"/>
                <a:cs typeface="Calibri" pitchFamily="34" charset="-120"/>
              </a:rPr>
              <a:t>Contexte métier et objectifs pédagogiques du projet fil rouge</a:t>
            </a:r>
            <a:endParaRPr lang="en-US" sz="1250" dirty="0"/>
          </a:p>
        </p:txBody>
      </p:sp>
      <p:sp>
        <p:nvSpPr>
          <p:cNvPr id="12" name="Shape 10"/>
          <p:cNvSpPr/>
          <p:nvPr/>
        </p:nvSpPr>
        <p:spPr>
          <a:xfrm>
            <a:off x="548640" y="4114800"/>
            <a:ext cx="685800" cy="685800"/>
          </a:xfrm>
          <a:prstGeom prst="ellipse">
            <a:avLst/>
          </a:prstGeom>
          <a:solidFill>
            <a:srgbClr val="B85042"/>
          </a:solidFill>
          <a:ln/>
        </p:spPr>
      </p:sp>
      <p:sp>
        <p:nvSpPr>
          <p:cNvPr id="13" name="Text 11"/>
          <p:cNvSpPr/>
          <p:nvPr/>
        </p:nvSpPr>
        <p:spPr>
          <a:xfrm>
            <a:off x="548640" y="4114800"/>
            <a:ext cx="685800" cy="6858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4" name="Text 12"/>
          <p:cNvSpPr/>
          <p:nvPr/>
        </p:nvSpPr>
        <p:spPr>
          <a:xfrm>
            <a:off x="1508760" y="4087368"/>
            <a:ext cx="6035040" cy="365760"/>
          </a:xfrm>
          <a:prstGeom prst="rect">
            <a:avLst/>
          </a:prstGeom>
          <a:noFill/>
          <a:ln/>
        </p:spPr>
        <p:txBody>
          <a:bodyPr wrap="square" rtlCol="0" anchor="ctr"/>
          <a:lstStyle/>
          <a:p>
            <a:pPr marL="0" indent="0">
              <a:buNone/>
            </a:pPr>
            <a:r>
              <a:rPr lang="en-US" sz="1700" b="1" dirty="0">
                <a:solidFill>
                  <a:srgbClr val="3A2E28"/>
                </a:solidFill>
                <a:latin typeface="Cambria" pitchFamily="34" charset="0"/>
                <a:ea typeface="Cambria" pitchFamily="34" charset="-122"/>
                <a:cs typeface="Cambria" pitchFamily="34" charset="-120"/>
              </a:rPr>
              <a:t>Cahier des charges fonctionnel</a:t>
            </a:r>
            <a:endParaRPr lang="en-US" sz="1700" dirty="0"/>
          </a:p>
        </p:txBody>
      </p:sp>
      <p:sp>
        <p:nvSpPr>
          <p:cNvPr id="15" name="Text 13"/>
          <p:cNvSpPr/>
          <p:nvPr/>
        </p:nvSpPr>
        <p:spPr>
          <a:xfrm>
            <a:off x="1508760" y="4425696"/>
            <a:ext cx="8778240" cy="548640"/>
          </a:xfrm>
          <a:prstGeom prst="rect">
            <a:avLst/>
          </a:prstGeom>
          <a:noFill/>
          <a:ln/>
        </p:spPr>
        <p:txBody>
          <a:bodyPr wrap="square" rtlCol="0" anchor="ctr"/>
          <a:lstStyle/>
          <a:p>
            <a:pPr marL="0" indent="0">
              <a:buNone/>
            </a:pPr>
            <a:r>
              <a:rPr lang="en-US" sz="1250" dirty="0">
                <a:solidFill>
                  <a:srgbClr val="6B625D"/>
                </a:solidFill>
                <a:latin typeface="Calibri" pitchFamily="34" charset="0"/>
                <a:ea typeface="Calibri" pitchFamily="34" charset="-122"/>
                <a:cs typeface="Calibri" pitchFamily="34" charset="-120"/>
              </a:rPr>
              <a:t>Fonctionnalités clés, contraintes, livrables et critères de réussite</a:t>
            </a:r>
            <a:endParaRPr lang="en-US" sz="1250" dirty="0"/>
          </a:p>
        </p:txBody>
      </p:sp>
      <p:sp>
        <p:nvSpPr>
          <p:cNvPr id="16" name="Shape 14"/>
          <p:cNvSpPr/>
          <p:nvPr/>
        </p:nvSpPr>
        <p:spPr>
          <a:xfrm>
            <a:off x="548640" y="5212080"/>
            <a:ext cx="685800" cy="685800"/>
          </a:xfrm>
          <a:prstGeom prst="ellipse">
            <a:avLst/>
          </a:prstGeom>
          <a:solidFill>
            <a:srgbClr val="6B8F7F"/>
          </a:solidFill>
          <a:ln/>
        </p:spPr>
      </p:sp>
      <p:sp>
        <p:nvSpPr>
          <p:cNvPr id="17" name="Text 15"/>
          <p:cNvSpPr/>
          <p:nvPr/>
        </p:nvSpPr>
        <p:spPr>
          <a:xfrm>
            <a:off x="548640" y="5212080"/>
            <a:ext cx="685800" cy="6858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18" name="Text 16"/>
          <p:cNvSpPr/>
          <p:nvPr/>
        </p:nvSpPr>
        <p:spPr>
          <a:xfrm>
            <a:off x="1508760" y="5184648"/>
            <a:ext cx="6035040" cy="365760"/>
          </a:xfrm>
          <a:prstGeom prst="rect">
            <a:avLst/>
          </a:prstGeom>
          <a:noFill/>
          <a:ln/>
        </p:spPr>
        <p:txBody>
          <a:bodyPr wrap="square" rtlCol="0" anchor="ctr"/>
          <a:lstStyle/>
          <a:p>
            <a:pPr marL="0" indent="0">
              <a:buNone/>
            </a:pPr>
            <a:r>
              <a:rPr lang="en-US" sz="1700" b="1" dirty="0">
                <a:solidFill>
                  <a:srgbClr val="3A2E28"/>
                </a:solidFill>
                <a:latin typeface="Cambria" pitchFamily="34" charset="0"/>
                <a:ea typeface="Cambria" pitchFamily="34" charset="-122"/>
                <a:cs typeface="Cambria" pitchFamily="34" charset="-120"/>
              </a:rPr>
              <a:t>Travail pratique</a:t>
            </a:r>
            <a:endParaRPr lang="en-US" sz="1700" dirty="0"/>
          </a:p>
        </p:txBody>
      </p:sp>
      <p:sp>
        <p:nvSpPr>
          <p:cNvPr id="19" name="Text 17"/>
          <p:cNvSpPr/>
          <p:nvPr/>
        </p:nvSpPr>
        <p:spPr>
          <a:xfrm>
            <a:off x="1508760" y="5522976"/>
            <a:ext cx="8778240" cy="548640"/>
          </a:xfrm>
          <a:prstGeom prst="rect">
            <a:avLst/>
          </a:prstGeom>
          <a:noFill/>
          <a:ln/>
        </p:spPr>
        <p:txBody>
          <a:bodyPr wrap="square" rtlCol="0" anchor="ctr"/>
          <a:lstStyle/>
          <a:p>
            <a:pPr marL="0" indent="0">
              <a:buNone/>
            </a:pPr>
            <a:r>
              <a:rPr lang="en-US" sz="1250" dirty="0">
                <a:solidFill>
                  <a:srgbClr val="6B625D"/>
                </a:solidFill>
                <a:latin typeface="Calibri" pitchFamily="34" charset="0"/>
                <a:ea typeface="Calibri" pitchFamily="34" charset="-122"/>
                <a:cs typeface="Calibri" pitchFamily="34" charset="-120"/>
              </a:rPr>
              <a:t>Charte, matrice des parties prenantes, contraintes &amp; hypothèses</a:t>
            </a:r>
            <a:endParaRPr lang="en-US" sz="1250" dirty="0"/>
          </a:p>
        </p:txBody>
      </p:sp>
      <p:sp>
        <p:nvSpPr>
          <p:cNvPr id="20" name="Text 18"/>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211D"/>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B85042">
              <a:alpha val="80000"/>
            </a:srgbClr>
          </a:solidFill>
          <a:ln/>
        </p:spPr>
      </p:sp>
      <p:sp>
        <p:nvSpPr>
          <p:cNvPr id="3" name="Shape 1"/>
          <p:cNvSpPr/>
          <p:nvPr/>
        </p:nvSpPr>
        <p:spPr>
          <a:xfrm>
            <a:off x="9875520" y="-1645920"/>
            <a:ext cx="3291840" cy="3291840"/>
          </a:xfrm>
          <a:prstGeom prst="ellipse">
            <a:avLst/>
          </a:prstGeom>
          <a:solidFill>
            <a:srgbClr val="6B8F7F">
              <a:alpha val="65000"/>
            </a:srgbClr>
          </a:solidFill>
          <a:ln/>
        </p:spPr>
      </p:sp>
      <p:sp>
        <p:nvSpPr>
          <p:cNvPr id="4" name="Text 2"/>
          <p:cNvSpPr/>
          <p:nvPr/>
        </p:nvSpPr>
        <p:spPr>
          <a:xfrm>
            <a:off x="822960" y="2103120"/>
            <a:ext cx="2743200" cy="1188720"/>
          </a:xfrm>
          <a:prstGeom prst="rect">
            <a:avLst/>
          </a:prstGeom>
          <a:noFill/>
          <a:ln/>
        </p:spPr>
        <p:txBody>
          <a:bodyPr wrap="square" rtlCol="0" anchor="ctr"/>
          <a:lstStyle/>
          <a:p>
            <a:pPr marL="0" indent="0">
              <a:buNone/>
            </a:pPr>
            <a:r>
              <a:rPr lang="en-US" sz="6400" b="1" dirty="0">
                <a:solidFill>
                  <a:srgbClr val="B85042"/>
                </a:solidFill>
                <a:latin typeface="Cambria" pitchFamily="34" charset="0"/>
                <a:ea typeface="Cambria" pitchFamily="34" charset="-122"/>
                <a:cs typeface="Cambria" pitchFamily="34" charset="-120"/>
              </a:rPr>
              <a:t>01</a:t>
            </a:r>
            <a:endParaRPr lang="en-US" sz="6400" dirty="0"/>
          </a:p>
        </p:txBody>
      </p:sp>
      <p:sp>
        <p:nvSpPr>
          <p:cNvPr id="5" name="Text 3"/>
          <p:cNvSpPr/>
          <p:nvPr/>
        </p:nvSpPr>
        <p:spPr>
          <a:xfrm>
            <a:off x="822960" y="3246120"/>
            <a:ext cx="9144000" cy="9144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Partie théorique</a:t>
            </a:r>
            <a:endParaRPr lang="en-US" sz="3600" dirty="0"/>
          </a:p>
        </p:txBody>
      </p:sp>
      <p:sp>
        <p:nvSpPr>
          <p:cNvPr id="6" name="Text 4"/>
          <p:cNvSpPr/>
          <p:nvPr/>
        </p:nvSpPr>
        <p:spPr>
          <a:xfrm>
            <a:off x="822960" y="3977640"/>
            <a:ext cx="8229600" cy="548640"/>
          </a:xfrm>
          <a:prstGeom prst="rect">
            <a:avLst/>
          </a:prstGeom>
          <a:noFill/>
          <a:ln/>
        </p:spPr>
        <p:txBody>
          <a:bodyPr wrap="square" rtlCol="0" anchor="ctr"/>
          <a:lstStyle/>
          <a:p>
            <a:pPr marL="0" indent="0">
              <a:buNone/>
            </a:pPr>
            <a:r>
              <a:rPr lang="en-US" sz="1500" i="1" dirty="0">
                <a:solidFill>
                  <a:srgbClr val="E7E8D1"/>
                </a:solidFill>
                <a:latin typeface="Calibri" pitchFamily="34" charset="0"/>
                <a:ea typeface="Calibri" pitchFamily="34" charset="-122"/>
                <a:cs typeface="Calibri" pitchFamily="34" charset="-120"/>
              </a:rPr>
              <a:t>Les fondamentaux du cadrage de projet</a:t>
            </a:r>
            <a:endParaRPr lang="en-US" sz="1500" dirty="0"/>
          </a:p>
        </p:txBody>
      </p:sp>
      <p:pic>
        <p:nvPicPr>
          <p:cNvPr id="7" name="Image 0" descr="icons/FaFileContract_white.png"/>
          <p:cNvPicPr>
            <a:picLocks noChangeAspect="1"/>
          </p:cNvPicPr>
          <p:nvPr/>
        </p:nvPicPr>
        <p:blipFill>
          <a:blip r:embed="rId3"/>
          <a:stretch>
            <a:fillRect/>
          </a:stretch>
        </p:blipFill>
        <p:spPr>
          <a:xfrm>
            <a:off x="10332720" y="5120640"/>
            <a:ext cx="822960" cy="822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THÉORIQUE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La charte de projet : contenu et rôle</a:t>
            </a:r>
            <a:endParaRPr lang="en-US" sz="3000" dirty="0"/>
          </a:p>
        </p:txBody>
      </p:sp>
      <p:sp>
        <p:nvSpPr>
          <p:cNvPr id="4" name="Text 2"/>
          <p:cNvSpPr/>
          <p:nvPr/>
        </p:nvSpPr>
        <p:spPr>
          <a:xfrm>
            <a:off x="548640" y="1554480"/>
            <a:ext cx="6492240" cy="822960"/>
          </a:xfrm>
          <a:prstGeom prst="rect">
            <a:avLst/>
          </a:prstGeom>
          <a:noFill/>
          <a:ln/>
        </p:spPr>
        <p:txBody>
          <a:bodyPr wrap="square" rtlCol="0" anchor="ctr"/>
          <a:lstStyle/>
          <a:p>
            <a:pPr marL="0" indent="0">
              <a:buNone/>
            </a:pPr>
            <a:r>
              <a:rPr lang="en-US" sz="1400" i="1" dirty="0">
                <a:solidFill>
                  <a:srgbClr val="6B625D"/>
                </a:solidFill>
                <a:latin typeface="Calibri" pitchFamily="34" charset="0"/>
                <a:ea typeface="Calibri" pitchFamily="34" charset="-122"/>
                <a:cs typeface="Calibri" pitchFamily="34" charset="-120"/>
              </a:rPr>
              <a:t>Document fondateur qui autorise formellement l'existence du projet et donne au chef de projet le mandat pour mobiliser les ressources.</a:t>
            </a:r>
            <a:endParaRPr lang="en-US" sz="1400" dirty="0"/>
          </a:p>
        </p:txBody>
      </p:sp>
      <p:sp>
        <p:nvSpPr>
          <p:cNvPr id="5" name="Shape 3"/>
          <p:cNvSpPr/>
          <p:nvPr/>
        </p:nvSpPr>
        <p:spPr>
          <a:xfrm>
            <a:off x="548640" y="2514600"/>
            <a:ext cx="3200400" cy="1188720"/>
          </a:xfrm>
          <a:prstGeom prst="roundRect">
            <a:avLst>
              <a:gd name="adj" fmla="val 6154"/>
            </a:avLst>
          </a:prstGeom>
          <a:solidFill>
            <a:srgbClr val="E7E8D1"/>
          </a:solidFill>
          <a:ln/>
          <a:effectLst>
            <a:outerShdw blurRad="50800" dist="12700" dir="5400000" algn="bl" rotWithShape="0">
              <a:srgbClr val="000000">
                <a:alpha val="8000"/>
              </a:srgbClr>
            </a:outerShdw>
          </a:effectLst>
        </p:spPr>
      </p:sp>
      <p:sp>
        <p:nvSpPr>
          <p:cNvPr id="6" name="Text 4"/>
          <p:cNvSpPr/>
          <p:nvPr/>
        </p:nvSpPr>
        <p:spPr>
          <a:xfrm>
            <a:off x="731520" y="2624328"/>
            <a:ext cx="2834640" cy="320040"/>
          </a:xfrm>
          <a:prstGeom prst="rect">
            <a:avLst/>
          </a:prstGeom>
          <a:noFill/>
          <a:ln/>
        </p:spPr>
        <p:txBody>
          <a:bodyPr wrap="square" rtlCol="0" anchor="ctr"/>
          <a:lstStyle/>
          <a:p>
            <a:pPr marL="0" indent="0">
              <a:buNone/>
            </a:pPr>
            <a:r>
              <a:rPr lang="en-US" sz="1350" b="1" dirty="0">
                <a:solidFill>
                  <a:srgbClr val="8C3B30"/>
                </a:solidFill>
                <a:latin typeface="Calibri" pitchFamily="34" charset="0"/>
                <a:ea typeface="Calibri" pitchFamily="34" charset="-122"/>
                <a:cs typeface="Calibri" pitchFamily="34" charset="-120"/>
              </a:rPr>
              <a:t>Objet et justification</a:t>
            </a:r>
            <a:endParaRPr lang="en-US" sz="1350" dirty="0"/>
          </a:p>
        </p:txBody>
      </p:sp>
      <p:sp>
        <p:nvSpPr>
          <p:cNvPr id="7" name="Text 5"/>
          <p:cNvSpPr/>
          <p:nvPr/>
        </p:nvSpPr>
        <p:spPr>
          <a:xfrm>
            <a:off x="731520" y="2971800"/>
            <a:ext cx="2834640" cy="640080"/>
          </a:xfrm>
          <a:prstGeom prst="rect">
            <a:avLst/>
          </a:prstGeom>
          <a:noFill/>
          <a:ln/>
        </p:spPr>
        <p:txBody>
          <a:bodyPr wrap="square" rtlCol="0" anchor="ctr"/>
          <a:lstStyle/>
          <a:p>
            <a:pPr marL="0" indent="0">
              <a:buNone/>
            </a:pPr>
            <a:r>
              <a:rPr lang="en-US" sz="1100" dirty="0">
                <a:solidFill>
                  <a:srgbClr val="3A2E28"/>
                </a:solidFill>
                <a:latin typeface="Calibri" pitchFamily="34" charset="0"/>
                <a:ea typeface="Calibri" pitchFamily="34" charset="-122"/>
                <a:cs typeface="Calibri" pitchFamily="34" charset="-120"/>
              </a:rPr>
              <a:t>Pourquoi le projet existe et le besoin métier auquel il répond</a:t>
            </a:r>
            <a:endParaRPr lang="en-US" sz="1100" dirty="0"/>
          </a:p>
        </p:txBody>
      </p:sp>
      <p:sp>
        <p:nvSpPr>
          <p:cNvPr id="8" name="Shape 6"/>
          <p:cNvSpPr/>
          <p:nvPr/>
        </p:nvSpPr>
        <p:spPr>
          <a:xfrm>
            <a:off x="3977640" y="2514600"/>
            <a:ext cx="3200400" cy="1188720"/>
          </a:xfrm>
          <a:prstGeom prst="roundRect">
            <a:avLst>
              <a:gd name="adj" fmla="val 6154"/>
            </a:avLst>
          </a:prstGeom>
          <a:solidFill>
            <a:srgbClr val="E7E8D1"/>
          </a:solidFill>
          <a:ln/>
          <a:effectLst>
            <a:outerShdw blurRad="50800" dist="12700" dir="5400000" algn="bl" rotWithShape="0">
              <a:srgbClr val="000000">
                <a:alpha val="8000"/>
              </a:srgbClr>
            </a:outerShdw>
          </a:effectLst>
        </p:spPr>
      </p:sp>
      <p:sp>
        <p:nvSpPr>
          <p:cNvPr id="9" name="Text 7"/>
          <p:cNvSpPr/>
          <p:nvPr/>
        </p:nvSpPr>
        <p:spPr>
          <a:xfrm>
            <a:off x="4160520" y="2624328"/>
            <a:ext cx="2834640" cy="320040"/>
          </a:xfrm>
          <a:prstGeom prst="rect">
            <a:avLst/>
          </a:prstGeom>
          <a:noFill/>
          <a:ln/>
        </p:spPr>
        <p:txBody>
          <a:bodyPr wrap="square" rtlCol="0" anchor="ctr"/>
          <a:lstStyle/>
          <a:p>
            <a:pPr marL="0" indent="0">
              <a:buNone/>
            </a:pPr>
            <a:r>
              <a:rPr lang="en-US" sz="1350" b="1" dirty="0">
                <a:solidFill>
                  <a:srgbClr val="8C3B30"/>
                </a:solidFill>
                <a:latin typeface="Calibri" pitchFamily="34" charset="0"/>
                <a:ea typeface="Calibri" pitchFamily="34" charset="-122"/>
                <a:cs typeface="Calibri" pitchFamily="34" charset="-120"/>
              </a:rPr>
              <a:t>Objectifs SMART</a:t>
            </a:r>
            <a:endParaRPr lang="en-US" sz="1350" dirty="0"/>
          </a:p>
        </p:txBody>
      </p:sp>
      <p:sp>
        <p:nvSpPr>
          <p:cNvPr id="10" name="Text 8"/>
          <p:cNvSpPr/>
          <p:nvPr/>
        </p:nvSpPr>
        <p:spPr>
          <a:xfrm>
            <a:off x="4160520" y="2971800"/>
            <a:ext cx="2834640" cy="640080"/>
          </a:xfrm>
          <a:prstGeom prst="rect">
            <a:avLst/>
          </a:prstGeom>
          <a:noFill/>
          <a:ln/>
        </p:spPr>
        <p:txBody>
          <a:bodyPr wrap="square" rtlCol="0" anchor="ctr"/>
          <a:lstStyle/>
          <a:p>
            <a:pPr marL="0" indent="0">
              <a:buNone/>
            </a:pPr>
            <a:r>
              <a:rPr lang="en-US" sz="1100" dirty="0">
                <a:solidFill>
                  <a:srgbClr val="3A2E28"/>
                </a:solidFill>
                <a:latin typeface="Calibri" pitchFamily="34" charset="0"/>
                <a:ea typeface="Calibri" pitchFamily="34" charset="-122"/>
                <a:cs typeface="Calibri" pitchFamily="34" charset="-120"/>
              </a:rPr>
              <a:t>Résultats attendus, mesurables et bornés dans le temps</a:t>
            </a:r>
            <a:endParaRPr lang="en-US" sz="1100" dirty="0"/>
          </a:p>
        </p:txBody>
      </p:sp>
      <p:sp>
        <p:nvSpPr>
          <p:cNvPr id="11" name="Shape 9"/>
          <p:cNvSpPr/>
          <p:nvPr/>
        </p:nvSpPr>
        <p:spPr>
          <a:xfrm>
            <a:off x="548640" y="3886200"/>
            <a:ext cx="3200400" cy="1188720"/>
          </a:xfrm>
          <a:prstGeom prst="roundRect">
            <a:avLst>
              <a:gd name="adj" fmla="val 6154"/>
            </a:avLst>
          </a:prstGeom>
          <a:solidFill>
            <a:srgbClr val="E7E8D1"/>
          </a:solidFill>
          <a:ln/>
          <a:effectLst>
            <a:outerShdw blurRad="50800" dist="12700" dir="5400000" algn="bl" rotWithShape="0">
              <a:srgbClr val="000000">
                <a:alpha val="8000"/>
              </a:srgbClr>
            </a:outerShdw>
          </a:effectLst>
        </p:spPr>
      </p:sp>
      <p:sp>
        <p:nvSpPr>
          <p:cNvPr id="12" name="Text 10"/>
          <p:cNvSpPr/>
          <p:nvPr/>
        </p:nvSpPr>
        <p:spPr>
          <a:xfrm>
            <a:off x="731520" y="3995928"/>
            <a:ext cx="2834640" cy="320040"/>
          </a:xfrm>
          <a:prstGeom prst="rect">
            <a:avLst/>
          </a:prstGeom>
          <a:noFill/>
          <a:ln/>
        </p:spPr>
        <p:txBody>
          <a:bodyPr wrap="square" rtlCol="0" anchor="ctr"/>
          <a:lstStyle/>
          <a:p>
            <a:pPr marL="0" indent="0">
              <a:buNone/>
            </a:pPr>
            <a:r>
              <a:rPr lang="en-US" sz="1350" b="1" dirty="0">
                <a:solidFill>
                  <a:srgbClr val="8C3B30"/>
                </a:solidFill>
                <a:latin typeface="Calibri" pitchFamily="34" charset="0"/>
                <a:ea typeface="Calibri" pitchFamily="34" charset="-122"/>
                <a:cs typeface="Calibri" pitchFamily="34" charset="-120"/>
              </a:rPr>
              <a:t>Périmètre (scope)</a:t>
            </a:r>
            <a:endParaRPr lang="en-US" sz="1350" dirty="0"/>
          </a:p>
        </p:txBody>
      </p:sp>
      <p:sp>
        <p:nvSpPr>
          <p:cNvPr id="13" name="Text 11"/>
          <p:cNvSpPr/>
          <p:nvPr/>
        </p:nvSpPr>
        <p:spPr>
          <a:xfrm>
            <a:off x="731520" y="4343400"/>
            <a:ext cx="2834640" cy="640080"/>
          </a:xfrm>
          <a:prstGeom prst="rect">
            <a:avLst/>
          </a:prstGeom>
          <a:noFill/>
          <a:ln/>
        </p:spPr>
        <p:txBody>
          <a:bodyPr wrap="square" rtlCol="0" anchor="ctr"/>
          <a:lstStyle/>
          <a:p>
            <a:pPr marL="0" indent="0">
              <a:buNone/>
            </a:pPr>
            <a:r>
              <a:rPr lang="en-US" sz="1100" dirty="0">
                <a:solidFill>
                  <a:srgbClr val="3A2E28"/>
                </a:solidFill>
                <a:latin typeface="Calibri" pitchFamily="34" charset="0"/>
                <a:ea typeface="Calibri" pitchFamily="34" charset="-122"/>
                <a:cs typeface="Calibri" pitchFamily="34" charset="-120"/>
              </a:rPr>
              <a:t>Ce qui est inclus / exclu du projet</a:t>
            </a:r>
            <a:endParaRPr lang="en-US" sz="1100" dirty="0"/>
          </a:p>
        </p:txBody>
      </p:sp>
      <p:sp>
        <p:nvSpPr>
          <p:cNvPr id="14" name="Shape 12"/>
          <p:cNvSpPr/>
          <p:nvPr/>
        </p:nvSpPr>
        <p:spPr>
          <a:xfrm>
            <a:off x="3977640" y="3886200"/>
            <a:ext cx="3200400" cy="1188720"/>
          </a:xfrm>
          <a:prstGeom prst="roundRect">
            <a:avLst>
              <a:gd name="adj" fmla="val 6154"/>
            </a:avLst>
          </a:prstGeom>
          <a:solidFill>
            <a:srgbClr val="E7E8D1"/>
          </a:solidFill>
          <a:ln/>
          <a:effectLst>
            <a:outerShdw blurRad="50800" dist="12700" dir="5400000" algn="bl" rotWithShape="0">
              <a:srgbClr val="000000">
                <a:alpha val="8000"/>
              </a:srgbClr>
            </a:outerShdw>
          </a:effectLst>
        </p:spPr>
      </p:sp>
      <p:sp>
        <p:nvSpPr>
          <p:cNvPr id="15" name="Text 13"/>
          <p:cNvSpPr/>
          <p:nvPr/>
        </p:nvSpPr>
        <p:spPr>
          <a:xfrm>
            <a:off x="4160520" y="3995928"/>
            <a:ext cx="2834640" cy="320040"/>
          </a:xfrm>
          <a:prstGeom prst="rect">
            <a:avLst/>
          </a:prstGeom>
          <a:noFill/>
          <a:ln/>
        </p:spPr>
        <p:txBody>
          <a:bodyPr wrap="square" rtlCol="0" anchor="ctr"/>
          <a:lstStyle/>
          <a:p>
            <a:pPr marL="0" indent="0">
              <a:buNone/>
            </a:pPr>
            <a:r>
              <a:rPr lang="en-US" sz="1350" b="1" dirty="0">
                <a:solidFill>
                  <a:srgbClr val="8C3B30"/>
                </a:solidFill>
                <a:latin typeface="Calibri" pitchFamily="34" charset="0"/>
                <a:ea typeface="Calibri" pitchFamily="34" charset="-122"/>
                <a:cs typeface="Calibri" pitchFamily="34" charset="-120"/>
              </a:rPr>
              <a:t>Parties prenantes clés</a:t>
            </a:r>
            <a:endParaRPr lang="en-US" sz="1350" dirty="0"/>
          </a:p>
        </p:txBody>
      </p:sp>
      <p:sp>
        <p:nvSpPr>
          <p:cNvPr id="16" name="Text 14"/>
          <p:cNvSpPr/>
          <p:nvPr/>
        </p:nvSpPr>
        <p:spPr>
          <a:xfrm>
            <a:off x="4160520" y="4343400"/>
            <a:ext cx="2834640" cy="640080"/>
          </a:xfrm>
          <a:prstGeom prst="rect">
            <a:avLst/>
          </a:prstGeom>
          <a:noFill/>
          <a:ln/>
        </p:spPr>
        <p:txBody>
          <a:bodyPr wrap="square" rtlCol="0" anchor="ctr"/>
          <a:lstStyle/>
          <a:p>
            <a:pPr marL="0" indent="0">
              <a:buNone/>
            </a:pPr>
            <a:r>
              <a:rPr lang="en-US" sz="1100" dirty="0">
                <a:solidFill>
                  <a:srgbClr val="3A2E28"/>
                </a:solidFill>
                <a:latin typeface="Calibri" pitchFamily="34" charset="0"/>
                <a:ea typeface="Calibri" pitchFamily="34" charset="-122"/>
                <a:cs typeface="Calibri" pitchFamily="34" charset="-120"/>
              </a:rPr>
              <a:t>Sponsor, chef de projet, équipe, bénéficiaires</a:t>
            </a:r>
            <a:endParaRPr lang="en-US" sz="1100" dirty="0"/>
          </a:p>
        </p:txBody>
      </p:sp>
      <p:sp>
        <p:nvSpPr>
          <p:cNvPr id="17" name="Shape 15"/>
          <p:cNvSpPr/>
          <p:nvPr/>
        </p:nvSpPr>
        <p:spPr>
          <a:xfrm>
            <a:off x="548640" y="5257800"/>
            <a:ext cx="3200400" cy="1188720"/>
          </a:xfrm>
          <a:prstGeom prst="roundRect">
            <a:avLst>
              <a:gd name="adj" fmla="val 6154"/>
            </a:avLst>
          </a:prstGeom>
          <a:solidFill>
            <a:srgbClr val="E7E8D1"/>
          </a:solidFill>
          <a:ln/>
          <a:effectLst>
            <a:outerShdw blurRad="50800" dist="12700" dir="5400000" algn="bl" rotWithShape="0">
              <a:srgbClr val="000000">
                <a:alpha val="8000"/>
              </a:srgbClr>
            </a:outerShdw>
          </a:effectLst>
        </p:spPr>
      </p:sp>
      <p:sp>
        <p:nvSpPr>
          <p:cNvPr id="18" name="Text 16"/>
          <p:cNvSpPr/>
          <p:nvPr/>
        </p:nvSpPr>
        <p:spPr>
          <a:xfrm>
            <a:off x="731520" y="5367528"/>
            <a:ext cx="2834640" cy="320040"/>
          </a:xfrm>
          <a:prstGeom prst="rect">
            <a:avLst/>
          </a:prstGeom>
          <a:noFill/>
          <a:ln/>
        </p:spPr>
        <p:txBody>
          <a:bodyPr wrap="square" rtlCol="0" anchor="ctr"/>
          <a:lstStyle/>
          <a:p>
            <a:pPr marL="0" indent="0">
              <a:buNone/>
            </a:pPr>
            <a:r>
              <a:rPr lang="en-US" sz="1350" b="1" dirty="0">
                <a:solidFill>
                  <a:srgbClr val="8C3B30"/>
                </a:solidFill>
                <a:latin typeface="Calibri" pitchFamily="34" charset="0"/>
                <a:ea typeface="Calibri" pitchFamily="34" charset="-122"/>
                <a:cs typeface="Calibri" pitchFamily="34" charset="-120"/>
              </a:rPr>
              <a:t>Ressources &amp; budget global</a:t>
            </a:r>
            <a:endParaRPr lang="en-US" sz="1350" dirty="0"/>
          </a:p>
        </p:txBody>
      </p:sp>
      <p:sp>
        <p:nvSpPr>
          <p:cNvPr id="19" name="Text 17"/>
          <p:cNvSpPr/>
          <p:nvPr/>
        </p:nvSpPr>
        <p:spPr>
          <a:xfrm>
            <a:off x="731520" y="5715000"/>
            <a:ext cx="2834640" cy="640080"/>
          </a:xfrm>
          <a:prstGeom prst="rect">
            <a:avLst/>
          </a:prstGeom>
          <a:noFill/>
          <a:ln/>
        </p:spPr>
        <p:txBody>
          <a:bodyPr wrap="square" rtlCol="0" anchor="ctr"/>
          <a:lstStyle/>
          <a:p>
            <a:pPr marL="0" indent="0">
              <a:buNone/>
            </a:pPr>
            <a:r>
              <a:rPr lang="en-US" sz="1100" dirty="0">
                <a:solidFill>
                  <a:srgbClr val="3A2E28"/>
                </a:solidFill>
                <a:latin typeface="Calibri" pitchFamily="34" charset="0"/>
                <a:ea typeface="Calibri" pitchFamily="34" charset="-122"/>
                <a:cs typeface="Calibri" pitchFamily="34" charset="-120"/>
              </a:rPr>
              <a:t>Enveloppe estimée et moyens alloués</a:t>
            </a:r>
            <a:endParaRPr lang="en-US" sz="1100" dirty="0"/>
          </a:p>
        </p:txBody>
      </p:sp>
      <p:sp>
        <p:nvSpPr>
          <p:cNvPr id="20" name="Shape 18"/>
          <p:cNvSpPr/>
          <p:nvPr/>
        </p:nvSpPr>
        <p:spPr>
          <a:xfrm>
            <a:off x="3977640" y="5257800"/>
            <a:ext cx="3200400" cy="1188720"/>
          </a:xfrm>
          <a:prstGeom prst="roundRect">
            <a:avLst>
              <a:gd name="adj" fmla="val 6154"/>
            </a:avLst>
          </a:prstGeom>
          <a:solidFill>
            <a:srgbClr val="E7E8D1"/>
          </a:solidFill>
          <a:ln/>
          <a:effectLst>
            <a:outerShdw blurRad="50800" dist="12700" dir="5400000" algn="bl" rotWithShape="0">
              <a:srgbClr val="000000">
                <a:alpha val="8000"/>
              </a:srgbClr>
            </a:outerShdw>
          </a:effectLst>
        </p:spPr>
      </p:sp>
      <p:sp>
        <p:nvSpPr>
          <p:cNvPr id="21" name="Text 19"/>
          <p:cNvSpPr/>
          <p:nvPr/>
        </p:nvSpPr>
        <p:spPr>
          <a:xfrm>
            <a:off x="4160520" y="5367528"/>
            <a:ext cx="2834640" cy="320040"/>
          </a:xfrm>
          <a:prstGeom prst="rect">
            <a:avLst/>
          </a:prstGeom>
          <a:noFill/>
          <a:ln/>
        </p:spPr>
        <p:txBody>
          <a:bodyPr wrap="square" rtlCol="0" anchor="ctr"/>
          <a:lstStyle/>
          <a:p>
            <a:pPr marL="0" indent="0">
              <a:buNone/>
            </a:pPr>
            <a:r>
              <a:rPr lang="en-US" sz="1350" b="1" dirty="0">
                <a:solidFill>
                  <a:srgbClr val="8C3B30"/>
                </a:solidFill>
                <a:latin typeface="Calibri" pitchFamily="34" charset="0"/>
                <a:ea typeface="Calibri" pitchFamily="34" charset="-122"/>
                <a:cs typeface="Calibri" pitchFamily="34" charset="-120"/>
              </a:rPr>
              <a:t>Risques majeurs &amp; contraintes</a:t>
            </a:r>
            <a:endParaRPr lang="en-US" sz="1350" dirty="0"/>
          </a:p>
        </p:txBody>
      </p:sp>
      <p:sp>
        <p:nvSpPr>
          <p:cNvPr id="22" name="Text 20"/>
          <p:cNvSpPr/>
          <p:nvPr/>
        </p:nvSpPr>
        <p:spPr>
          <a:xfrm>
            <a:off x="4160520" y="5715000"/>
            <a:ext cx="2834640" cy="640080"/>
          </a:xfrm>
          <a:prstGeom prst="rect">
            <a:avLst/>
          </a:prstGeom>
          <a:noFill/>
          <a:ln/>
        </p:spPr>
        <p:txBody>
          <a:bodyPr wrap="square" rtlCol="0" anchor="ctr"/>
          <a:lstStyle/>
          <a:p>
            <a:pPr marL="0" indent="0">
              <a:buNone/>
            </a:pPr>
            <a:r>
              <a:rPr lang="en-US" sz="1100" dirty="0">
                <a:solidFill>
                  <a:srgbClr val="3A2E28"/>
                </a:solidFill>
                <a:latin typeface="Calibri" pitchFamily="34" charset="0"/>
                <a:ea typeface="Calibri" pitchFamily="34" charset="-122"/>
                <a:cs typeface="Calibri" pitchFamily="34" charset="-120"/>
              </a:rPr>
              <a:t>Premiers risques identifiés et limites connues</a:t>
            </a:r>
            <a:endParaRPr lang="en-US" sz="1100" dirty="0"/>
          </a:p>
        </p:txBody>
      </p:sp>
      <p:sp>
        <p:nvSpPr>
          <p:cNvPr id="23" name="Shape 21"/>
          <p:cNvSpPr/>
          <p:nvPr/>
        </p:nvSpPr>
        <p:spPr>
          <a:xfrm>
            <a:off x="7406640" y="2514600"/>
            <a:ext cx="4206240" cy="3566160"/>
          </a:xfrm>
          <a:prstGeom prst="roundRect">
            <a:avLst>
              <a:gd name="adj" fmla="val 2564"/>
            </a:avLst>
          </a:prstGeom>
          <a:solidFill>
            <a:srgbClr val="2B211D"/>
          </a:solidFill>
          <a:ln/>
        </p:spPr>
      </p:sp>
      <p:pic>
        <p:nvPicPr>
          <p:cNvPr id="24" name="Image 0" descr="icons/FaFileSignature_white.png"/>
          <p:cNvPicPr>
            <a:picLocks noChangeAspect="1"/>
          </p:cNvPicPr>
          <p:nvPr/>
        </p:nvPicPr>
        <p:blipFill>
          <a:blip r:embed="rId3"/>
          <a:stretch>
            <a:fillRect/>
          </a:stretch>
        </p:blipFill>
        <p:spPr>
          <a:xfrm>
            <a:off x="7680960" y="2788920"/>
            <a:ext cx="502920" cy="502920"/>
          </a:xfrm>
          <a:prstGeom prst="rect">
            <a:avLst/>
          </a:prstGeom>
        </p:spPr>
      </p:pic>
      <p:sp>
        <p:nvSpPr>
          <p:cNvPr id="25" name="Text 22"/>
          <p:cNvSpPr/>
          <p:nvPr/>
        </p:nvSpPr>
        <p:spPr>
          <a:xfrm>
            <a:off x="8321040" y="2788920"/>
            <a:ext cx="3017520" cy="50292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Son rôle</a:t>
            </a:r>
            <a:endParaRPr lang="en-US" sz="1600" dirty="0"/>
          </a:p>
        </p:txBody>
      </p:sp>
      <p:sp>
        <p:nvSpPr>
          <p:cNvPr id="26" name="Text 23"/>
          <p:cNvSpPr/>
          <p:nvPr/>
        </p:nvSpPr>
        <p:spPr>
          <a:xfrm>
            <a:off x="7680960" y="3474720"/>
            <a:ext cx="3657600" cy="2468880"/>
          </a:xfrm>
          <a:prstGeom prst="rect">
            <a:avLst/>
          </a:prstGeom>
          <a:noFill/>
          <a:ln/>
        </p:spPr>
        <p:txBody>
          <a:bodyPr wrap="square" rtlCol="0" anchor="ctr"/>
          <a:lstStyle/>
          <a:p>
            <a:pPr marL="342900" indent="-342900">
              <a:spcAft>
                <a:spcPts val="1000"/>
              </a:spcAft>
              <a:buSzPct val="100000"/>
              <a:buChar char="•"/>
            </a:pPr>
            <a:r>
              <a:rPr lang="en-US" sz="1250" dirty="0">
                <a:solidFill>
                  <a:srgbClr val="E7E8D1"/>
                </a:solidFill>
                <a:latin typeface="Calibri" pitchFamily="34" charset="0"/>
                <a:ea typeface="Calibri" pitchFamily="34" charset="-122"/>
                <a:cs typeface="Calibri" pitchFamily="34" charset="-120"/>
              </a:rPr>
              <a:t>Légitimer le projet et son chef de projet</a:t>
            </a:r>
            <a:endParaRPr lang="en-US" sz="1250" dirty="0"/>
          </a:p>
          <a:p>
            <a:pPr marL="342900" indent="-342900">
              <a:spcAft>
                <a:spcPts val="1000"/>
              </a:spcAft>
              <a:buSzPct val="100000"/>
              <a:buChar char="•"/>
            </a:pPr>
            <a:r>
              <a:rPr lang="en-US" sz="1250" dirty="0">
                <a:solidFill>
                  <a:srgbClr val="E7E8D1"/>
                </a:solidFill>
                <a:latin typeface="Calibri" pitchFamily="34" charset="0"/>
                <a:ea typeface="Calibri" pitchFamily="34" charset="-122"/>
                <a:cs typeface="Calibri" pitchFamily="34" charset="-120"/>
              </a:rPr>
              <a:t>Servir de référence pour tout le cycle de vie</a:t>
            </a:r>
            <a:endParaRPr lang="en-US" sz="1250" dirty="0"/>
          </a:p>
          <a:p>
            <a:pPr marL="342900" indent="-342900">
              <a:spcAft>
                <a:spcPts val="1000"/>
              </a:spcAft>
              <a:buSzPct val="100000"/>
              <a:buChar char="•"/>
            </a:pPr>
            <a:r>
              <a:rPr lang="en-US" sz="1250" dirty="0">
                <a:solidFill>
                  <a:srgbClr val="E7E8D1"/>
                </a:solidFill>
                <a:latin typeface="Calibri" pitchFamily="34" charset="0"/>
                <a:ea typeface="Calibri" pitchFamily="34" charset="-122"/>
                <a:cs typeface="Calibri" pitchFamily="34" charset="-120"/>
              </a:rPr>
              <a:t>Arbitrer les décisions liées au périmètre</a:t>
            </a:r>
            <a:endParaRPr lang="en-US" sz="1250" dirty="0"/>
          </a:p>
          <a:p>
            <a:pPr marL="342900" indent="-342900">
              <a:buSzPct val="100000"/>
              <a:buChar char="•"/>
            </a:pPr>
            <a:r>
              <a:rPr lang="en-US" sz="1250" dirty="0">
                <a:solidFill>
                  <a:srgbClr val="E7E8D1"/>
                </a:solidFill>
                <a:latin typeface="Calibri" pitchFamily="34" charset="0"/>
                <a:ea typeface="Calibri" pitchFamily="34" charset="-122"/>
                <a:cs typeface="Calibri" pitchFamily="34" charset="-120"/>
              </a:rPr>
              <a:t>Aligner sponsor et équipe sur une vision commune</a:t>
            </a:r>
            <a:endParaRPr lang="en-US" sz="1250" dirty="0"/>
          </a:p>
        </p:txBody>
      </p:sp>
      <p:sp>
        <p:nvSpPr>
          <p:cNvPr id="27" name="Text 24"/>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THÉORIQUE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Étude de faisabilité technique et financière</a:t>
            </a:r>
            <a:endParaRPr lang="en-US" sz="3000" dirty="0"/>
          </a:p>
        </p:txBody>
      </p:sp>
      <p:sp>
        <p:nvSpPr>
          <p:cNvPr id="4" name="Shape 2"/>
          <p:cNvSpPr/>
          <p:nvPr/>
        </p:nvSpPr>
        <p:spPr>
          <a:xfrm>
            <a:off x="548640" y="1828800"/>
            <a:ext cx="5120640" cy="4114800"/>
          </a:xfrm>
          <a:prstGeom prst="roundRect">
            <a:avLst>
              <a:gd name="adj" fmla="val 2222"/>
            </a:avLst>
          </a:prstGeom>
          <a:solidFill>
            <a:srgbClr val="DCE8E2"/>
          </a:solidFill>
          <a:ln/>
        </p:spPr>
      </p:sp>
      <p:sp>
        <p:nvSpPr>
          <p:cNvPr id="5" name="Shape 3"/>
          <p:cNvSpPr/>
          <p:nvPr/>
        </p:nvSpPr>
        <p:spPr>
          <a:xfrm>
            <a:off x="868680" y="2148840"/>
            <a:ext cx="640080" cy="640080"/>
          </a:xfrm>
          <a:prstGeom prst="ellipse">
            <a:avLst/>
          </a:prstGeom>
          <a:solidFill>
            <a:srgbClr val="6B8F7F"/>
          </a:solidFill>
          <a:ln/>
        </p:spPr>
      </p:sp>
      <p:pic>
        <p:nvPicPr>
          <p:cNvPr id="6" name="Image 0" descr="icons/FaCogs_white.png"/>
          <p:cNvPicPr>
            <a:picLocks noChangeAspect="1"/>
          </p:cNvPicPr>
          <p:nvPr/>
        </p:nvPicPr>
        <p:blipFill>
          <a:blip r:embed="rId3"/>
          <a:stretch>
            <a:fillRect/>
          </a:stretch>
        </p:blipFill>
        <p:spPr>
          <a:xfrm>
            <a:off x="1005840" y="2286000"/>
            <a:ext cx="365760" cy="365760"/>
          </a:xfrm>
          <a:prstGeom prst="rect">
            <a:avLst/>
          </a:prstGeom>
        </p:spPr>
      </p:pic>
      <p:sp>
        <p:nvSpPr>
          <p:cNvPr id="7" name="Text 4"/>
          <p:cNvSpPr/>
          <p:nvPr/>
        </p:nvSpPr>
        <p:spPr>
          <a:xfrm>
            <a:off x="1645920" y="2148840"/>
            <a:ext cx="3840480" cy="640080"/>
          </a:xfrm>
          <a:prstGeom prst="rect">
            <a:avLst/>
          </a:prstGeom>
          <a:noFill/>
          <a:ln/>
        </p:spPr>
        <p:txBody>
          <a:bodyPr wrap="square" rtlCol="0" anchor="ctr"/>
          <a:lstStyle/>
          <a:p>
            <a:pPr marL="0" indent="0">
              <a:buNone/>
            </a:pPr>
            <a:r>
              <a:rPr lang="en-US" sz="1800" b="1" dirty="0">
                <a:solidFill>
                  <a:srgbClr val="3A2E28"/>
                </a:solidFill>
                <a:latin typeface="Cambria" pitchFamily="34" charset="0"/>
                <a:ea typeface="Cambria" pitchFamily="34" charset="-122"/>
                <a:cs typeface="Cambria" pitchFamily="34" charset="-120"/>
              </a:rPr>
              <a:t>Faisabilité technique</a:t>
            </a:r>
            <a:endParaRPr lang="en-US" sz="1800" dirty="0"/>
          </a:p>
        </p:txBody>
      </p:sp>
      <p:sp>
        <p:nvSpPr>
          <p:cNvPr id="8" name="Text 5"/>
          <p:cNvSpPr/>
          <p:nvPr/>
        </p:nvSpPr>
        <p:spPr>
          <a:xfrm>
            <a:off x="914400" y="2971800"/>
            <a:ext cx="4389120" cy="2834640"/>
          </a:xfrm>
          <a:prstGeom prst="rect">
            <a:avLst/>
          </a:prstGeom>
          <a:noFill/>
          <a:ln/>
        </p:spPr>
        <p:txBody>
          <a:bodyPr wrap="square" rtlCol="0" anchor="ctr"/>
          <a:lstStyle/>
          <a:p>
            <a:pPr marL="342900" indent="-342900">
              <a:spcAft>
                <a:spcPts val="1200"/>
              </a:spcAft>
              <a:buSzPct val="100000"/>
              <a:buChar char="•"/>
            </a:pPr>
            <a:r>
              <a:rPr lang="en-US" sz="1300" dirty="0">
                <a:solidFill>
                  <a:srgbClr val="3A2E28"/>
                </a:solidFill>
                <a:latin typeface="Calibri" pitchFamily="34" charset="0"/>
                <a:ea typeface="Calibri" pitchFamily="34" charset="-122"/>
                <a:cs typeface="Calibri" pitchFamily="34" charset="-120"/>
              </a:rPr>
              <a:t>Compétences et outils disponibles dans l'équipe</a:t>
            </a:r>
            <a:endParaRPr lang="en-US" sz="1300" dirty="0"/>
          </a:p>
          <a:p>
            <a:pPr marL="342900" indent="-342900">
              <a:spcAft>
                <a:spcPts val="1200"/>
              </a:spcAft>
              <a:buSzPct val="100000"/>
              <a:buChar char="•"/>
            </a:pPr>
            <a:r>
              <a:rPr lang="en-US" sz="1300" dirty="0">
                <a:solidFill>
                  <a:srgbClr val="3A2E28"/>
                </a:solidFill>
                <a:latin typeface="Calibri" pitchFamily="34" charset="0"/>
                <a:ea typeface="Calibri" pitchFamily="34" charset="-122"/>
                <a:cs typeface="Calibri" pitchFamily="34" charset="-120"/>
              </a:rPr>
              <a:t>Technologies existantes et leur maturité</a:t>
            </a:r>
            <a:endParaRPr lang="en-US" sz="1300" dirty="0"/>
          </a:p>
          <a:p>
            <a:pPr marL="342900" indent="-342900">
              <a:spcAft>
                <a:spcPts val="1200"/>
              </a:spcAft>
              <a:buSzPct val="100000"/>
              <a:buChar char="•"/>
            </a:pPr>
            <a:r>
              <a:rPr lang="en-US" sz="1300" dirty="0">
                <a:solidFill>
                  <a:srgbClr val="3A2E28"/>
                </a:solidFill>
                <a:latin typeface="Calibri" pitchFamily="34" charset="0"/>
                <a:ea typeface="Calibri" pitchFamily="34" charset="-122"/>
                <a:cs typeface="Calibri" pitchFamily="34" charset="-120"/>
              </a:rPr>
              <a:t>Contraintes d'intégration et d'infrastructure</a:t>
            </a:r>
            <a:endParaRPr lang="en-US" sz="1300" dirty="0"/>
          </a:p>
          <a:p>
            <a:pPr marL="342900" indent="-342900">
              <a:spcAft>
                <a:spcPts val="1200"/>
              </a:spcAft>
              <a:buSzPct val="100000"/>
              <a:buChar char="•"/>
            </a:pPr>
            <a:r>
              <a:rPr lang="en-US" sz="1300" dirty="0">
                <a:solidFill>
                  <a:srgbClr val="3A2E28"/>
                </a:solidFill>
                <a:latin typeface="Calibri" pitchFamily="34" charset="0"/>
                <a:ea typeface="Calibri" pitchFamily="34" charset="-122"/>
                <a:cs typeface="Calibri" pitchFamily="34" charset="-120"/>
              </a:rPr>
              <a:t>Risques techniques identifiables en amont</a:t>
            </a:r>
            <a:endParaRPr lang="en-US" sz="1300" dirty="0"/>
          </a:p>
        </p:txBody>
      </p:sp>
      <p:sp>
        <p:nvSpPr>
          <p:cNvPr id="9" name="Shape 6"/>
          <p:cNvSpPr/>
          <p:nvPr/>
        </p:nvSpPr>
        <p:spPr>
          <a:xfrm>
            <a:off x="6126480" y="1828800"/>
            <a:ext cx="5120640" cy="4114800"/>
          </a:xfrm>
          <a:prstGeom prst="roundRect">
            <a:avLst>
              <a:gd name="adj" fmla="val 2222"/>
            </a:avLst>
          </a:prstGeom>
          <a:solidFill>
            <a:srgbClr val="E7E8D1"/>
          </a:solidFill>
          <a:ln/>
        </p:spPr>
      </p:sp>
      <p:sp>
        <p:nvSpPr>
          <p:cNvPr id="10" name="Shape 7"/>
          <p:cNvSpPr/>
          <p:nvPr/>
        </p:nvSpPr>
        <p:spPr>
          <a:xfrm>
            <a:off x="6446520" y="2148840"/>
            <a:ext cx="640080" cy="640080"/>
          </a:xfrm>
          <a:prstGeom prst="ellipse">
            <a:avLst/>
          </a:prstGeom>
          <a:solidFill>
            <a:srgbClr val="B85042"/>
          </a:solidFill>
          <a:ln/>
        </p:spPr>
      </p:sp>
      <p:pic>
        <p:nvPicPr>
          <p:cNvPr id="11" name="Image 1" descr="icons/FaCoins_white.png"/>
          <p:cNvPicPr>
            <a:picLocks noChangeAspect="1"/>
          </p:cNvPicPr>
          <p:nvPr/>
        </p:nvPicPr>
        <p:blipFill>
          <a:blip r:embed="rId4"/>
          <a:stretch>
            <a:fillRect/>
          </a:stretch>
        </p:blipFill>
        <p:spPr>
          <a:xfrm>
            <a:off x="6583680" y="2286000"/>
            <a:ext cx="365760" cy="365760"/>
          </a:xfrm>
          <a:prstGeom prst="rect">
            <a:avLst/>
          </a:prstGeom>
        </p:spPr>
      </p:pic>
      <p:sp>
        <p:nvSpPr>
          <p:cNvPr id="12" name="Text 8"/>
          <p:cNvSpPr/>
          <p:nvPr/>
        </p:nvSpPr>
        <p:spPr>
          <a:xfrm>
            <a:off x="7223760" y="2148840"/>
            <a:ext cx="3840480" cy="640080"/>
          </a:xfrm>
          <a:prstGeom prst="rect">
            <a:avLst/>
          </a:prstGeom>
          <a:noFill/>
          <a:ln/>
        </p:spPr>
        <p:txBody>
          <a:bodyPr wrap="square" rtlCol="0" anchor="ctr"/>
          <a:lstStyle/>
          <a:p>
            <a:pPr marL="0" indent="0">
              <a:buNone/>
            </a:pPr>
            <a:r>
              <a:rPr lang="en-US" sz="1800" b="1" dirty="0">
                <a:solidFill>
                  <a:srgbClr val="3A2E28"/>
                </a:solidFill>
                <a:latin typeface="Cambria" pitchFamily="34" charset="0"/>
                <a:ea typeface="Cambria" pitchFamily="34" charset="-122"/>
                <a:cs typeface="Cambria" pitchFamily="34" charset="-120"/>
              </a:rPr>
              <a:t>Faisabilité financière</a:t>
            </a:r>
            <a:endParaRPr lang="en-US" sz="1800" dirty="0"/>
          </a:p>
        </p:txBody>
      </p:sp>
      <p:sp>
        <p:nvSpPr>
          <p:cNvPr id="13" name="Text 9"/>
          <p:cNvSpPr/>
          <p:nvPr/>
        </p:nvSpPr>
        <p:spPr>
          <a:xfrm>
            <a:off x="6492240" y="2971800"/>
            <a:ext cx="4389120" cy="2834640"/>
          </a:xfrm>
          <a:prstGeom prst="rect">
            <a:avLst/>
          </a:prstGeom>
          <a:noFill/>
          <a:ln/>
        </p:spPr>
        <p:txBody>
          <a:bodyPr wrap="square" rtlCol="0" anchor="ctr"/>
          <a:lstStyle/>
          <a:p>
            <a:pPr marL="342900" indent="-342900">
              <a:spcAft>
                <a:spcPts val="1200"/>
              </a:spcAft>
              <a:buSzPct val="100000"/>
              <a:buChar char="•"/>
            </a:pPr>
            <a:r>
              <a:rPr lang="en-US" sz="1300" dirty="0">
                <a:solidFill>
                  <a:srgbClr val="3A2E28"/>
                </a:solidFill>
                <a:latin typeface="Calibri" pitchFamily="34" charset="0"/>
                <a:ea typeface="Calibri" pitchFamily="34" charset="-122"/>
                <a:cs typeface="Calibri" pitchFamily="34" charset="-120"/>
              </a:rPr>
              <a:t>Budget disponible vs coûts estimés</a:t>
            </a:r>
            <a:endParaRPr lang="en-US" sz="1300" dirty="0"/>
          </a:p>
          <a:p>
            <a:pPr marL="342900" indent="-342900">
              <a:spcAft>
                <a:spcPts val="1200"/>
              </a:spcAft>
              <a:buSzPct val="100000"/>
              <a:buChar char="•"/>
            </a:pPr>
            <a:r>
              <a:rPr lang="en-US" sz="1300" dirty="0">
                <a:solidFill>
                  <a:srgbClr val="3A2E28"/>
                </a:solidFill>
                <a:latin typeface="Calibri" pitchFamily="34" charset="0"/>
                <a:ea typeface="Calibri" pitchFamily="34" charset="-122"/>
                <a:cs typeface="Calibri" pitchFamily="34" charset="-120"/>
              </a:rPr>
              <a:t>Retour sur investissement attendu</a:t>
            </a:r>
            <a:endParaRPr lang="en-US" sz="1300" dirty="0"/>
          </a:p>
          <a:p>
            <a:pPr marL="342900" indent="-342900">
              <a:spcAft>
                <a:spcPts val="1200"/>
              </a:spcAft>
              <a:buSzPct val="100000"/>
              <a:buChar char="•"/>
            </a:pPr>
            <a:r>
              <a:rPr lang="en-US" sz="1300" dirty="0">
                <a:solidFill>
                  <a:srgbClr val="3A2E28"/>
                </a:solidFill>
                <a:latin typeface="Calibri" pitchFamily="34" charset="0"/>
                <a:ea typeface="Calibri" pitchFamily="34" charset="-122"/>
                <a:cs typeface="Calibri" pitchFamily="34" charset="-120"/>
              </a:rPr>
              <a:t>Coûts récurrents (hébergement, licences)</a:t>
            </a:r>
            <a:endParaRPr lang="en-US" sz="1300" dirty="0"/>
          </a:p>
          <a:p>
            <a:pPr marL="342900" indent="-342900">
              <a:spcAft>
                <a:spcPts val="1200"/>
              </a:spcAft>
              <a:buSzPct val="100000"/>
              <a:buChar char="•"/>
            </a:pPr>
            <a:r>
              <a:rPr lang="en-US" sz="1300" dirty="0">
                <a:solidFill>
                  <a:srgbClr val="3A2E28"/>
                </a:solidFill>
                <a:latin typeface="Calibri" pitchFamily="34" charset="0"/>
                <a:ea typeface="Calibri" pitchFamily="34" charset="-122"/>
                <a:cs typeface="Calibri" pitchFamily="34" charset="-120"/>
              </a:rPr>
              <a:t>Marges de sécurité et financements possibles</a:t>
            </a:r>
            <a:endParaRPr lang="en-US" sz="1300" dirty="0"/>
          </a:p>
        </p:txBody>
      </p:sp>
      <p:sp>
        <p:nvSpPr>
          <p:cNvPr id="14" name="Text 10"/>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THÉORIQUE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Expression des besoins et recueil des exigences</a:t>
            </a:r>
            <a:endParaRPr lang="en-US" sz="3000" dirty="0"/>
          </a:p>
        </p:txBody>
      </p:sp>
      <p:sp>
        <p:nvSpPr>
          <p:cNvPr id="4" name="Shape 2"/>
          <p:cNvSpPr/>
          <p:nvPr/>
        </p:nvSpPr>
        <p:spPr>
          <a:xfrm>
            <a:off x="640080" y="2377440"/>
            <a:ext cx="502920" cy="502920"/>
          </a:xfrm>
          <a:prstGeom prst="ellipse">
            <a:avLst/>
          </a:prstGeom>
          <a:solidFill>
            <a:srgbClr val="B85042"/>
          </a:solidFill>
          <a:ln/>
        </p:spPr>
      </p:sp>
      <p:sp>
        <p:nvSpPr>
          <p:cNvPr id="5" name="Text 3"/>
          <p:cNvSpPr/>
          <p:nvPr/>
        </p:nvSpPr>
        <p:spPr>
          <a:xfrm>
            <a:off x="640080" y="2377440"/>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1143000" y="2624328"/>
            <a:ext cx="320040" cy="0"/>
          </a:xfrm>
          <a:prstGeom prst="line">
            <a:avLst/>
          </a:prstGeom>
          <a:noFill/>
          <a:ln w="19050">
            <a:solidFill>
              <a:srgbClr val="6B625D"/>
            </a:solidFill>
            <a:prstDash val="dash"/>
          </a:ln>
        </p:spPr>
      </p:sp>
      <p:sp>
        <p:nvSpPr>
          <p:cNvPr id="7" name="Text 5"/>
          <p:cNvSpPr/>
          <p:nvPr/>
        </p:nvSpPr>
        <p:spPr>
          <a:xfrm>
            <a:off x="411480" y="3063240"/>
            <a:ext cx="2926080" cy="45720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Identifier les acteurs</a:t>
            </a:r>
            <a:endParaRPr lang="en-US" sz="1450" dirty="0"/>
          </a:p>
        </p:txBody>
      </p:sp>
      <p:sp>
        <p:nvSpPr>
          <p:cNvPr id="8" name="Text 6"/>
          <p:cNvSpPr/>
          <p:nvPr/>
        </p:nvSpPr>
        <p:spPr>
          <a:xfrm>
            <a:off x="411480" y="3474720"/>
            <a:ext cx="2926080" cy="914400"/>
          </a:xfrm>
          <a:prstGeom prst="rect">
            <a:avLst/>
          </a:prstGeom>
          <a:noFill/>
          <a:ln/>
        </p:spPr>
        <p:txBody>
          <a:bodyPr wrap="square" rtlCol="0" anchor="ctr"/>
          <a:lstStyle/>
          <a:p>
            <a:pPr marL="0" indent="0">
              <a:buNone/>
            </a:pPr>
            <a:r>
              <a:rPr lang="en-US" sz="1150" dirty="0">
                <a:solidFill>
                  <a:srgbClr val="6B625D"/>
                </a:solidFill>
                <a:latin typeface="Calibri" pitchFamily="34" charset="0"/>
                <a:ea typeface="Calibri" pitchFamily="34" charset="-122"/>
                <a:cs typeface="Calibri" pitchFamily="34" charset="-120"/>
              </a:rPr>
              <a:t>Qui utilise ou est impacté par le système</a:t>
            </a:r>
            <a:endParaRPr lang="en-US" sz="1150" dirty="0"/>
          </a:p>
        </p:txBody>
      </p:sp>
      <p:sp>
        <p:nvSpPr>
          <p:cNvPr id="9" name="Shape 7"/>
          <p:cNvSpPr/>
          <p:nvPr/>
        </p:nvSpPr>
        <p:spPr>
          <a:xfrm>
            <a:off x="3429000" y="2377440"/>
            <a:ext cx="502920" cy="502920"/>
          </a:xfrm>
          <a:prstGeom prst="ellipse">
            <a:avLst/>
          </a:prstGeom>
          <a:solidFill>
            <a:srgbClr val="B85042"/>
          </a:solidFill>
          <a:ln/>
        </p:spPr>
      </p:sp>
      <p:sp>
        <p:nvSpPr>
          <p:cNvPr id="10" name="Text 8"/>
          <p:cNvSpPr/>
          <p:nvPr/>
        </p:nvSpPr>
        <p:spPr>
          <a:xfrm>
            <a:off x="3429000" y="2377440"/>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Shape 9"/>
          <p:cNvSpPr/>
          <p:nvPr/>
        </p:nvSpPr>
        <p:spPr>
          <a:xfrm>
            <a:off x="3931920" y="2624328"/>
            <a:ext cx="320040" cy="0"/>
          </a:xfrm>
          <a:prstGeom prst="line">
            <a:avLst/>
          </a:prstGeom>
          <a:noFill/>
          <a:ln w="19050">
            <a:solidFill>
              <a:srgbClr val="6B625D"/>
            </a:solidFill>
            <a:prstDash val="dash"/>
          </a:ln>
        </p:spPr>
      </p:sp>
      <p:sp>
        <p:nvSpPr>
          <p:cNvPr id="12" name="Text 10"/>
          <p:cNvSpPr/>
          <p:nvPr/>
        </p:nvSpPr>
        <p:spPr>
          <a:xfrm>
            <a:off x="3200400" y="3063240"/>
            <a:ext cx="2926080" cy="45720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Recueillir les besoins</a:t>
            </a:r>
            <a:endParaRPr lang="en-US" sz="1450" dirty="0"/>
          </a:p>
        </p:txBody>
      </p:sp>
      <p:sp>
        <p:nvSpPr>
          <p:cNvPr id="13" name="Text 11"/>
          <p:cNvSpPr/>
          <p:nvPr/>
        </p:nvSpPr>
        <p:spPr>
          <a:xfrm>
            <a:off x="3200400" y="3474720"/>
            <a:ext cx="2926080" cy="914400"/>
          </a:xfrm>
          <a:prstGeom prst="rect">
            <a:avLst/>
          </a:prstGeom>
          <a:noFill/>
          <a:ln/>
        </p:spPr>
        <p:txBody>
          <a:bodyPr wrap="square" rtlCol="0" anchor="ctr"/>
          <a:lstStyle/>
          <a:p>
            <a:pPr marL="0" indent="0">
              <a:buNone/>
            </a:pPr>
            <a:r>
              <a:rPr lang="en-US" sz="1150" dirty="0">
                <a:solidFill>
                  <a:srgbClr val="6B625D"/>
                </a:solidFill>
                <a:latin typeface="Calibri" pitchFamily="34" charset="0"/>
                <a:ea typeface="Calibri" pitchFamily="34" charset="-122"/>
                <a:cs typeface="Calibri" pitchFamily="34" charset="-120"/>
              </a:rPr>
              <a:t>Entretiens, ateliers, observation du terrain</a:t>
            </a:r>
            <a:endParaRPr lang="en-US" sz="1150" dirty="0"/>
          </a:p>
        </p:txBody>
      </p:sp>
      <p:sp>
        <p:nvSpPr>
          <p:cNvPr id="14" name="Shape 12"/>
          <p:cNvSpPr/>
          <p:nvPr/>
        </p:nvSpPr>
        <p:spPr>
          <a:xfrm>
            <a:off x="6217920" y="2377440"/>
            <a:ext cx="502920" cy="502920"/>
          </a:xfrm>
          <a:prstGeom prst="ellipse">
            <a:avLst/>
          </a:prstGeom>
          <a:solidFill>
            <a:srgbClr val="B85042"/>
          </a:solidFill>
          <a:ln/>
        </p:spPr>
      </p:sp>
      <p:sp>
        <p:nvSpPr>
          <p:cNvPr id="15" name="Text 13"/>
          <p:cNvSpPr/>
          <p:nvPr/>
        </p:nvSpPr>
        <p:spPr>
          <a:xfrm>
            <a:off x="6217920" y="2377440"/>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Shape 14"/>
          <p:cNvSpPr/>
          <p:nvPr/>
        </p:nvSpPr>
        <p:spPr>
          <a:xfrm>
            <a:off x="6720840" y="2624328"/>
            <a:ext cx="320040" cy="0"/>
          </a:xfrm>
          <a:prstGeom prst="line">
            <a:avLst/>
          </a:prstGeom>
          <a:noFill/>
          <a:ln w="19050">
            <a:solidFill>
              <a:srgbClr val="6B625D"/>
            </a:solidFill>
            <a:prstDash val="dash"/>
          </a:ln>
        </p:spPr>
      </p:sp>
      <p:sp>
        <p:nvSpPr>
          <p:cNvPr id="17" name="Text 15"/>
          <p:cNvSpPr/>
          <p:nvPr/>
        </p:nvSpPr>
        <p:spPr>
          <a:xfrm>
            <a:off x="5989320" y="3063240"/>
            <a:ext cx="2926080" cy="45720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Formaliser les exigences</a:t>
            </a:r>
            <a:endParaRPr lang="en-US" sz="1450" dirty="0"/>
          </a:p>
        </p:txBody>
      </p:sp>
      <p:sp>
        <p:nvSpPr>
          <p:cNvPr id="18" name="Text 16"/>
          <p:cNvSpPr/>
          <p:nvPr/>
        </p:nvSpPr>
        <p:spPr>
          <a:xfrm>
            <a:off x="5989320" y="3474720"/>
            <a:ext cx="2926080" cy="914400"/>
          </a:xfrm>
          <a:prstGeom prst="rect">
            <a:avLst/>
          </a:prstGeom>
          <a:noFill/>
          <a:ln/>
        </p:spPr>
        <p:txBody>
          <a:bodyPr wrap="square" rtlCol="0" anchor="ctr"/>
          <a:lstStyle/>
          <a:p>
            <a:pPr marL="0" indent="0">
              <a:buNone/>
            </a:pPr>
            <a:r>
              <a:rPr lang="en-US" sz="1150" dirty="0">
                <a:solidFill>
                  <a:srgbClr val="6B625D"/>
                </a:solidFill>
                <a:latin typeface="Calibri" pitchFamily="34" charset="0"/>
                <a:ea typeface="Calibri" pitchFamily="34" charset="-122"/>
                <a:cs typeface="Calibri" pitchFamily="34" charset="-120"/>
              </a:rPr>
              <a:t>Fonctionnelles et non-fonctionnelles</a:t>
            </a:r>
            <a:endParaRPr lang="en-US" sz="1150" dirty="0"/>
          </a:p>
        </p:txBody>
      </p:sp>
      <p:sp>
        <p:nvSpPr>
          <p:cNvPr id="19" name="Shape 17"/>
          <p:cNvSpPr/>
          <p:nvPr/>
        </p:nvSpPr>
        <p:spPr>
          <a:xfrm>
            <a:off x="9006840" y="2377440"/>
            <a:ext cx="502920" cy="502920"/>
          </a:xfrm>
          <a:prstGeom prst="ellipse">
            <a:avLst/>
          </a:prstGeom>
          <a:solidFill>
            <a:srgbClr val="B85042"/>
          </a:solidFill>
          <a:ln/>
        </p:spPr>
      </p:sp>
      <p:sp>
        <p:nvSpPr>
          <p:cNvPr id="20" name="Text 18"/>
          <p:cNvSpPr/>
          <p:nvPr/>
        </p:nvSpPr>
        <p:spPr>
          <a:xfrm>
            <a:off x="9006840" y="2377440"/>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8778240" y="3063240"/>
            <a:ext cx="2926080" cy="45720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Prioriser et valider</a:t>
            </a:r>
            <a:endParaRPr lang="en-US" sz="1450" dirty="0"/>
          </a:p>
        </p:txBody>
      </p:sp>
      <p:sp>
        <p:nvSpPr>
          <p:cNvPr id="22" name="Text 20"/>
          <p:cNvSpPr/>
          <p:nvPr/>
        </p:nvSpPr>
        <p:spPr>
          <a:xfrm>
            <a:off x="8778240" y="3474720"/>
            <a:ext cx="2926080" cy="914400"/>
          </a:xfrm>
          <a:prstGeom prst="rect">
            <a:avLst/>
          </a:prstGeom>
          <a:noFill/>
          <a:ln/>
        </p:spPr>
        <p:txBody>
          <a:bodyPr wrap="square" rtlCol="0" anchor="ctr"/>
          <a:lstStyle/>
          <a:p>
            <a:pPr marL="0" indent="0">
              <a:buNone/>
            </a:pPr>
            <a:r>
              <a:rPr lang="en-US" sz="1150" dirty="0">
                <a:solidFill>
                  <a:srgbClr val="6B625D"/>
                </a:solidFill>
                <a:latin typeface="Calibri" pitchFamily="34" charset="0"/>
                <a:ea typeface="Calibri" pitchFamily="34" charset="-122"/>
                <a:cs typeface="Calibri" pitchFamily="34" charset="-120"/>
              </a:rPr>
              <a:t>Avec les parties prenantes clés</a:t>
            </a:r>
            <a:endParaRPr lang="en-US" sz="1150" dirty="0"/>
          </a:p>
        </p:txBody>
      </p:sp>
      <p:sp>
        <p:nvSpPr>
          <p:cNvPr id="23" name="Shape 21"/>
          <p:cNvSpPr/>
          <p:nvPr/>
        </p:nvSpPr>
        <p:spPr>
          <a:xfrm>
            <a:off x="640080" y="4343400"/>
            <a:ext cx="10881360" cy="1417320"/>
          </a:xfrm>
          <a:prstGeom prst="roundRect">
            <a:avLst>
              <a:gd name="adj" fmla="val 5161"/>
            </a:avLst>
          </a:prstGeom>
          <a:solidFill>
            <a:srgbClr val="E7E8D1"/>
          </a:solidFill>
          <a:ln/>
        </p:spPr>
      </p:sp>
      <p:pic>
        <p:nvPicPr>
          <p:cNvPr id="24" name="Image 0" descr="icons/FaBullseye_terracotta.png"/>
          <p:cNvPicPr>
            <a:picLocks noChangeAspect="1"/>
          </p:cNvPicPr>
          <p:nvPr/>
        </p:nvPicPr>
        <p:blipFill>
          <a:blip r:embed="rId3"/>
          <a:stretch>
            <a:fillRect/>
          </a:stretch>
        </p:blipFill>
        <p:spPr>
          <a:xfrm>
            <a:off x="868680" y="4663440"/>
            <a:ext cx="457200" cy="457200"/>
          </a:xfrm>
          <a:prstGeom prst="rect">
            <a:avLst/>
          </a:prstGeom>
        </p:spPr>
      </p:pic>
      <p:sp>
        <p:nvSpPr>
          <p:cNvPr id="25" name="Text 22"/>
          <p:cNvSpPr/>
          <p:nvPr/>
        </p:nvSpPr>
        <p:spPr>
          <a:xfrm>
            <a:off x="1508760" y="4526280"/>
            <a:ext cx="9692640" cy="1051560"/>
          </a:xfrm>
          <a:prstGeom prst="rect">
            <a:avLst/>
          </a:prstGeom>
          <a:noFill/>
          <a:ln/>
        </p:spPr>
        <p:txBody>
          <a:bodyPr wrap="square" rtlCol="0" anchor="ctr"/>
          <a:lstStyle/>
          <a:p>
            <a:pPr marL="0" indent="0">
              <a:buNone/>
            </a:pPr>
            <a:r>
              <a:rPr lang="en-US" sz="1250" dirty="0">
                <a:solidFill>
                  <a:srgbClr val="3A2E28"/>
                </a:solidFill>
                <a:latin typeface="Calibri" pitchFamily="34" charset="0"/>
                <a:ea typeface="Calibri" pitchFamily="34" charset="-122"/>
                <a:cs typeface="Calibri" pitchFamily="34" charset="-120"/>
              </a:rPr>
              <a:t>Distinction clé : les exigences fonctionnelles décrivent ce que le système doit faire (ex. calcul des pénalités de retard), tandis que les exigences non-fonctionnelles décrivent comment il doit le faire (sécurité, performance, ergonomie mobile).</a:t>
            </a:r>
            <a:endParaRPr lang="en-US" sz="1250" dirty="0"/>
          </a:p>
        </p:txBody>
      </p:sp>
      <p:sp>
        <p:nvSpPr>
          <p:cNvPr id="26" name="Text 23"/>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THÉORIQUE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Rédaction d'un cahier des charges</a:t>
            </a:r>
            <a:endParaRPr lang="en-US" sz="3000" dirty="0"/>
          </a:p>
        </p:txBody>
      </p:sp>
      <p:sp>
        <p:nvSpPr>
          <p:cNvPr id="4" name="Text 2"/>
          <p:cNvSpPr/>
          <p:nvPr/>
        </p:nvSpPr>
        <p:spPr>
          <a:xfrm>
            <a:off x="548640" y="1554480"/>
            <a:ext cx="10058400" cy="457200"/>
          </a:xfrm>
          <a:prstGeom prst="rect">
            <a:avLst/>
          </a:prstGeom>
          <a:noFill/>
          <a:ln/>
        </p:spPr>
        <p:txBody>
          <a:bodyPr wrap="square" rtlCol="0" anchor="ctr"/>
          <a:lstStyle/>
          <a:p>
            <a:pPr marL="0" indent="0">
              <a:buNone/>
            </a:pPr>
            <a:r>
              <a:rPr lang="en-US" sz="1400" i="1" dirty="0">
                <a:solidFill>
                  <a:srgbClr val="6B625D"/>
                </a:solidFill>
                <a:latin typeface="Calibri" pitchFamily="34" charset="0"/>
                <a:ea typeface="Calibri" pitchFamily="34" charset="-122"/>
                <a:cs typeface="Calibri" pitchFamily="34" charset="-120"/>
              </a:rPr>
              <a:t>Un cahier des charges structure les exigences en un document contractuel entre le client et l'équipe projet.</a:t>
            </a:r>
            <a:endParaRPr lang="en-US" sz="1400" dirty="0"/>
          </a:p>
        </p:txBody>
      </p:sp>
      <p:sp>
        <p:nvSpPr>
          <p:cNvPr id="5" name="Shape 3"/>
          <p:cNvSpPr/>
          <p:nvPr/>
        </p:nvSpPr>
        <p:spPr>
          <a:xfrm>
            <a:off x="640080" y="2286000"/>
            <a:ext cx="54864" cy="0"/>
          </a:xfrm>
          <a:prstGeom prst="rect">
            <a:avLst/>
          </a:prstGeom>
          <a:noFill/>
          <a:ln w="12700">
            <a:solidFill>
              <a:srgbClr val="FFFFFF"/>
            </a:solidFill>
            <a:prstDash val="solid"/>
          </a:ln>
        </p:spPr>
      </p:sp>
      <p:pic>
        <p:nvPicPr>
          <p:cNvPr id="6" name="Image 0" descr="icons/FaCheckCircle_terracotta.png"/>
          <p:cNvPicPr>
            <a:picLocks noChangeAspect="1"/>
          </p:cNvPicPr>
          <p:nvPr/>
        </p:nvPicPr>
        <p:blipFill>
          <a:blip r:embed="rId3"/>
          <a:stretch>
            <a:fillRect/>
          </a:stretch>
        </p:blipFill>
        <p:spPr>
          <a:xfrm>
            <a:off x="640080" y="2304288"/>
            <a:ext cx="292608" cy="292608"/>
          </a:xfrm>
          <a:prstGeom prst="rect">
            <a:avLst/>
          </a:prstGeom>
        </p:spPr>
      </p:pic>
      <p:sp>
        <p:nvSpPr>
          <p:cNvPr id="7" name="Text 4"/>
          <p:cNvSpPr/>
          <p:nvPr/>
        </p:nvSpPr>
        <p:spPr>
          <a:xfrm>
            <a:off x="1051560" y="2240280"/>
            <a:ext cx="4846320" cy="3657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Contexte &amp; objectifs</a:t>
            </a:r>
            <a:endParaRPr lang="en-US" sz="1450" dirty="0"/>
          </a:p>
        </p:txBody>
      </p:sp>
      <p:sp>
        <p:nvSpPr>
          <p:cNvPr id="8" name="Text 5"/>
          <p:cNvSpPr/>
          <p:nvPr/>
        </p:nvSpPr>
        <p:spPr>
          <a:xfrm>
            <a:off x="1051560" y="2606040"/>
            <a:ext cx="4846320" cy="548640"/>
          </a:xfrm>
          <a:prstGeom prst="rect">
            <a:avLst/>
          </a:prstGeom>
          <a:noFill/>
          <a:ln/>
        </p:spPr>
        <p:txBody>
          <a:bodyPr wrap="square" rtlCol="0" anchor="ctr"/>
          <a:lstStyle/>
          <a:p>
            <a:pPr marL="0" indent="0">
              <a:buNone/>
            </a:pPr>
            <a:r>
              <a:rPr lang="en-US" sz="1200" dirty="0">
                <a:solidFill>
                  <a:srgbClr val="6B625D"/>
                </a:solidFill>
                <a:latin typeface="Calibri" pitchFamily="34" charset="0"/>
                <a:ea typeface="Calibri" pitchFamily="34" charset="-122"/>
                <a:cs typeface="Calibri" pitchFamily="34" charset="-120"/>
              </a:rPr>
              <a:t>Présentation du projet et de sa finalité</a:t>
            </a:r>
            <a:endParaRPr lang="en-US" sz="1200" dirty="0"/>
          </a:p>
        </p:txBody>
      </p:sp>
      <p:sp>
        <p:nvSpPr>
          <p:cNvPr id="9" name="Shape 6"/>
          <p:cNvSpPr/>
          <p:nvPr/>
        </p:nvSpPr>
        <p:spPr>
          <a:xfrm>
            <a:off x="640080" y="3474720"/>
            <a:ext cx="54864" cy="0"/>
          </a:xfrm>
          <a:prstGeom prst="rect">
            <a:avLst/>
          </a:prstGeom>
          <a:noFill/>
          <a:ln w="12700">
            <a:solidFill>
              <a:srgbClr val="FFFFFF"/>
            </a:solidFill>
            <a:prstDash val="solid"/>
          </a:ln>
        </p:spPr>
      </p:sp>
      <p:pic>
        <p:nvPicPr>
          <p:cNvPr id="10" name="Image 1" descr="icons/FaCheckCircle_terracotta.png"/>
          <p:cNvPicPr>
            <a:picLocks noChangeAspect="1"/>
          </p:cNvPicPr>
          <p:nvPr/>
        </p:nvPicPr>
        <p:blipFill>
          <a:blip r:embed="rId3"/>
          <a:stretch>
            <a:fillRect/>
          </a:stretch>
        </p:blipFill>
        <p:spPr>
          <a:xfrm>
            <a:off x="640080" y="3493008"/>
            <a:ext cx="292608" cy="292608"/>
          </a:xfrm>
          <a:prstGeom prst="rect">
            <a:avLst/>
          </a:prstGeom>
        </p:spPr>
      </p:pic>
      <p:sp>
        <p:nvSpPr>
          <p:cNvPr id="11" name="Text 7"/>
          <p:cNvSpPr/>
          <p:nvPr/>
        </p:nvSpPr>
        <p:spPr>
          <a:xfrm>
            <a:off x="1051560" y="3429000"/>
            <a:ext cx="4846320" cy="3657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Périmètre fonctionnel</a:t>
            </a:r>
            <a:endParaRPr lang="en-US" sz="1450" dirty="0"/>
          </a:p>
        </p:txBody>
      </p:sp>
      <p:sp>
        <p:nvSpPr>
          <p:cNvPr id="12" name="Text 8"/>
          <p:cNvSpPr/>
          <p:nvPr/>
        </p:nvSpPr>
        <p:spPr>
          <a:xfrm>
            <a:off x="1051560" y="3794760"/>
            <a:ext cx="4846320" cy="548640"/>
          </a:xfrm>
          <a:prstGeom prst="rect">
            <a:avLst/>
          </a:prstGeom>
          <a:noFill/>
          <a:ln/>
        </p:spPr>
        <p:txBody>
          <a:bodyPr wrap="square" rtlCol="0" anchor="ctr"/>
          <a:lstStyle/>
          <a:p>
            <a:pPr marL="0" indent="0">
              <a:buNone/>
            </a:pPr>
            <a:r>
              <a:rPr lang="en-US" sz="1200" dirty="0">
                <a:solidFill>
                  <a:srgbClr val="6B625D"/>
                </a:solidFill>
                <a:latin typeface="Calibri" pitchFamily="34" charset="0"/>
                <a:ea typeface="Calibri" pitchFamily="34" charset="-122"/>
                <a:cs typeface="Calibri" pitchFamily="34" charset="-120"/>
              </a:rPr>
              <a:t>Fonctionnalités attendues, détaillées par module</a:t>
            </a:r>
            <a:endParaRPr lang="en-US" sz="1200" dirty="0"/>
          </a:p>
        </p:txBody>
      </p:sp>
      <p:sp>
        <p:nvSpPr>
          <p:cNvPr id="13" name="Shape 9"/>
          <p:cNvSpPr/>
          <p:nvPr/>
        </p:nvSpPr>
        <p:spPr>
          <a:xfrm>
            <a:off x="640080" y="4663440"/>
            <a:ext cx="54864" cy="0"/>
          </a:xfrm>
          <a:prstGeom prst="rect">
            <a:avLst/>
          </a:prstGeom>
          <a:noFill/>
          <a:ln w="12700">
            <a:solidFill>
              <a:srgbClr val="FFFFFF"/>
            </a:solidFill>
            <a:prstDash val="solid"/>
          </a:ln>
        </p:spPr>
      </p:sp>
      <p:pic>
        <p:nvPicPr>
          <p:cNvPr id="14" name="Image 2" descr="icons/FaCheckCircle_terracotta.png"/>
          <p:cNvPicPr>
            <a:picLocks noChangeAspect="1"/>
          </p:cNvPicPr>
          <p:nvPr/>
        </p:nvPicPr>
        <p:blipFill>
          <a:blip r:embed="rId3"/>
          <a:stretch>
            <a:fillRect/>
          </a:stretch>
        </p:blipFill>
        <p:spPr>
          <a:xfrm>
            <a:off x="640080" y="4681728"/>
            <a:ext cx="292608" cy="292608"/>
          </a:xfrm>
          <a:prstGeom prst="rect">
            <a:avLst/>
          </a:prstGeom>
        </p:spPr>
      </p:pic>
      <p:sp>
        <p:nvSpPr>
          <p:cNvPr id="15" name="Text 10"/>
          <p:cNvSpPr/>
          <p:nvPr/>
        </p:nvSpPr>
        <p:spPr>
          <a:xfrm>
            <a:off x="1051560" y="4617720"/>
            <a:ext cx="4846320" cy="3657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Exigences non-fonctionnelles</a:t>
            </a:r>
            <a:endParaRPr lang="en-US" sz="1450" dirty="0"/>
          </a:p>
        </p:txBody>
      </p:sp>
      <p:sp>
        <p:nvSpPr>
          <p:cNvPr id="16" name="Text 11"/>
          <p:cNvSpPr/>
          <p:nvPr/>
        </p:nvSpPr>
        <p:spPr>
          <a:xfrm>
            <a:off x="1051560" y="4983480"/>
            <a:ext cx="4846320" cy="548640"/>
          </a:xfrm>
          <a:prstGeom prst="rect">
            <a:avLst/>
          </a:prstGeom>
          <a:noFill/>
          <a:ln/>
        </p:spPr>
        <p:txBody>
          <a:bodyPr wrap="square" rtlCol="0" anchor="ctr"/>
          <a:lstStyle/>
          <a:p>
            <a:pPr marL="0" indent="0">
              <a:buNone/>
            </a:pPr>
            <a:r>
              <a:rPr lang="en-US" sz="1200" dirty="0">
                <a:solidFill>
                  <a:srgbClr val="6B625D"/>
                </a:solidFill>
                <a:latin typeface="Calibri" pitchFamily="34" charset="0"/>
                <a:ea typeface="Calibri" pitchFamily="34" charset="-122"/>
                <a:cs typeface="Calibri" pitchFamily="34" charset="-120"/>
              </a:rPr>
              <a:t>Sécurité, performance, ergonomie, disponibilité</a:t>
            </a:r>
            <a:endParaRPr lang="en-US" sz="1200" dirty="0"/>
          </a:p>
        </p:txBody>
      </p:sp>
      <p:sp>
        <p:nvSpPr>
          <p:cNvPr id="17" name="Shape 12"/>
          <p:cNvSpPr/>
          <p:nvPr/>
        </p:nvSpPr>
        <p:spPr>
          <a:xfrm>
            <a:off x="6217920" y="2286000"/>
            <a:ext cx="54864" cy="0"/>
          </a:xfrm>
          <a:prstGeom prst="rect">
            <a:avLst/>
          </a:prstGeom>
          <a:noFill/>
          <a:ln w="12700">
            <a:solidFill>
              <a:srgbClr val="FFFFFF"/>
            </a:solidFill>
            <a:prstDash val="solid"/>
          </a:ln>
        </p:spPr>
      </p:sp>
      <p:pic>
        <p:nvPicPr>
          <p:cNvPr id="18" name="Image 3" descr="icons/FaCheckCircle_sage.png"/>
          <p:cNvPicPr>
            <a:picLocks noChangeAspect="1"/>
          </p:cNvPicPr>
          <p:nvPr/>
        </p:nvPicPr>
        <p:blipFill>
          <a:blip r:embed="rId4"/>
          <a:stretch>
            <a:fillRect/>
          </a:stretch>
        </p:blipFill>
        <p:spPr>
          <a:xfrm>
            <a:off x="6217920" y="2304288"/>
            <a:ext cx="292608" cy="292608"/>
          </a:xfrm>
          <a:prstGeom prst="rect">
            <a:avLst/>
          </a:prstGeom>
        </p:spPr>
      </p:pic>
      <p:sp>
        <p:nvSpPr>
          <p:cNvPr id="19" name="Text 13"/>
          <p:cNvSpPr/>
          <p:nvPr/>
        </p:nvSpPr>
        <p:spPr>
          <a:xfrm>
            <a:off x="6629400" y="2240280"/>
            <a:ext cx="4846320" cy="3657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Contraintes techniques</a:t>
            </a:r>
            <a:endParaRPr lang="en-US" sz="1450" dirty="0"/>
          </a:p>
        </p:txBody>
      </p:sp>
      <p:sp>
        <p:nvSpPr>
          <p:cNvPr id="20" name="Text 14"/>
          <p:cNvSpPr/>
          <p:nvPr/>
        </p:nvSpPr>
        <p:spPr>
          <a:xfrm>
            <a:off x="6629400" y="2606040"/>
            <a:ext cx="4846320" cy="548640"/>
          </a:xfrm>
          <a:prstGeom prst="rect">
            <a:avLst/>
          </a:prstGeom>
          <a:noFill/>
          <a:ln/>
        </p:spPr>
        <p:txBody>
          <a:bodyPr wrap="square" rtlCol="0" anchor="ctr"/>
          <a:lstStyle/>
          <a:p>
            <a:pPr marL="0" indent="0">
              <a:buNone/>
            </a:pPr>
            <a:r>
              <a:rPr lang="en-US" sz="1200" dirty="0">
                <a:solidFill>
                  <a:srgbClr val="6B625D"/>
                </a:solidFill>
                <a:latin typeface="Calibri" pitchFamily="34" charset="0"/>
                <a:ea typeface="Calibri" pitchFamily="34" charset="-122"/>
                <a:cs typeface="Calibri" pitchFamily="34" charset="-120"/>
              </a:rPr>
              <a:t>Technologies imposées, intégrations, hébergement</a:t>
            </a:r>
            <a:endParaRPr lang="en-US" sz="1200" dirty="0"/>
          </a:p>
        </p:txBody>
      </p:sp>
      <p:sp>
        <p:nvSpPr>
          <p:cNvPr id="21" name="Shape 15"/>
          <p:cNvSpPr/>
          <p:nvPr/>
        </p:nvSpPr>
        <p:spPr>
          <a:xfrm>
            <a:off x="6217920" y="3474720"/>
            <a:ext cx="54864" cy="0"/>
          </a:xfrm>
          <a:prstGeom prst="rect">
            <a:avLst/>
          </a:prstGeom>
          <a:noFill/>
          <a:ln w="12700">
            <a:solidFill>
              <a:srgbClr val="FFFFFF"/>
            </a:solidFill>
            <a:prstDash val="solid"/>
          </a:ln>
        </p:spPr>
      </p:sp>
      <p:pic>
        <p:nvPicPr>
          <p:cNvPr id="22" name="Image 4" descr="icons/FaCheckCircle_sage.png"/>
          <p:cNvPicPr>
            <a:picLocks noChangeAspect="1"/>
          </p:cNvPicPr>
          <p:nvPr/>
        </p:nvPicPr>
        <p:blipFill>
          <a:blip r:embed="rId4"/>
          <a:stretch>
            <a:fillRect/>
          </a:stretch>
        </p:blipFill>
        <p:spPr>
          <a:xfrm>
            <a:off x="6217920" y="3493008"/>
            <a:ext cx="292608" cy="292608"/>
          </a:xfrm>
          <a:prstGeom prst="rect">
            <a:avLst/>
          </a:prstGeom>
        </p:spPr>
      </p:pic>
      <p:sp>
        <p:nvSpPr>
          <p:cNvPr id="23" name="Text 16"/>
          <p:cNvSpPr/>
          <p:nvPr/>
        </p:nvSpPr>
        <p:spPr>
          <a:xfrm>
            <a:off x="6629400" y="3429000"/>
            <a:ext cx="4846320" cy="3657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Livrables &amp; jalons</a:t>
            </a:r>
            <a:endParaRPr lang="en-US" sz="1450" dirty="0"/>
          </a:p>
        </p:txBody>
      </p:sp>
      <p:sp>
        <p:nvSpPr>
          <p:cNvPr id="24" name="Text 17"/>
          <p:cNvSpPr/>
          <p:nvPr/>
        </p:nvSpPr>
        <p:spPr>
          <a:xfrm>
            <a:off x="6629400" y="3794760"/>
            <a:ext cx="4846320" cy="548640"/>
          </a:xfrm>
          <a:prstGeom prst="rect">
            <a:avLst/>
          </a:prstGeom>
          <a:noFill/>
          <a:ln/>
        </p:spPr>
        <p:txBody>
          <a:bodyPr wrap="square" rtlCol="0" anchor="ctr"/>
          <a:lstStyle/>
          <a:p>
            <a:pPr marL="0" indent="0">
              <a:buNone/>
            </a:pPr>
            <a:r>
              <a:rPr lang="en-US" sz="1200" dirty="0">
                <a:solidFill>
                  <a:srgbClr val="6B625D"/>
                </a:solidFill>
                <a:latin typeface="Calibri" pitchFamily="34" charset="0"/>
                <a:ea typeface="Calibri" pitchFamily="34" charset="-122"/>
                <a:cs typeface="Calibri" pitchFamily="34" charset="-120"/>
              </a:rPr>
              <a:t>Ce qui sera fourni et à quelle échéance</a:t>
            </a:r>
            <a:endParaRPr lang="en-US" sz="1200" dirty="0"/>
          </a:p>
        </p:txBody>
      </p:sp>
      <p:sp>
        <p:nvSpPr>
          <p:cNvPr id="25" name="Shape 18"/>
          <p:cNvSpPr/>
          <p:nvPr/>
        </p:nvSpPr>
        <p:spPr>
          <a:xfrm>
            <a:off x="6217920" y="4663440"/>
            <a:ext cx="54864" cy="0"/>
          </a:xfrm>
          <a:prstGeom prst="rect">
            <a:avLst/>
          </a:prstGeom>
          <a:noFill/>
          <a:ln w="12700">
            <a:solidFill>
              <a:srgbClr val="FFFFFF"/>
            </a:solidFill>
            <a:prstDash val="solid"/>
          </a:ln>
        </p:spPr>
      </p:sp>
      <p:pic>
        <p:nvPicPr>
          <p:cNvPr id="26" name="Image 5" descr="icons/FaCheckCircle_sage.png"/>
          <p:cNvPicPr>
            <a:picLocks noChangeAspect="1"/>
          </p:cNvPicPr>
          <p:nvPr/>
        </p:nvPicPr>
        <p:blipFill>
          <a:blip r:embed="rId4"/>
          <a:stretch>
            <a:fillRect/>
          </a:stretch>
        </p:blipFill>
        <p:spPr>
          <a:xfrm>
            <a:off x="6217920" y="4681728"/>
            <a:ext cx="292608" cy="292608"/>
          </a:xfrm>
          <a:prstGeom prst="rect">
            <a:avLst/>
          </a:prstGeom>
        </p:spPr>
      </p:pic>
      <p:sp>
        <p:nvSpPr>
          <p:cNvPr id="27" name="Text 19"/>
          <p:cNvSpPr/>
          <p:nvPr/>
        </p:nvSpPr>
        <p:spPr>
          <a:xfrm>
            <a:off x="6629400" y="4617720"/>
            <a:ext cx="4846320" cy="3657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Critères de recette</a:t>
            </a:r>
            <a:endParaRPr lang="en-US" sz="1450" dirty="0"/>
          </a:p>
        </p:txBody>
      </p:sp>
      <p:sp>
        <p:nvSpPr>
          <p:cNvPr id="28" name="Text 20"/>
          <p:cNvSpPr/>
          <p:nvPr/>
        </p:nvSpPr>
        <p:spPr>
          <a:xfrm>
            <a:off x="6629400" y="4983480"/>
            <a:ext cx="4846320" cy="548640"/>
          </a:xfrm>
          <a:prstGeom prst="rect">
            <a:avLst/>
          </a:prstGeom>
          <a:noFill/>
          <a:ln/>
        </p:spPr>
        <p:txBody>
          <a:bodyPr wrap="square" rtlCol="0" anchor="ctr"/>
          <a:lstStyle/>
          <a:p>
            <a:pPr marL="0" indent="0">
              <a:buNone/>
            </a:pPr>
            <a:r>
              <a:rPr lang="en-US" sz="1200" dirty="0">
                <a:solidFill>
                  <a:srgbClr val="6B625D"/>
                </a:solidFill>
                <a:latin typeface="Calibri" pitchFamily="34" charset="0"/>
                <a:ea typeface="Calibri" pitchFamily="34" charset="-122"/>
                <a:cs typeface="Calibri" pitchFamily="34" charset="-120"/>
              </a:rPr>
              <a:t>Conditions de validation et d'acceptation</a:t>
            </a:r>
            <a:endParaRPr lang="en-US" sz="1200" dirty="0"/>
          </a:p>
        </p:txBody>
      </p:sp>
      <p:sp>
        <p:nvSpPr>
          <p:cNvPr id="29" name="Text 21"/>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THÉORIQUE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Matrice des parties prenantes (pouvoir / intérêt)</a:t>
            </a:r>
            <a:endParaRPr lang="en-US" sz="3000" dirty="0"/>
          </a:p>
        </p:txBody>
      </p:sp>
      <p:sp>
        <p:nvSpPr>
          <p:cNvPr id="4" name="Shape 2"/>
          <p:cNvSpPr/>
          <p:nvPr/>
        </p:nvSpPr>
        <p:spPr>
          <a:xfrm>
            <a:off x="3931920" y="1737360"/>
            <a:ext cx="0" cy="4480560"/>
          </a:xfrm>
          <a:prstGeom prst="line">
            <a:avLst/>
          </a:prstGeom>
          <a:noFill/>
          <a:ln w="19050">
            <a:solidFill>
              <a:srgbClr val="6B625D"/>
            </a:solidFill>
            <a:prstDash val="solid"/>
          </a:ln>
        </p:spPr>
      </p:sp>
      <p:sp>
        <p:nvSpPr>
          <p:cNvPr id="5" name="Shape 3"/>
          <p:cNvSpPr/>
          <p:nvPr/>
        </p:nvSpPr>
        <p:spPr>
          <a:xfrm>
            <a:off x="3931920" y="6217920"/>
            <a:ext cx="6035040" cy="0"/>
          </a:xfrm>
          <a:prstGeom prst="line">
            <a:avLst/>
          </a:prstGeom>
          <a:noFill/>
          <a:ln w="19050">
            <a:solidFill>
              <a:srgbClr val="6B625D"/>
            </a:solidFill>
            <a:prstDash val="solid"/>
          </a:ln>
        </p:spPr>
      </p:sp>
      <p:sp>
        <p:nvSpPr>
          <p:cNvPr id="6" name="Shape 4"/>
          <p:cNvSpPr/>
          <p:nvPr/>
        </p:nvSpPr>
        <p:spPr>
          <a:xfrm>
            <a:off x="3931920" y="1737360"/>
            <a:ext cx="3017520" cy="2240280"/>
          </a:xfrm>
          <a:prstGeom prst="rect">
            <a:avLst/>
          </a:prstGeom>
          <a:solidFill>
            <a:srgbClr val="E7E8D1">
              <a:alpha val="85000"/>
            </a:srgbClr>
          </a:solidFill>
          <a:ln w="12700">
            <a:solidFill>
              <a:srgbClr val="FFFFFF"/>
            </a:solidFill>
            <a:prstDash val="solid"/>
          </a:ln>
        </p:spPr>
      </p:sp>
      <p:sp>
        <p:nvSpPr>
          <p:cNvPr id="7" name="Text 5"/>
          <p:cNvSpPr/>
          <p:nvPr/>
        </p:nvSpPr>
        <p:spPr>
          <a:xfrm>
            <a:off x="4069080" y="1847088"/>
            <a:ext cx="2743200" cy="3657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Tenir informé</a:t>
            </a:r>
            <a:endParaRPr lang="en-US" sz="1400" dirty="0"/>
          </a:p>
        </p:txBody>
      </p:sp>
      <p:sp>
        <p:nvSpPr>
          <p:cNvPr id="8" name="Text 6"/>
          <p:cNvSpPr/>
          <p:nvPr/>
        </p:nvSpPr>
        <p:spPr>
          <a:xfrm>
            <a:off x="4069080" y="2212848"/>
            <a:ext cx="2743200" cy="320040"/>
          </a:xfrm>
          <a:prstGeom prst="rect">
            <a:avLst/>
          </a:prstGeom>
          <a:noFill/>
          <a:ln/>
        </p:spPr>
        <p:txBody>
          <a:bodyPr wrap="square" rtlCol="0" anchor="ctr"/>
          <a:lstStyle/>
          <a:p>
            <a:pPr marL="0" indent="0">
              <a:buNone/>
            </a:pPr>
            <a:r>
              <a:rPr lang="en-US" sz="1050" i="1" dirty="0">
                <a:solidFill>
                  <a:srgbClr val="3A2E28"/>
                </a:solidFill>
                <a:latin typeface="Calibri" pitchFamily="34" charset="0"/>
                <a:ea typeface="Calibri" pitchFamily="34" charset="-122"/>
                <a:cs typeface="Calibri" pitchFamily="34" charset="-120"/>
              </a:rPr>
              <a:t>Intérêt élevé, pouvoir faible</a:t>
            </a:r>
            <a:endParaRPr lang="en-US" sz="1050" dirty="0"/>
          </a:p>
        </p:txBody>
      </p:sp>
      <p:sp>
        <p:nvSpPr>
          <p:cNvPr id="9" name="Text 7"/>
          <p:cNvSpPr/>
          <p:nvPr/>
        </p:nvSpPr>
        <p:spPr>
          <a:xfrm>
            <a:off x="4069080" y="3474720"/>
            <a:ext cx="2743200" cy="365760"/>
          </a:xfrm>
          <a:prstGeom prst="rect">
            <a:avLst/>
          </a:prstGeom>
          <a:noFill/>
          <a:ln/>
        </p:spPr>
        <p:txBody>
          <a:bodyPr wrap="square" rtlCol="0" anchor="ctr"/>
          <a:lstStyle/>
          <a:p>
            <a:pPr marL="0" indent="0">
              <a:buNone/>
            </a:pPr>
            <a:r>
              <a:rPr lang="en-US" sz="1100" b="1" dirty="0">
                <a:solidFill>
                  <a:srgbClr val="3A2E28"/>
                </a:solidFill>
                <a:latin typeface="Calibri" pitchFamily="34" charset="0"/>
                <a:ea typeface="Calibri" pitchFamily="34" charset="-122"/>
                <a:cs typeface="Calibri" pitchFamily="34" charset="-120"/>
              </a:rPr>
              <a:t>Membres bénéficiaires</a:t>
            </a:r>
            <a:endParaRPr lang="en-US" sz="1100" dirty="0"/>
          </a:p>
        </p:txBody>
      </p:sp>
      <p:sp>
        <p:nvSpPr>
          <p:cNvPr id="10" name="Shape 8"/>
          <p:cNvSpPr/>
          <p:nvPr/>
        </p:nvSpPr>
        <p:spPr>
          <a:xfrm>
            <a:off x="6949440" y="1737360"/>
            <a:ext cx="3017520" cy="2240280"/>
          </a:xfrm>
          <a:prstGeom prst="rect">
            <a:avLst/>
          </a:prstGeom>
          <a:solidFill>
            <a:srgbClr val="B85042">
              <a:alpha val="85000"/>
            </a:srgbClr>
          </a:solidFill>
          <a:ln w="12700">
            <a:solidFill>
              <a:srgbClr val="FFFFFF"/>
            </a:solidFill>
            <a:prstDash val="solid"/>
          </a:ln>
        </p:spPr>
      </p:sp>
      <p:sp>
        <p:nvSpPr>
          <p:cNvPr id="11" name="Text 9"/>
          <p:cNvSpPr/>
          <p:nvPr/>
        </p:nvSpPr>
        <p:spPr>
          <a:xfrm>
            <a:off x="7086600" y="1847088"/>
            <a:ext cx="2743200" cy="3657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Gérer de près</a:t>
            </a:r>
            <a:endParaRPr lang="en-US" sz="1400" dirty="0"/>
          </a:p>
        </p:txBody>
      </p:sp>
      <p:sp>
        <p:nvSpPr>
          <p:cNvPr id="12" name="Text 10"/>
          <p:cNvSpPr/>
          <p:nvPr/>
        </p:nvSpPr>
        <p:spPr>
          <a:xfrm>
            <a:off x="7086600" y="2212848"/>
            <a:ext cx="2743200" cy="320040"/>
          </a:xfrm>
          <a:prstGeom prst="rect">
            <a:avLst/>
          </a:prstGeom>
          <a:noFill/>
          <a:ln/>
        </p:spPr>
        <p:txBody>
          <a:bodyPr wrap="square" rtlCol="0" anchor="ctr"/>
          <a:lstStyle/>
          <a:p>
            <a:pPr marL="0" indent="0">
              <a:buNone/>
            </a:pPr>
            <a:r>
              <a:rPr lang="en-US" sz="1050" i="1" dirty="0">
                <a:solidFill>
                  <a:srgbClr val="3A2E28"/>
                </a:solidFill>
                <a:latin typeface="Calibri" pitchFamily="34" charset="0"/>
                <a:ea typeface="Calibri" pitchFamily="34" charset="-122"/>
                <a:cs typeface="Calibri" pitchFamily="34" charset="-120"/>
              </a:rPr>
              <a:t>Intérêt et pouvoir élevés</a:t>
            </a:r>
            <a:endParaRPr lang="en-US" sz="1050" dirty="0"/>
          </a:p>
        </p:txBody>
      </p:sp>
      <p:sp>
        <p:nvSpPr>
          <p:cNvPr id="13" name="Text 11"/>
          <p:cNvSpPr/>
          <p:nvPr/>
        </p:nvSpPr>
        <p:spPr>
          <a:xfrm>
            <a:off x="7086600" y="3474720"/>
            <a:ext cx="2743200" cy="365760"/>
          </a:xfrm>
          <a:prstGeom prst="rect">
            <a:avLst/>
          </a:prstGeom>
          <a:noFill/>
          <a:ln/>
        </p:spPr>
        <p:txBody>
          <a:bodyPr wrap="square" rtlCol="0" anchor="ctr"/>
          <a:lstStyle/>
          <a:p>
            <a:pPr marL="0" indent="0">
              <a:buNone/>
            </a:pPr>
            <a:r>
              <a:rPr lang="en-US" sz="1100" b="1" dirty="0">
                <a:solidFill>
                  <a:srgbClr val="3A2E28"/>
                </a:solidFill>
                <a:latin typeface="Calibri" pitchFamily="34" charset="0"/>
                <a:ea typeface="Calibri" pitchFamily="34" charset="-122"/>
                <a:cs typeface="Calibri" pitchFamily="34" charset="-120"/>
              </a:rPr>
              <a:t>Président, Trésorier</a:t>
            </a:r>
            <a:endParaRPr lang="en-US" sz="1100" dirty="0"/>
          </a:p>
        </p:txBody>
      </p:sp>
      <p:sp>
        <p:nvSpPr>
          <p:cNvPr id="14" name="Shape 12"/>
          <p:cNvSpPr/>
          <p:nvPr/>
        </p:nvSpPr>
        <p:spPr>
          <a:xfrm>
            <a:off x="3931920" y="3977640"/>
            <a:ext cx="3017520" cy="2240280"/>
          </a:xfrm>
          <a:prstGeom prst="rect">
            <a:avLst/>
          </a:prstGeom>
          <a:solidFill>
            <a:srgbClr val="DCE8E2">
              <a:alpha val="85000"/>
            </a:srgbClr>
          </a:solidFill>
          <a:ln w="12700">
            <a:solidFill>
              <a:srgbClr val="FFFFFF"/>
            </a:solidFill>
            <a:prstDash val="solid"/>
          </a:ln>
        </p:spPr>
      </p:sp>
      <p:sp>
        <p:nvSpPr>
          <p:cNvPr id="15" name="Text 13"/>
          <p:cNvSpPr/>
          <p:nvPr/>
        </p:nvSpPr>
        <p:spPr>
          <a:xfrm>
            <a:off x="4069080" y="4087368"/>
            <a:ext cx="2743200" cy="3657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Suivi minimal</a:t>
            </a:r>
            <a:endParaRPr lang="en-US" sz="1400" dirty="0"/>
          </a:p>
        </p:txBody>
      </p:sp>
      <p:sp>
        <p:nvSpPr>
          <p:cNvPr id="16" name="Text 14"/>
          <p:cNvSpPr/>
          <p:nvPr/>
        </p:nvSpPr>
        <p:spPr>
          <a:xfrm>
            <a:off x="4069080" y="4453128"/>
            <a:ext cx="2743200" cy="320040"/>
          </a:xfrm>
          <a:prstGeom prst="rect">
            <a:avLst/>
          </a:prstGeom>
          <a:noFill/>
          <a:ln/>
        </p:spPr>
        <p:txBody>
          <a:bodyPr wrap="square" rtlCol="0" anchor="ctr"/>
          <a:lstStyle/>
          <a:p>
            <a:pPr marL="0" indent="0">
              <a:buNone/>
            </a:pPr>
            <a:r>
              <a:rPr lang="en-US" sz="1050" i="1" dirty="0">
                <a:solidFill>
                  <a:srgbClr val="3A2E28"/>
                </a:solidFill>
                <a:latin typeface="Calibri" pitchFamily="34" charset="0"/>
                <a:ea typeface="Calibri" pitchFamily="34" charset="-122"/>
                <a:cs typeface="Calibri" pitchFamily="34" charset="-120"/>
              </a:rPr>
              <a:t>Intérêt et pouvoir faibles</a:t>
            </a:r>
            <a:endParaRPr lang="en-US" sz="1050" dirty="0"/>
          </a:p>
        </p:txBody>
      </p:sp>
      <p:sp>
        <p:nvSpPr>
          <p:cNvPr id="17" name="Text 15"/>
          <p:cNvSpPr/>
          <p:nvPr/>
        </p:nvSpPr>
        <p:spPr>
          <a:xfrm>
            <a:off x="4069080" y="5715000"/>
            <a:ext cx="2743200" cy="365760"/>
          </a:xfrm>
          <a:prstGeom prst="rect">
            <a:avLst/>
          </a:prstGeom>
          <a:noFill/>
          <a:ln/>
        </p:spPr>
        <p:txBody>
          <a:bodyPr wrap="square" rtlCol="0" anchor="ctr"/>
          <a:lstStyle/>
          <a:p>
            <a:pPr marL="0" indent="0">
              <a:buNone/>
            </a:pPr>
            <a:r>
              <a:rPr lang="en-US" sz="1100" b="1" dirty="0">
                <a:solidFill>
                  <a:srgbClr val="3A2E28"/>
                </a:solidFill>
                <a:latin typeface="Calibri" pitchFamily="34" charset="0"/>
                <a:ea typeface="Calibri" pitchFamily="34" charset="-122"/>
                <a:cs typeface="Calibri" pitchFamily="34" charset="-120"/>
              </a:rPr>
              <a:t>Fournisseurs ponctuels</a:t>
            </a:r>
            <a:endParaRPr lang="en-US" sz="1100" dirty="0"/>
          </a:p>
        </p:txBody>
      </p:sp>
      <p:sp>
        <p:nvSpPr>
          <p:cNvPr id="18" name="Shape 16"/>
          <p:cNvSpPr/>
          <p:nvPr/>
        </p:nvSpPr>
        <p:spPr>
          <a:xfrm>
            <a:off x="6949440" y="3977640"/>
            <a:ext cx="3017520" cy="2240280"/>
          </a:xfrm>
          <a:prstGeom prst="rect">
            <a:avLst/>
          </a:prstGeom>
          <a:solidFill>
            <a:srgbClr val="6B8F7F">
              <a:alpha val="85000"/>
            </a:srgbClr>
          </a:solidFill>
          <a:ln w="12700">
            <a:solidFill>
              <a:srgbClr val="FFFFFF"/>
            </a:solidFill>
            <a:prstDash val="solid"/>
          </a:ln>
        </p:spPr>
      </p:sp>
      <p:sp>
        <p:nvSpPr>
          <p:cNvPr id="19" name="Text 17"/>
          <p:cNvSpPr/>
          <p:nvPr/>
        </p:nvSpPr>
        <p:spPr>
          <a:xfrm>
            <a:off x="7086600" y="4087368"/>
            <a:ext cx="2743200" cy="3657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Satisfaire</a:t>
            </a:r>
            <a:endParaRPr lang="en-US" sz="1400" dirty="0"/>
          </a:p>
        </p:txBody>
      </p:sp>
      <p:sp>
        <p:nvSpPr>
          <p:cNvPr id="20" name="Text 18"/>
          <p:cNvSpPr/>
          <p:nvPr/>
        </p:nvSpPr>
        <p:spPr>
          <a:xfrm>
            <a:off x="7086600" y="4453128"/>
            <a:ext cx="2743200" cy="320040"/>
          </a:xfrm>
          <a:prstGeom prst="rect">
            <a:avLst/>
          </a:prstGeom>
          <a:noFill/>
          <a:ln/>
        </p:spPr>
        <p:txBody>
          <a:bodyPr wrap="square" rtlCol="0" anchor="ctr"/>
          <a:lstStyle/>
          <a:p>
            <a:pPr marL="0" indent="0">
              <a:buNone/>
            </a:pPr>
            <a:r>
              <a:rPr lang="en-US" sz="1050" i="1" dirty="0">
                <a:solidFill>
                  <a:srgbClr val="3A2E28"/>
                </a:solidFill>
                <a:latin typeface="Calibri" pitchFamily="34" charset="0"/>
                <a:ea typeface="Calibri" pitchFamily="34" charset="-122"/>
                <a:cs typeface="Calibri" pitchFamily="34" charset="-120"/>
              </a:rPr>
              <a:t>Pouvoir élevé, intérêt faible</a:t>
            </a:r>
            <a:endParaRPr lang="en-US" sz="1050" dirty="0"/>
          </a:p>
        </p:txBody>
      </p:sp>
      <p:sp>
        <p:nvSpPr>
          <p:cNvPr id="21" name="Text 19"/>
          <p:cNvSpPr/>
          <p:nvPr/>
        </p:nvSpPr>
        <p:spPr>
          <a:xfrm>
            <a:off x="7086600" y="5715000"/>
            <a:ext cx="2743200" cy="365760"/>
          </a:xfrm>
          <a:prstGeom prst="rect">
            <a:avLst/>
          </a:prstGeom>
          <a:noFill/>
          <a:ln/>
        </p:spPr>
        <p:txBody>
          <a:bodyPr wrap="square" rtlCol="0" anchor="ctr"/>
          <a:lstStyle/>
          <a:p>
            <a:pPr marL="0" indent="0">
              <a:buNone/>
            </a:pPr>
            <a:r>
              <a:rPr lang="en-US" sz="1100" b="1" dirty="0">
                <a:solidFill>
                  <a:srgbClr val="3A2E28"/>
                </a:solidFill>
                <a:latin typeface="Calibri" pitchFamily="34" charset="0"/>
                <a:ea typeface="Calibri" pitchFamily="34" charset="-122"/>
                <a:cs typeface="Calibri" pitchFamily="34" charset="-120"/>
              </a:rPr>
              <a:t>Autorités administratives</a:t>
            </a:r>
            <a:endParaRPr lang="en-US" sz="1100" dirty="0"/>
          </a:p>
        </p:txBody>
      </p:sp>
      <p:sp>
        <p:nvSpPr>
          <p:cNvPr id="22" name="Text 20"/>
          <p:cNvSpPr/>
          <p:nvPr/>
        </p:nvSpPr>
        <p:spPr>
          <a:xfrm>
            <a:off x="6035040" y="6291072"/>
            <a:ext cx="1828800" cy="274320"/>
          </a:xfrm>
          <a:prstGeom prst="rect">
            <a:avLst/>
          </a:prstGeom>
          <a:noFill/>
          <a:ln/>
        </p:spPr>
        <p:txBody>
          <a:bodyPr wrap="square" rtlCol="0" anchor="ctr"/>
          <a:lstStyle/>
          <a:p>
            <a:pPr marL="0" indent="0" algn="ctr">
              <a:buNone/>
            </a:pPr>
            <a:r>
              <a:rPr lang="en-US" sz="1100" dirty="0">
                <a:solidFill>
                  <a:srgbClr val="6B625D"/>
                </a:solidFill>
                <a:latin typeface="Calibri" pitchFamily="34" charset="0"/>
                <a:ea typeface="Calibri" pitchFamily="34" charset="-122"/>
                <a:cs typeface="Calibri" pitchFamily="34" charset="-120"/>
              </a:rPr>
              <a:t>Intérêt →</a:t>
            </a:r>
            <a:endParaRPr lang="en-US" sz="1100" dirty="0"/>
          </a:p>
        </p:txBody>
      </p:sp>
      <p:sp>
        <p:nvSpPr>
          <p:cNvPr id="23" name="Text 21"/>
          <p:cNvSpPr/>
          <p:nvPr/>
        </p:nvSpPr>
        <p:spPr>
          <a:xfrm rot="16200000">
            <a:off x="2514600" y="3840480"/>
            <a:ext cx="1280160" cy="274320"/>
          </a:xfrm>
          <a:prstGeom prst="rect">
            <a:avLst/>
          </a:prstGeom>
          <a:noFill/>
          <a:ln/>
        </p:spPr>
        <p:txBody>
          <a:bodyPr wrap="square" rtlCol="0" anchor="ctr"/>
          <a:lstStyle/>
          <a:p>
            <a:pPr marL="0" indent="0" algn="r">
              <a:buNone/>
            </a:pPr>
            <a:r>
              <a:rPr lang="en-US" sz="1100" dirty="0">
                <a:solidFill>
                  <a:srgbClr val="6B625D"/>
                </a:solidFill>
                <a:latin typeface="Calibri" pitchFamily="34" charset="0"/>
                <a:ea typeface="Calibri" pitchFamily="34" charset="-122"/>
                <a:cs typeface="Calibri" pitchFamily="34" charset="-120"/>
              </a:rPr>
              <a:t>Pouvoir →</a:t>
            </a:r>
            <a:endParaRPr lang="en-US" sz="1100" dirty="0"/>
          </a:p>
        </p:txBody>
      </p:sp>
      <p:sp>
        <p:nvSpPr>
          <p:cNvPr id="24" name="Text 22"/>
          <p:cNvSpPr/>
          <p:nvPr/>
        </p:nvSpPr>
        <p:spPr>
          <a:xfrm>
            <a:off x="548640" y="2103120"/>
            <a:ext cx="3017520" cy="457200"/>
          </a:xfrm>
          <a:prstGeom prst="rect">
            <a:avLst/>
          </a:prstGeom>
          <a:noFill/>
          <a:ln/>
        </p:spPr>
        <p:txBody>
          <a:bodyPr wrap="square" rtlCol="0" anchor="ctr"/>
          <a:lstStyle/>
          <a:p>
            <a:pPr marL="0" indent="0">
              <a:buNone/>
            </a:pPr>
            <a:r>
              <a:rPr lang="en-US" sz="1600" b="1" dirty="0">
                <a:solidFill>
                  <a:srgbClr val="8C3B30"/>
                </a:solidFill>
                <a:latin typeface="Cambria" pitchFamily="34" charset="0"/>
                <a:ea typeface="Cambria" pitchFamily="34" charset="-122"/>
                <a:cs typeface="Cambria" pitchFamily="34" charset="-120"/>
              </a:rPr>
              <a:t>Pourquoi cette matrice ?</a:t>
            </a:r>
            <a:endParaRPr lang="en-US" sz="1600" dirty="0"/>
          </a:p>
        </p:txBody>
      </p:sp>
      <p:sp>
        <p:nvSpPr>
          <p:cNvPr id="25" name="Text 23"/>
          <p:cNvSpPr/>
          <p:nvPr/>
        </p:nvSpPr>
        <p:spPr>
          <a:xfrm>
            <a:off x="548640" y="2651760"/>
            <a:ext cx="3108960" cy="2743200"/>
          </a:xfrm>
          <a:prstGeom prst="rect">
            <a:avLst/>
          </a:prstGeom>
          <a:noFill/>
          <a:ln/>
        </p:spPr>
        <p:txBody>
          <a:bodyPr wrap="square" rtlCol="0" anchor="ctr"/>
          <a:lstStyle/>
          <a:p>
            <a:pPr marL="342900" indent="-342900">
              <a:spcAft>
                <a:spcPts val="1200"/>
              </a:spcAft>
              <a:buSzPct val="100000"/>
              <a:buChar char="•"/>
            </a:pPr>
            <a:r>
              <a:rPr lang="en-US" sz="1200" dirty="0">
                <a:solidFill>
                  <a:srgbClr val="3A2E28"/>
                </a:solidFill>
                <a:latin typeface="Calibri" pitchFamily="34" charset="0"/>
                <a:ea typeface="Calibri" pitchFamily="34" charset="-122"/>
                <a:cs typeface="Calibri" pitchFamily="34" charset="-120"/>
              </a:rPr>
              <a:t>Classer les parties prenantes selon leur influence et leur implication</a:t>
            </a:r>
            <a:endParaRPr lang="en-US" sz="1200" dirty="0"/>
          </a:p>
          <a:p>
            <a:pPr marL="342900" indent="-342900">
              <a:spcAft>
                <a:spcPts val="1200"/>
              </a:spcAft>
              <a:buSzPct val="100000"/>
              <a:buChar char="•"/>
            </a:pPr>
            <a:r>
              <a:rPr lang="en-US" sz="1200" dirty="0">
                <a:solidFill>
                  <a:srgbClr val="3A2E28"/>
                </a:solidFill>
                <a:latin typeface="Calibri" pitchFamily="34" charset="0"/>
                <a:ea typeface="Calibri" pitchFamily="34" charset="-122"/>
                <a:cs typeface="Calibri" pitchFamily="34" charset="-120"/>
              </a:rPr>
              <a:t>Adapter la stratégie de communication à chaque profil</a:t>
            </a:r>
            <a:endParaRPr lang="en-US" sz="1200" dirty="0"/>
          </a:p>
          <a:p>
            <a:pPr marL="342900" indent="-342900">
              <a:buSzPct val="100000"/>
              <a:buChar char="•"/>
            </a:pPr>
            <a:r>
              <a:rPr lang="en-US" sz="1200" dirty="0">
                <a:solidFill>
                  <a:srgbClr val="3A2E28"/>
                </a:solidFill>
                <a:latin typeface="Calibri" pitchFamily="34" charset="0"/>
                <a:ea typeface="Calibri" pitchFamily="34" charset="-122"/>
                <a:cs typeface="Calibri" pitchFamily="34" charset="-120"/>
              </a:rPr>
              <a:t>Anticiper les résistances et sécuriser les soutiens</a:t>
            </a:r>
            <a:endParaRPr lang="en-US" sz="1200" dirty="0"/>
          </a:p>
        </p:txBody>
      </p:sp>
      <p:sp>
        <p:nvSpPr>
          <p:cNvPr id="26" name="Text 24"/>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11D"/>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B85042">
              <a:alpha val="80000"/>
            </a:srgbClr>
          </a:solidFill>
          <a:ln/>
        </p:spPr>
      </p:sp>
      <p:sp>
        <p:nvSpPr>
          <p:cNvPr id="3" name="Shape 1"/>
          <p:cNvSpPr/>
          <p:nvPr/>
        </p:nvSpPr>
        <p:spPr>
          <a:xfrm>
            <a:off x="9875520" y="-1645920"/>
            <a:ext cx="3291840" cy="3291840"/>
          </a:xfrm>
          <a:prstGeom prst="ellipse">
            <a:avLst/>
          </a:prstGeom>
          <a:solidFill>
            <a:srgbClr val="6B8F7F">
              <a:alpha val="65000"/>
            </a:srgbClr>
          </a:solidFill>
          <a:ln/>
        </p:spPr>
      </p:sp>
      <p:sp>
        <p:nvSpPr>
          <p:cNvPr id="4" name="Text 2"/>
          <p:cNvSpPr/>
          <p:nvPr/>
        </p:nvSpPr>
        <p:spPr>
          <a:xfrm>
            <a:off x="822960" y="2103120"/>
            <a:ext cx="2743200" cy="1188720"/>
          </a:xfrm>
          <a:prstGeom prst="rect">
            <a:avLst/>
          </a:prstGeom>
          <a:noFill/>
          <a:ln/>
        </p:spPr>
        <p:txBody>
          <a:bodyPr wrap="square" rtlCol="0" anchor="ctr"/>
          <a:lstStyle/>
          <a:p>
            <a:pPr marL="0" indent="0">
              <a:buNone/>
            </a:pPr>
            <a:r>
              <a:rPr lang="en-US" sz="6400" b="1" dirty="0">
                <a:solidFill>
                  <a:srgbClr val="B85042"/>
                </a:solidFill>
                <a:latin typeface="Cambria" pitchFamily="34" charset="0"/>
                <a:ea typeface="Cambria" pitchFamily="34" charset="-122"/>
                <a:cs typeface="Cambria" pitchFamily="34" charset="-120"/>
              </a:rPr>
              <a:t>02</a:t>
            </a:r>
            <a:endParaRPr lang="en-US" sz="6400" dirty="0"/>
          </a:p>
        </p:txBody>
      </p:sp>
      <p:sp>
        <p:nvSpPr>
          <p:cNvPr id="5" name="Text 3"/>
          <p:cNvSpPr/>
          <p:nvPr/>
        </p:nvSpPr>
        <p:spPr>
          <a:xfrm>
            <a:off x="822960" y="3246120"/>
            <a:ext cx="9144000" cy="9144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Cas pratique : CoopHabitat</a:t>
            </a:r>
            <a:endParaRPr lang="en-US" sz="3600" dirty="0"/>
          </a:p>
        </p:txBody>
      </p:sp>
      <p:sp>
        <p:nvSpPr>
          <p:cNvPr id="6" name="Text 4"/>
          <p:cNvSpPr/>
          <p:nvPr/>
        </p:nvSpPr>
        <p:spPr>
          <a:xfrm>
            <a:off x="822960" y="3977640"/>
            <a:ext cx="8229600" cy="548640"/>
          </a:xfrm>
          <a:prstGeom prst="rect">
            <a:avLst/>
          </a:prstGeom>
          <a:noFill/>
          <a:ln/>
        </p:spPr>
        <p:txBody>
          <a:bodyPr wrap="square" rtlCol="0" anchor="ctr"/>
          <a:lstStyle/>
          <a:p>
            <a:pPr marL="0" indent="0">
              <a:buNone/>
            </a:pPr>
            <a:r>
              <a:rPr lang="en-US" sz="1500" i="1" dirty="0">
                <a:solidFill>
                  <a:srgbClr val="E7E8D1"/>
                </a:solidFill>
                <a:latin typeface="Calibri" pitchFamily="34" charset="0"/>
                <a:ea typeface="Calibri" pitchFamily="34" charset="-122"/>
                <a:cs typeface="Calibri" pitchFamily="34" charset="-120"/>
              </a:rPr>
              <a:t>Gestion numérique d'une coopérative d'habitat</a:t>
            </a:r>
            <a:endParaRPr lang="en-US" sz="1500" dirty="0"/>
          </a:p>
        </p:txBody>
      </p:sp>
      <p:pic>
        <p:nvPicPr>
          <p:cNvPr id="7" name="Image 0" descr="icons/FaHome_white.png"/>
          <p:cNvPicPr>
            <a:picLocks noChangeAspect="1"/>
          </p:cNvPicPr>
          <p:nvPr/>
        </p:nvPicPr>
        <p:blipFill>
          <a:blip r:embed="rId3"/>
          <a:stretch>
            <a:fillRect/>
          </a:stretch>
        </p:blipFill>
        <p:spPr>
          <a:xfrm>
            <a:off x="10332720" y="5120640"/>
            <a:ext cx="822960" cy="8229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PRATIQUE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CoopHabitat — Présentation du cas</a:t>
            </a:r>
            <a:endParaRPr lang="en-US" sz="3000" dirty="0"/>
          </a:p>
        </p:txBody>
      </p:sp>
      <p:sp>
        <p:nvSpPr>
          <p:cNvPr id="4" name="Shape 2"/>
          <p:cNvSpPr/>
          <p:nvPr/>
        </p:nvSpPr>
        <p:spPr>
          <a:xfrm>
            <a:off x="548640" y="1737360"/>
            <a:ext cx="6766560" cy="4389120"/>
          </a:xfrm>
          <a:prstGeom prst="roundRect">
            <a:avLst>
              <a:gd name="adj" fmla="val 2083"/>
            </a:avLst>
          </a:prstGeom>
          <a:solidFill>
            <a:srgbClr val="E7E8D1"/>
          </a:solidFill>
          <a:ln/>
        </p:spPr>
      </p:sp>
      <p:sp>
        <p:nvSpPr>
          <p:cNvPr id="5" name="Text 3"/>
          <p:cNvSpPr/>
          <p:nvPr/>
        </p:nvSpPr>
        <p:spPr>
          <a:xfrm>
            <a:off x="868680" y="1965960"/>
            <a:ext cx="4572000" cy="365760"/>
          </a:xfrm>
          <a:prstGeom prst="rect">
            <a:avLst/>
          </a:prstGeom>
          <a:noFill/>
          <a:ln/>
        </p:spPr>
        <p:txBody>
          <a:bodyPr wrap="square" rtlCol="0" anchor="ctr"/>
          <a:lstStyle/>
          <a:p>
            <a:pPr marL="0" indent="0">
              <a:buNone/>
            </a:pPr>
            <a:r>
              <a:rPr lang="en-US" sz="1600" b="1" dirty="0">
                <a:solidFill>
                  <a:srgbClr val="8C3B30"/>
                </a:solidFill>
                <a:latin typeface="Cambria" pitchFamily="34" charset="0"/>
                <a:ea typeface="Cambria" pitchFamily="34" charset="-122"/>
                <a:cs typeface="Cambria" pitchFamily="34" charset="-120"/>
              </a:rPr>
              <a:t>Contexte</a:t>
            </a:r>
            <a:endParaRPr lang="en-US" sz="1600" dirty="0"/>
          </a:p>
        </p:txBody>
      </p:sp>
      <p:sp>
        <p:nvSpPr>
          <p:cNvPr id="6" name="Text 4"/>
          <p:cNvSpPr/>
          <p:nvPr/>
        </p:nvSpPr>
        <p:spPr>
          <a:xfrm>
            <a:off x="868680" y="2377440"/>
            <a:ext cx="6126480" cy="1463040"/>
          </a:xfrm>
          <a:prstGeom prst="rect">
            <a:avLst/>
          </a:prstGeom>
          <a:noFill/>
          <a:ln/>
        </p:spPr>
        <p:txBody>
          <a:bodyPr wrap="square" rtlCol="0" anchor="ctr"/>
          <a:lstStyle/>
          <a:p>
            <a:pPr marL="0" indent="0">
              <a:buNone/>
            </a:pPr>
            <a:r>
              <a:rPr lang="en-US" sz="1300" dirty="0">
                <a:solidFill>
                  <a:srgbClr val="3A2E28"/>
                </a:solidFill>
                <a:latin typeface="Calibri" pitchFamily="34" charset="0"/>
                <a:ea typeface="Calibri" pitchFamily="34" charset="-122"/>
                <a:cs typeface="Calibri" pitchFamily="34" charset="-120"/>
              </a:rPr>
              <a:t>Au Sénégal, les coopératives d'habitat permettent aux fonctionnaires et travailleurs du secteur formel d'accéder au logement. Leur gestion repose encore sur des assemblées physiques, des carnets papier et des trésoriers surchargés, sans visibilité pour les membres sur leurs cotisations.</a:t>
            </a:r>
            <a:endParaRPr lang="en-US" sz="1300" dirty="0"/>
          </a:p>
        </p:txBody>
      </p:sp>
      <p:sp>
        <p:nvSpPr>
          <p:cNvPr id="7" name="Text 5"/>
          <p:cNvSpPr/>
          <p:nvPr/>
        </p:nvSpPr>
        <p:spPr>
          <a:xfrm>
            <a:off x="868680" y="3931920"/>
            <a:ext cx="4572000" cy="365760"/>
          </a:xfrm>
          <a:prstGeom prst="rect">
            <a:avLst/>
          </a:prstGeom>
          <a:noFill/>
          <a:ln/>
        </p:spPr>
        <p:txBody>
          <a:bodyPr wrap="square" rtlCol="0" anchor="ctr"/>
          <a:lstStyle/>
          <a:p>
            <a:pPr marL="0" indent="0">
              <a:buNone/>
            </a:pPr>
            <a:r>
              <a:rPr lang="en-US" sz="1600" b="1" dirty="0">
                <a:solidFill>
                  <a:srgbClr val="8C3B30"/>
                </a:solidFill>
                <a:latin typeface="Cambria" pitchFamily="34" charset="0"/>
                <a:ea typeface="Cambria" pitchFamily="34" charset="-122"/>
                <a:cs typeface="Cambria" pitchFamily="34" charset="-120"/>
              </a:rPr>
              <a:t>Le problème</a:t>
            </a:r>
            <a:endParaRPr lang="en-US" sz="1600" dirty="0"/>
          </a:p>
        </p:txBody>
      </p:sp>
      <p:sp>
        <p:nvSpPr>
          <p:cNvPr id="8" name="Text 6"/>
          <p:cNvSpPr/>
          <p:nvPr/>
        </p:nvSpPr>
        <p:spPr>
          <a:xfrm>
            <a:off x="868680" y="4343400"/>
            <a:ext cx="6126480" cy="1645920"/>
          </a:xfrm>
          <a:prstGeom prst="rect">
            <a:avLst/>
          </a:prstGeom>
          <a:noFill/>
          <a:ln/>
        </p:spPr>
        <p:txBody>
          <a:bodyPr wrap="square" rtlCol="0" anchor="ctr"/>
          <a:lstStyle/>
          <a:p>
            <a:pPr marL="342900" indent="-342900">
              <a:spcAft>
                <a:spcPts val="800"/>
              </a:spcAft>
              <a:buSzPct val="100000"/>
              <a:buChar char="•"/>
            </a:pPr>
            <a:r>
              <a:rPr lang="en-US" sz="1300" dirty="0">
                <a:solidFill>
                  <a:srgbClr val="3A2E28"/>
                </a:solidFill>
                <a:latin typeface="Calibri" pitchFamily="34" charset="0"/>
                <a:ea typeface="Calibri" pitchFamily="34" charset="-122"/>
                <a:cs typeface="Calibri" pitchFamily="34" charset="-120"/>
              </a:rPr>
              <a:t>Litiges fréquents sur l'attribution des lots</a:t>
            </a:r>
            <a:endParaRPr lang="en-US" sz="1300" dirty="0"/>
          </a:p>
          <a:p>
            <a:pPr marL="342900" indent="-342900">
              <a:spcAft>
                <a:spcPts val="800"/>
              </a:spcAft>
              <a:buSzPct val="100000"/>
              <a:buChar char="•"/>
            </a:pPr>
            <a:r>
              <a:rPr lang="en-US" sz="1300" dirty="0">
                <a:solidFill>
                  <a:srgbClr val="3A2E28"/>
                </a:solidFill>
                <a:latin typeface="Calibri" pitchFamily="34" charset="0"/>
                <a:ea typeface="Calibri" pitchFamily="34" charset="-122"/>
                <a:cs typeface="Calibri" pitchFamily="34" charset="-120"/>
              </a:rPr>
              <a:t>Retards de cotisation mal suivis</a:t>
            </a:r>
            <a:endParaRPr lang="en-US" sz="1300" dirty="0"/>
          </a:p>
          <a:p>
            <a:pPr marL="342900" indent="-342900">
              <a:buSzPct val="100000"/>
              <a:buChar char="•"/>
            </a:pPr>
            <a:r>
              <a:rPr lang="en-US" sz="1300" dirty="0">
                <a:solidFill>
                  <a:srgbClr val="3A2E28"/>
                </a:solidFill>
                <a:latin typeface="Calibri" pitchFamily="34" charset="0"/>
                <a:ea typeface="Calibri" pitchFamily="34" charset="-122"/>
                <a:cs typeface="Calibri" pitchFamily="34" charset="-120"/>
              </a:rPr>
              <a:t>Gestion des fonds peu transparente</a:t>
            </a:r>
            <a:endParaRPr lang="en-US" sz="1300" dirty="0"/>
          </a:p>
        </p:txBody>
      </p:sp>
      <p:sp>
        <p:nvSpPr>
          <p:cNvPr id="9" name="Shape 7"/>
          <p:cNvSpPr/>
          <p:nvPr/>
        </p:nvSpPr>
        <p:spPr>
          <a:xfrm>
            <a:off x="7543800" y="1737360"/>
            <a:ext cx="4069080" cy="4389120"/>
          </a:xfrm>
          <a:prstGeom prst="roundRect">
            <a:avLst>
              <a:gd name="adj" fmla="val 2247"/>
            </a:avLst>
          </a:prstGeom>
          <a:solidFill>
            <a:srgbClr val="2B211D"/>
          </a:solidFill>
          <a:ln/>
        </p:spPr>
      </p:sp>
      <p:sp>
        <p:nvSpPr>
          <p:cNvPr id="10" name="Text 8"/>
          <p:cNvSpPr/>
          <p:nvPr/>
        </p:nvSpPr>
        <p:spPr>
          <a:xfrm>
            <a:off x="7818120" y="1965960"/>
            <a:ext cx="36576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Stack technique conseillée</a:t>
            </a:r>
            <a:endParaRPr lang="en-US" sz="1500" dirty="0"/>
          </a:p>
        </p:txBody>
      </p:sp>
      <p:sp>
        <p:nvSpPr>
          <p:cNvPr id="11" name="Shape 9"/>
          <p:cNvSpPr/>
          <p:nvPr/>
        </p:nvSpPr>
        <p:spPr>
          <a:xfrm>
            <a:off x="7818120" y="2514600"/>
            <a:ext cx="457200" cy="457200"/>
          </a:xfrm>
          <a:prstGeom prst="ellipse">
            <a:avLst/>
          </a:prstGeom>
          <a:solidFill>
            <a:srgbClr val="B85042"/>
          </a:solidFill>
          <a:ln/>
        </p:spPr>
      </p:sp>
      <p:pic>
        <p:nvPicPr>
          <p:cNvPr id="12" name="Image 0" descr="icons/FaCode_white.png"/>
          <p:cNvPicPr>
            <a:picLocks noChangeAspect="1"/>
          </p:cNvPicPr>
          <p:nvPr/>
        </p:nvPicPr>
        <p:blipFill>
          <a:blip r:embed="rId3"/>
          <a:stretch>
            <a:fillRect/>
          </a:stretch>
        </p:blipFill>
        <p:spPr>
          <a:xfrm>
            <a:off x="7909560" y="2606040"/>
            <a:ext cx="274320" cy="274320"/>
          </a:xfrm>
          <a:prstGeom prst="rect">
            <a:avLst/>
          </a:prstGeom>
        </p:spPr>
      </p:pic>
      <p:sp>
        <p:nvSpPr>
          <p:cNvPr id="13" name="Text 10"/>
          <p:cNvSpPr/>
          <p:nvPr/>
        </p:nvSpPr>
        <p:spPr>
          <a:xfrm>
            <a:off x="8412480" y="2468880"/>
            <a:ext cx="301752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Spring Boot</a:t>
            </a:r>
            <a:endParaRPr lang="en-US" sz="1350" dirty="0"/>
          </a:p>
        </p:txBody>
      </p:sp>
      <p:sp>
        <p:nvSpPr>
          <p:cNvPr id="14" name="Text 11"/>
          <p:cNvSpPr/>
          <p:nvPr/>
        </p:nvSpPr>
        <p:spPr>
          <a:xfrm>
            <a:off x="8412480" y="2788920"/>
            <a:ext cx="3017520" cy="320040"/>
          </a:xfrm>
          <a:prstGeom prst="rect">
            <a:avLst/>
          </a:prstGeom>
          <a:noFill/>
          <a:ln/>
        </p:spPr>
        <p:txBody>
          <a:bodyPr wrap="square" rtlCol="0" anchor="ctr"/>
          <a:lstStyle/>
          <a:p>
            <a:pPr marL="0" indent="0">
              <a:buNone/>
            </a:pPr>
            <a:r>
              <a:rPr lang="en-US" sz="1100" dirty="0">
                <a:solidFill>
                  <a:srgbClr val="E7E8D1"/>
                </a:solidFill>
                <a:latin typeface="Calibri" pitchFamily="34" charset="0"/>
                <a:ea typeface="Calibri" pitchFamily="34" charset="-122"/>
                <a:cs typeface="Calibri" pitchFamily="34" charset="-120"/>
              </a:rPr>
              <a:t>Back-end &amp; API REST</a:t>
            </a:r>
            <a:endParaRPr lang="en-US" sz="1100" dirty="0"/>
          </a:p>
        </p:txBody>
      </p:sp>
      <p:sp>
        <p:nvSpPr>
          <p:cNvPr id="15" name="Shape 12"/>
          <p:cNvSpPr/>
          <p:nvPr/>
        </p:nvSpPr>
        <p:spPr>
          <a:xfrm>
            <a:off x="7818120" y="3383280"/>
            <a:ext cx="457200" cy="457200"/>
          </a:xfrm>
          <a:prstGeom prst="ellipse">
            <a:avLst/>
          </a:prstGeom>
          <a:solidFill>
            <a:srgbClr val="B85042"/>
          </a:solidFill>
          <a:ln/>
        </p:spPr>
      </p:sp>
      <p:pic>
        <p:nvPicPr>
          <p:cNvPr id="16" name="Image 1" descr="icons/FaMobileAlt_white.png"/>
          <p:cNvPicPr>
            <a:picLocks noChangeAspect="1"/>
          </p:cNvPicPr>
          <p:nvPr/>
        </p:nvPicPr>
        <p:blipFill>
          <a:blip r:embed="rId4"/>
          <a:stretch>
            <a:fillRect/>
          </a:stretch>
        </p:blipFill>
        <p:spPr>
          <a:xfrm>
            <a:off x="7909560" y="3474720"/>
            <a:ext cx="274320" cy="274320"/>
          </a:xfrm>
          <a:prstGeom prst="rect">
            <a:avLst/>
          </a:prstGeom>
        </p:spPr>
      </p:pic>
      <p:sp>
        <p:nvSpPr>
          <p:cNvPr id="17" name="Text 13"/>
          <p:cNvSpPr/>
          <p:nvPr/>
        </p:nvSpPr>
        <p:spPr>
          <a:xfrm>
            <a:off x="8412480" y="3337560"/>
            <a:ext cx="301752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Angular</a:t>
            </a:r>
            <a:endParaRPr lang="en-US" sz="1350" dirty="0"/>
          </a:p>
        </p:txBody>
      </p:sp>
      <p:sp>
        <p:nvSpPr>
          <p:cNvPr id="18" name="Text 14"/>
          <p:cNvSpPr/>
          <p:nvPr/>
        </p:nvSpPr>
        <p:spPr>
          <a:xfrm>
            <a:off x="8412480" y="3657600"/>
            <a:ext cx="3017520" cy="320040"/>
          </a:xfrm>
          <a:prstGeom prst="rect">
            <a:avLst/>
          </a:prstGeom>
          <a:noFill/>
          <a:ln/>
        </p:spPr>
        <p:txBody>
          <a:bodyPr wrap="square" rtlCol="0" anchor="ctr"/>
          <a:lstStyle/>
          <a:p>
            <a:pPr marL="0" indent="0">
              <a:buNone/>
            </a:pPr>
            <a:r>
              <a:rPr lang="en-US" sz="1100" dirty="0">
                <a:solidFill>
                  <a:srgbClr val="E7E8D1"/>
                </a:solidFill>
                <a:latin typeface="Calibri" pitchFamily="34" charset="0"/>
                <a:ea typeface="Calibri" pitchFamily="34" charset="-122"/>
                <a:cs typeface="Calibri" pitchFamily="34" charset="-120"/>
              </a:rPr>
              <a:t>Front-end responsive</a:t>
            </a:r>
            <a:endParaRPr lang="en-US" sz="1100" dirty="0"/>
          </a:p>
        </p:txBody>
      </p:sp>
      <p:sp>
        <p:nvSpPr>
          <p:cNvPr id="19" name="Shape 15"/>
          <p:cNvSpPr/>
          <p:nvPr/>
        </p:nvSpPr>
        <p:spPr>
          <a:xfrm>
            <a:off x="7818120" y="4251960"/>
            <a:ext cx="457200" cy="457200"/>
          </a:xfrm>
          <a:prstGeom prst="ellipse">
            <a:avLst/>
          </a:prstGeom>
          <a:solidFill>
            <a:srgbClr val="B85042"/>
          </a:solidFill>
          <a:ln/>
        </p:spPr>
      </p:sp>
      <p:pic>
        <p:nvPicPr>
          <p:cNvPr id="20" name="Image 2" descr="icons/FaChartLine_white.png"/>
          <p:cNvPicPr>
            <a:picLocks noChangeAspect="1"/>
          </p:cNvPicPr>
          <p:nvPr/>
        </p:nvPicPr>
        <p:blipFill>
          <a:blip r:embed="rId5"/>
          <a:stretch>
            <a:fillRect/>
          </a:stretch>
        </p:blipFill>
        <p:spPr>
          <a:xfrm>
            <a:off x="7909560" y="4343400"/>
            <a:ext cx="274320" cy="274320"/>
          </a:xfrm>
          <a:prstGeom prst="rect">
            <a:avLst/>
          </a:prstGeom>
        </p:spPr>
      </p:pic>
      <p:sp>
        <p:nvSpPr>
          <p:cNvPr id="21" name="Text 16"/>
          <p:cNvSpPr/>
          <p:nvPr/>
        </p:nvSpPr>
        <p:spPr>
          <a:xfrm>
            <a:off x="8412480" y="4206240"/>
            <a:ext cx="301752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PostgreSQL</a:t>
            </a:r>
            <a:endParaRPr lang="en-US" sz="1350" dirty="0"/>
          </a:p>
        </p:txBody>
      </p:sp>
      <p:sp>
        <p:nvSpPr>
          <p:cNvPr id="22" name="Text 17"/>
          <p:cNvSpPr/>
          <p:nvPr/>
        </p:nvSpPr>
        <p:spPr>
          <a:xfrm>
            <a:off x="8412480" y="4526280"/>
            <a:ext cx="3017520" cy="320040"/>
          </a:xfrm>
          <a:prstGeom prst="rect">
            <a:avLst/>
          </a:prstGeom>
          <a:noFill/>
          <a:ln/>
        </p:spPr>
        <p:txBody>
          <a:bodyPr wrap="square" rtlCol="0" anchor="ctr"/>
          <a:lstStyle/>
          <a:p>
            <a:pPr marL="0" indent="0">
              <a:buNone/>
            </a:pPr>
            <a:r>
              <a:rPr lang="en-US" sz="1100" dirty="0">
                <a:solidFill>
                  <a:srgbClr val="E7E8D1"/>
                </a:solidFill>
                <a:latin typeface="Calibri" pitchFamily="34" charset="0"/>
                <a:ea typeface="Calibri" pitchFamily="34" charset="-122"/>
                <a:cs typeface="Calibri" pitchFamily="34" charset="-120"/>
              </a:rPr>
              <a:t>Base de données</a:t>
            </a:r>
            <a:endParaRPr lang="en-US" sz="1100" dirty="0"/>
          </a:p>
        </p:txBody>
      </p:sp>
      <p:sp>
        <p:nvSpPr>
          <p:cNvPr id="23" name="Shape 18"/>
          <p:cNvSpPr/>
          <p:nvPr/>
        </p:nvSpPr>
        <p:spPr>
          <a:xfrm>
            <a:off x="7818120" y="5120640"/>
            <a:ext cx="457200" cy="457200"/>
          </a:xfrm>
          <a:prstGeom prst="ellipse">
            <a:avLst/>
          </a:prstGeom>
          <a:solidFill>
            <a:srgbClr val="B85042"/>
          </a:solidFill>
          <a:ln/>
        </p:spPr>
      </p:sp>
      <p:pic>
        <p:nvPicPr>
          <p:cNvPr id="24" name="Image 3" descr="icons/FaFilePdf_white.png"/>
          <p:cNvPicPr>
            <a:picLocks noChangeAspect="1"/>
          </p:cNvPicPr>
          <p:nvPr/>
        </p:nvPicPr>
        <p:blipFill>
          <a:blip r:embed="rId6"/>
          <a:stretch>
            <a:fillRect/>
          </a:stretch>
        </p:blipFill>
        <p:spPr>
          <a:xfrm>
            <a:off x="7909560" y="5212080"/>
            <a:ext cx="274320" cy="274320"/>
          </a:xfrm>
          <a:prstGeom prst="rect">
            <a:avLst/>
          </a:prstGeom>
        </p:spPr>
      </p:pic>
      <p:sp>
        <p:nvSpPr>
          <p:cNvPr id="25" name="Text 19"/>
          <p:cNvSpPr/>
          <p:nvPr/>
        </p:nvSpPr>
        <p:spPr>
          <a:xfrm>
            <a:off x="8412480" y="5074920"/>
            <a:ext cx="301752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Jasper Reports</a:t>
            </a:r>
            <a:endParaRPr lang="en-US" sz="1350" dirty="0"/>
          </a:p>
        </p:txBody>
      </p:sp>
      <p:sp>
        <p:nvSpPr>
          <p:cNvPr id="26" name="Text 20"/>
          <p:cNvSpPr/>
          <p:nvPr/>
        </p:nvSpPr>
        <p:spPr>
          <a:xfrm>
            <a:off x="8412480" y="5394960"/>
            <a:ext cx="3017520" cy="320040"/>
          </a:xfrm>
          <a:prstGeom prst="rect">
            <a:avLst/>
          </a:prstGeom>
          <a:noFill/>
          <a:ln/>
        </p:spPr>
        <p:txBody>
          <a:bodyPr wrap="square" rtlCol="0" anchor="ctr"/>
          <a:lstStyle/>
          <a:p>
            <a:pPr marL="0" indent="0">
              <a:buNone/>
            </a:pPr>
            <a:r>
              <a:rPr lang="en-US" sz="1100" dirty="0">
                <a:solidFill>
                  <a:srgbClr val="E7E8D1"/>
                </a:solidFill>
                <a:latin typeface="Calibri" pitchFamily="34" charset="0"/>
                <a:ea typeface="Calibri" pitchFamily="34" charset="-122"/>
                <a:cs typeface="Calibri" pitchFamily="34" charset="-120"/>
              </a:rPr>
              <a:t>Rapports &amp; reçus PDF</a:t>
            </a:r>
            <a:endParaRPr lang="en-US" sz="1100" dirty="0"/>
          </a:p>
        </p:txBody>
      </p:sp>
      <p:sp>
        <p:nvSpPr>
          <p:cNvPr id="27" name="Text 21"/>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PRATIQUE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La solution numérique attendue</a:t>
            </a:r>
            <a:endParaRPr lang="en-US" sz="3000" dirty="0"/>
          </a:p>
        </p:txBody>
      </p:sp>
      <p:sp>
        <p:nvSpPr>
          <p:cNvPr id="4" name="Text 2"/>
          <p:cNvSpPr/>
          <p:nvPr/>
        </p:nvSpPr>
        <p:spPr>
          <a:xfrm>
            <a:off x="548640" y="1554480"/>
            <a:ext cx="10515600" cy="640080"/>
          </a:xfrm>
          <a:prstGeom prst="rect">
            <a:avLst/>
          </a:prstGeom>
          <a:noFill/>
          <a:ln/>
        </p:spPr>
        <p:txBody>
          <a:bodyPr wrap="square" rtlCol="0" anchor="ctr"/>
          <a:lstStyle/>
          <a:p>
            <a:pPr marL="0" indent="0">
              <a:buNone/>
            </a:pPr>
            <a:r>
              <a:rPr lang="en-US" sz="1450" i="1" dirty="0">
                <a:solidFill>
                  <a:srgbClr val="6B625D"/>
                </a:solidFill>
                <a:latin typeface="Calibri" pitchFamily="34" charset="0"/>
                <a:ea typeface="Calibri" pitchFamily="34" charset="-122"/>
                <a:cs typeface="Calibri" pitchFamily="34" charset="-120"/>
              </a:rPr>
              <a:t>Une plateforme transparente pour digitaliser les cotisations, automatiser les rappels, gérer les attributions et publier les comptes à tous les membres.</a:t>
            </a:r>
            <a:endParaRPr lang="en-US" sz="1450" dirty="0"/>
          </a:p>
        </p:txBody>
      </p:sp>
      <p:sp>
        <p:nvSpPr>
          <p:cNvPr id="5" name="Shape 3"/>
          <p:cNvSpPr/>
          <p:nvPr/>
        </p:nvSpPr>
        <p:spPr>
          <a:xfrm>
            <a:off x="548640" y="2468880"/>
            <a:ext cx="2606040" cy="3291840"/>
          </a:xfrm>
          <a:prstGeom prst="roundRect">
            <a:avLst>
              <a:gd name="adj" fmla="val 3509"/>
            </a:avLst>
          </a:prstGeom>
          <a:solidFill>
            <a:srgbClr val="DCE8E2"/>
          </a:solidFill>
          <a:ln/>
          <a:effectLst>
            <a:outerShdw blurRad="63500" dist="25400" dir="5400000" algn="bl" rotWithShape="0">
              <a:srgbClr val="000000">
                <a:alpha val="10000"/>
              </a:srgbClr>
            </a:outerShdw>
          </a:effectLst>
        </p:spPr>
      </p:sp>
      <p:sp>
        <p:nvSpPr>
          <p:cNvPr id="6" name="Shape 4"/>
          <p:cNvSpPr/>
          <p:nvPr/>
        </p:nvSpPr>
        <p:spPr>
          <a:xfrm>
            <a:off x="1485900" y="2743200"/>
            <a:ext cx="731520" cy="731520"/>
          </a:xfrm>
          <a:prstGeom prst="ellipse">
            <a:avLst/>
          </a:prstGeom>
          <a:solidFill>
            <a:srgbClr val="6B8F7F"/>
          </a:solidFill>
          <a:ln/>
        </p:spPr>
      </p:sp>
      <p:pic>
        <p:nvPicPr>
          <p:cNvPr id="7" name="Image 0" descr="icons/FaCoins_white.png"/>
          <p:cNvPicPr>
            <a:picLocks noChangeAspect="1"/>
          </p:cNvPicPr>
          <p:nvPr/>
        </p:nvPicPr>
        <p:blipFill>
          <a:blip r:embed="rId3"/>
          <a:stretch>
            <a:fillRect/>
          </a:stretch>
        </p:blipFill>
        <p:spPr>
          <a:xfrm>
            <a:off x="1650492" y="2907792"/>
            <a:ext cx="402336" cy="402336"/>
          </a:xfrm>
          <a:prstGeom prst="rect">
            <a:avLst/>
          </a:prstGeom>
        </p:spPr>
      </p:pic>
      <p:sp>
        <p:nvSpPr>
          <p:cNvPr id="8" name="Text 5"/>
          <p:cNvSpPr/>
          <p:nvPr/>
        </p:nvSpPr>
        <p:spPr>
          <a:xfrm>
            <a:off x="685800" y="3657600"/>
            <a:ext cx="2331720" cy="685800"/>
          </a:xfrm>
          <a:prstGeom prst="rect">
            <a:avLst/>
          </a:prstGeom>
          <a:noFill/>
          <a:ln/>
        </p:spPr>
        <p:txBody>
          <a:bodyPr wrap="square" rtlCol="0" anchor="ctr"/>
          <a:lstStyle/>
          <a:p>
            <a:pPr marL="0" indent="0" algn="ctr">
              <a:buNone/>
            </a:pPr>
            <a:r>
              <a:rPr lang="en-US" sz="1350" b="1" dirty="0">
                <a:solidFill>
                  <a:srgbClr val="3A2E28"/>
                </a:solidFill>
                <a:latin typeface="Calibri" pitchFamily="34" charset="0"/>
                <a:ea typeface="Calibri" pitchFamily="34" charset="-122"/>
                <a:cs typeface="Calibri" pitchFamily="34" charset="-120"/>
              </a:rPr>
              <a:t>Cotisations digitalisées</a:t>
            </a:r>
            <a:endParaRPr lang="en-US" sz="1350" dirty="0"/>
          </a:p>
        </p:txBody>
      </p:sp>
      <p:sp>
        <p:nvSpPr>
          <p:cNvPr id="9" name="Text 6"/>
          <p:cNvSpPr/>
          <p:nvPr/>
        </p:nvSpPr>
        <p:spPr>
          <a:xfrm>
            <a:off x="731520" y="4389120"/>
            <a:ext cx="2240280" cy="1234440"/>
          </a:xfrm>
          <a:prstGeom prst="rect">
            <a:avLst/>
          </a:prstGeom>
          <a:noFill/>
          <a:ln/>
        </p:spPr>
        <p:txBody>
          <a:bodyPr wrap="square" rtlCol="0" anchor="ctr"/>
          <a:lstStyle/>
          <a:p>
            <a:pPr marL="0" indent="0" algn="ctr">
              <a:buNone/>
            </a:pPr>
            <a:r>
              <a:rPr lang="en-US" sz="1100" dirty="0">
                <a:solidFill>
                  <a:srgbClr val="6B625D"/>
                </a:solidFill>
                <a:latin typeface="Calibri" pitchFamily="34" charset="0"/>
                <a:ea typeface="Calibri" pitchFamily="34" charset="-122"/>
                <a:cs typeface="Calibri" pitchFamily="34" charset="-120"/>
              </a:rPr>
              <a:t>Suivi en temps réel, paiement Mobile Money</a:t>
            </a:r>
            <a:endParaRPr lang="en-US" sz="1100" dirty="0"/>
          </a:p>
        </p:txBody>
      </p:sp>
      <p:sp>
        <p:nvSpPr>
          <p:cNvPr id="10" name="Shape 7"/>
          <p:cNvSpPr/>
          <p:nvPr/>
        </p:nvSpPr>
        <p:spPr>
          <a:xfrm>
            <a:off x="3383280" y="2468880"/>
            <a:ext cx="2606040" cy="3291840"/>
          </a:xfrm>
          <a:prstGeom prst="roundRect">
            <a:avLst>
              <a:gd name="adj" fmla="val 3509"/>
            </a:avLst>
          </a:prstGeom>
          <a:solidFill>
            <a:srgbClr val="E7E8D1"/>
          </a:solidFill>
          <a:ln/>
          <a:effectLst>
            <a:outerShdw blurRad="63500" dist="25400" dir="5400000" algn="bl" rotWithShape="0">
              <a:srgbClr val="000000">
                <a:alpha val="10000"/>
              </a:srgbClr>
            </a:outerShdw>
          </a:effectLst>
        </p:spPr>
      </p:sp>
      <p:sp>
        <p:nvSpPr>
          <p:cNvPr id="11" name="Shape 8"/>
          <p:cNvSpPr/>
          <p:nvPr/>
        </p:nvSpPr>
        <p:spPr>
          <a:xfrm>
            <a:off x="4320540" y="2743200"/>
            <a:ext cx="731520" cy="731520"/>
          </a:xfrm>
          <a:prstGeom prst="ellipse">
            <a:avLst/>
          </a:prstGeom>
          <a:solidFill>
            <a:srgbClr val="B85042"/>
          </a:solidFill>
          <a:ln/>
        </p:spPr>
      </p:sp>
      <p:pic>
        <p:nvPicPr>
          <p:cNvPr id="12" name="Image 1" descr="icons/FaBell_white.png"/>
          <p:cNvPicPr>
            <a:picLocks noChangeAspect="1"/>
          </p:cNvPicPr>
          <p:nvPr/>
        </p:nvPicPr>
        <p:blipFill>
          <a:blip r:embed="rId4"/>
          <a:stretch>
            <a:fillRect/>
          </a:stretch>
        </p:blipFill>
        <p:spPr>
          <a:xfrm>
            <a:off x="4485132" y="2907792"/>
            <a:ext cx="402336" cy="402336"/>
          </a:xfrm>
          <a:prstGeom prst="rect">
            <a:avLst/>
          </a:prstGeom>
        </p:spPr>
      </p:pic>
      <p:sp>
        <p:nvSpPr>
          <p:cNvPr id="13" name="Text 9"/>
          <p:cNvSpPr/>
          <p:nvPr/>
        </p:nvSpPr>
        <p:spPr>
          <a:xfrm>
            <a:off x="3520440" y="3657600"/>
            <a:ext cx="2331720" cy="685800"/>
          </a:xfrm>
          <a:prstGeom prst="rect">
            <a:avLst/>
          </a:prstGeom>
          <a:noFill/>
          <a:ln/>
        </p:spPr>
        <p:txBody>
          <a:bodyPr wrap="square" rtlCol="0" anchor="ctr"/>
          <a:lstStyle/>
          <a:p>
            <a:pPr marL="0" indent="0" algn="ctr">
              <a:buNone/>
            </a:pPr>
            <a:r>
              <a:rPr lang="en-US" sz="1350" b="1" dirty="0">
                <a:solidFill>
                  <a:srgbClr val="3A2E28"/>
                </a:solidFill>
                <a:latin typeface="Calibri" pitchFamily="34" charset="0"/>
                <a:ea typeface="Calibri" pitchFamily="34" charset="-122"/>
                <a:cs typeface="Calibri" pitchFamily="34" charset="-120"/>
              </a:rPr>
              <a:t>Rappels automatiques</a:t>
            </a:r>
            <a:endParaRPr lang="en-US" sz="1350" dirty="0"/>
          </a:p>
        </p:txBody>
      </p:sp>
      <p:sp>
        <p:nvSpPr>
          <p:cNvPr id="14" name="Text 10"/>
          <p:cNvSpPr/>
          <p:nvPr/>
        </p:nvSpPr>
        <p:spPr>
          <a:xfrm>
            <a:off x="3566160" y="4389120"/>
            <a:ext cx="2240280" cy="1234440"/>
          </a:xfrm>
          <a:prstGeom prst="rect">
            <a:avLst/>
          </a:prstGeom>
          <a:noFill/>
          <a:ln/>
        </p:spPr>
        <p:txBody>
          <a:bodyPr wrap="square" rtlCol="0" anchor="ctr"/>
          <a:lstStyle/>
          <a:p>
            <a:pPr marL="0" indent="0" algn="ctr">
              <a:buNone/>
            </a:pPr>
            <a:r>
              <a:rPr lang="en-US" sz="1100" dirty="0">
                <a:solidFill>
                  <a:srgbClr val="6B625D"/>
                </a:solidFill>
                <a:latin typeface="Calibri" pitchFamily="34" charset="0"/>
                <a:ea typeface="Calibri" pitchFamily="34" charset="-122"/>
                <a:cs typeface="Calibri" pitchFamily="34" charset="-120"/>
              </a:rPr>
              <a:t>Notifications avant chaque échéance</a:t>
            </a:r>
            <a:endParaRPr lang="en-US" sz="1100" dirty="0"/>
          </a:p>
        </p:txBody>
      </p:sp>
      <p:sp>
        <p:nvSpPr>
          <p:cNvPr id="15" name="Shape 11"/>
          <p:cNvSpPr/>
          <p:nvPr/>
        </p:nvSpPr>
        <p:spPr>
          <a:xfrm>
            <a:off x="6217920" y="2468880"/>
            <a:ext cx="2606040" cy="3291840"/>
          </a:xfrm>
          <a:prstGeom prst="roundRect">
            <a:avLst>
              <a:gd name="adj" fmla="val 3509"/>
            </a:avLst>
          </a:prstGeom>
          <a:solidFill>
            <a:srgbClr val="DCE8E2"/>
          </a:solidFill>
          <a:ln/>
          <a:effectLst>
            <a:outerShdw blurRad="63500" dist="25400" dir="5400000" algn="bl" rotWithShape="0">
              <a:srgbClr val="000000">
                <a:alpha val="10000"/>
              </a:srgbClr>
            </a:outerShdw>
          </a:effectLst>
        </p:spPr>
      </p:sp>
      <p:sp>
        <p:nvSpPr>
          <p:cNvPr id="16" name="Shape 12"/>
          <p:cNvSpPr/>
          <p:nvPr/>
        </p:nvSpPr>
        <p:spPr>
          <a:xfrm>
            <a:off x="7155180" y="2743200"/>
            <a:ext cx="731520" cy="731520"/>
          </a:xfrm>
          <a:prstGeom prst="ellipse">
            <a:avLst/>
          </a:prstGeom>
          <a:solidFill>
            <a:srgbClr val="6B8F7F"/>
          </a:solidFill>
          <a:ln/>
        </p:spPr>
      </p:sp>
      <p:pic>
        <p:nvPicPr>
          <p:cNvPr id="17" name="Image 2" descr="icons/FaMapMarkedAlt_white.png"/>
          <p:cNvPicPr>
            <a:picLocks noChangeAspect="1"/>
          </p:cNvPicPr>
          <p:nvPr/>
        </p:nvPicPr>
        <p:blipFill>
          <a:blip r:embed="rId5"/>
          <a:stretch>
            <a:fillRect/>
          </a:stretch>
        </p:blipFill>
        <p:spPr>
          <a:xfrm>
            <a:off x="7319772" y="2907792"/>
            <a:ext cx="402336" cy="402336"/>
          </a:xfrm>
          <a:prstGeom prst="rect">
            <a:avLst/>
          </a:prstGeom>
        </p:spPr>
      </p:pic>
      <p:sp>
        <p:nvSpPr>
          <p:cNvPr id="18" name="Text 13"/>
          <p:cNvSpPr/>
          <p:nvPr/>
        </p:nvSpPr>
        <p:spPr>
          <a:xfrm>
            <a:off x="6355080" y="3657600"/>
            <a:ext cx="2331720" cy="685800"/>
          </a:xfrm>
          <a:prstGeom prst="rect">
            <a:avLst/>
          </a:prstGeom>
          <a:noFill/>
          <a:ln/>
        </p:spPr>
        <p:txBody>
          <a:bodyPr wrap="square" rtlCol="0" anchor="ctr"/>
          <a:lstStyle/>
          <a:p>
            <a:pPr marL="0" indent="0" algn="ctr">
              <a:buNone/>
            </a:pPr>
            <a:r>
              <a:rPr lang="en-US" sz="1350" b="1" dirty="0">
                <a:solidFill>
                  <a:srgbClr val="3A2E28"/>
                </a:solidFill>
                <a:latin typeface="Calibri" pitchFamily="34" charset="0"/>
                <a:ea typeface="Calibri" pitchFamily="34" charset="-122"/>
                <a:cs typeface="Calibri" pitchFamily="34" charset="-120"/>
              </a:rPr>
              <a:t>Attribution des lots</a:t>
            </a:r>
            <a:endParaRPr lang="en-US" sz="1350" dirty="0"/>
          </a:p>
        </p:txBody>
      </p:sp>
      <p:sp>
        <p:nvSpPr>
          <p:cNvPr id="19" name="Text 14"/>
          <p:cNvSpPr/>
          <p:nvPr/>
        </p:nvSpPr>
        <p:spPr>
          <a:xfrm>
            <a:off x="6400800" y="4389120"/>
            <a:ext cx="2240280" cy="1234440"/>
          </a:xfrm>
          <a:prstGeom prst="rect">
            <a:avLst/>
          </a:prstGeom>
          <a:noFill/>
          <a:ln/>
        </p:spPr>
        <p:txBody>
          <a:bodyPr wrap="square" rtlCol="0" anchor="ctr"/>
          <a:lstStyle/>
          <a:p>
            <a:pPr marL="0" indent="0" algn="ctr">
              <a:buNone/>
            </a:pPr>
            <a:r>
              <a:rPr lang="en-US" sz="1100" dirty="0">
                <a:solidFill>
                  <a:srgbClr val="6B625D"/>
                </a:solidFill>
                <a:latin typeface="Calibri" pitchFamily="34" charset="0"/>
                <a:ea typeface="Calibri" pitchFamily="34" charset="-122"/>
                <a:cs typeface="Calibri" pitchFamily="34" charset="-120"/>
              </a:rPr>
              <a:t>Workflow transparent et auditable</a:t>
            </a:r>
            <a:endParaRPr lang="en-US" sz="1100" dirty="0"/>
          </a:p>
        </p:txBody>
      </p:sp>
      <p:sp>
        <p:nvSpPr>
          <p:cNvPr id="20" name="Shape 15"/>
          <p:cNvSpPr/>
          <p:nvPr/>
        </p:nvSpPr>
        <p:spPr>
          <a:xfrm>
            <a:off x="9052560" y="2468880"/>
            <a:ext cx="2606040" cy="3291840"/>
          </a:xfrm>
          <a:prstGeom prst="roundRect">
            <a:avLst>
              <a:gd name="adj" fmla="val 3509"/>
            </a:avLst>
          </a:prstGeom>
          <a:solidFill>
            <a:srgbClr val="E7E8D1"/>
          </a:solidFill>
          <a:ln/>
          <a:effectLst>
            <a:outerShdw blurRad="63500" dist="25400" dir="5400000" algn="bl" rotWithShape="0">
              <a:srgbClr val="000000">
                <a:alpha val="10000"/>
              </a:srgbClr>
            </a:outerShdw>
          </a:effectLst>
        </p:spPr>
      </p:sp>
      <p:sp>
        <p:nvSpPr>
          <p:cNvPr id="21" name="Shape 16"/>
          <p:cNvSpPr/>
          <p:nvPr/>
        </p:nvSpPr>
        <p:spPr>
          <a:xfrm>
            <a:off x="9989820" y="2743200"/>
            <a:ext cx="731520" cy="731520"/>
          </a:xfrm>
          <a:prstGeom prst="ellipse">
            <a:avLst/>
          </a:prstGeom>
          <a:solidFill>
            <a:srgbClr val="B85042"/>
          </a:solidFill>
          <a:ln/>
        </p:spPr>
      </p:sp>
      <p:pic>
        <p:nvPicPr>
          <p:cNvPr id="22" name="Image 3" descr="icons/FaChartPie_white.png"/>
          <p:cNvPicPr>
            <a:picLocks noChangeAspect="1"/>
          </p:cNvPicPr>
          <p:nvPr/>
        </p:nvPicPr>
        <p:blipFill>
          <a:blip r:embed="rId6"/>
          <a:stretch>
            <a:fillRect/>
          </a:stretch>
        </p:blipFill>
        <p:spPr>
          <a:xfrm>
            <a:off x="10154412" y="2907792"/>
            <a:ext cx="402336" cy="402336"/>
          </a:xfrm>
          <a:prstGeom prst="rect">
            <a:avLst/>
          </a:prstGeom>
        </p:spPr>
      </p:pic>
      <p:sp>
        <p:nvSpPr>
          <p:cNvPr id="23" name="Text 17"/>
          <p:cNvSpPr/>
          <p:nvPr/>
        </p:nvSpPr>
        <p:spPr>
          <a:xfrm>
            <a:off x="9189720" y="3657600"/>
            <a:ext cx="2331720" cy="685800"/>
          </a:xfrm>
          <a:prstGeom prst="rect">
            <a:avLst/>
          </a:prstGeom>
          <a:noFill/>
          <a:ln/>
        </p:spPr>
        <p:txBody>
          <a:bodyPr wrap="square" rtlCol="0" anchor="ctr"/>
          <a:lstStyle/>
          <a:p>
            <a:pPr marL="0" indent="0" algn="ctr">
              <a:buNone/>
            </a:pPr>
            <a:r>
              <a:rPr lang="en-US" sz="1350" b="1" dirty="0">
                <a:solidFill>
                  <a:srgbClr val="3A2E28"/>
                </a:solidFill>
                <a:latin typeface="Calibri" pitchFamily="34" charset="0"/>
                <a:ea typeface="Calibri" pitchFamily="34" charset="-122"/>
                <a:cs typeface="Calibri" pitchFamily="34" charset="-120"/>
              </a:rPr>
              <a:t>Comptes publiés</a:t>
            </a:r>
            <a:endParaRPr lang="en-US" sz="1350" dirty="0"/>
          </a:p>
        </p:txBody>
      </p:sp>
      <p:sp>
        <p:nvSpPr>
          <p:cNvPr id="24" name="Text 18"/>
          <p:cNvSpPr/>
          <p:nvPr/>
        </p:nvSpPr>
        <p:spPr>
          <a:xfrm>
            <a:off x="9235440" y="4389120"/>
            <a:ext cx="2240280" cy="1234440"/>
          </a:xfrm>
          <a:prstGeom prst="rect">
            <a:avLst/>
          </a:prstGeom>
          <a:noFill/>
          <a:ln/>
        </p:spPr>
        <p:txBody>
          <a:bodyPr wrap="square" rtlCol="0" anchor="ctr"/>
          <a:lstStyle/>
          <a:p>
            <a:pPr marL="0" indent="0" algn="ctr">
              <a:buNone/>
            </a:pPr>
            <a:r>
              <a:rPr lang="en-US" sz="1100" dirty="0">
                <a:solidFill>
                  <a:srgbClr val="6B625D"/>
                </a:solidFill>
                <a:latin typeface="Calibri" pitchFamily="34" charset="0"/>
                <a:ea typeface="Calibri" pitchFamily="34" charset="-122"/>
                <a:cs typeface="Calibri" pitchFamily="34" charset="-120"/>
              </a:rPr>
              <a:t>Transparence financière pour tous les membres</a:t>
            </a:r>
            <a:endParaRPr lang="en-US" sz="1100" dirty="0"/>
          </a:p>
        </p:txBody>
      </p:sp>
      <p:sp>
        <p:nvSpPr>
          <p:cNvPr id="25" name="Text 19"/>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PRATIQUE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Objectifs pédagogiques</a:t>
            </a:r>
            <a:endParaRPr lang="en-US" sz="3000" dirty="0"/>
          </a:p>
        </p:txBody>
      </p:sp>
      <p:sp>
        <p:nvSpPr>
          <p:cNvPr id="4" name="Shape 2"/>
          <p:cNvSpPr/>
          <p:nvPr/>
        </p:nvSpPr>
        <p:spPr>
          <a:xfrm>
            <a:off x="548640" y="1874520"/>
            <a:ext cx="3520440" cy="4114800"/>
          </a:xfrm>
          <a:prstGeom prst="roundRect">
            <a:avLst>
              <a:gd name="adj" fmla="val 2597"/>
            </a:avLst>
          </a:prstGeom>
          <a:solidFill>
            <a:srgbClr val="2B211D"/>
          </a:solidFill>
          <a:ln/>
        </p:spPr>
      </p:sp>
      <p:sp>
        <p:nvSpPr>
          <p:cNvPr id="5" name="Shape 3"/>
          <p:cNvSpPr/>
          <p:nvPr/>
        </p:nvSpPr>
        <p:spPr>
          <a:xfrm>
            <a:off x="822960" y="2148840"/>
            <a:ext cx="640080" cy="640080"/>
          </a:xfrm>
          <a:prstGeom prst="ellipse">
            <a:avLst/>
          </a:prstGeom>
          <a:solidFill>
            <a:srgbClr val="B85042"/>
          </a:solidFill>
          <a:ln/>
        </p:spPr>
      </p:sp>
      <p:pic>
        <p:nvPicPr>
          <p:cNvPr id="6" name="Image 0" descr="icons/FaUsers_white.png"/>
          <p:cNvPicPr>
            <a:picLocks noChangeAspect="1"/>
          </p:cNvPicPr>
          <p:nvPr/>
        </p:nvPicPr>
        <p:blipFill>
          <a:blip r:embed="rId3"/>
          <a:stretch>
            <a:fillRect/>
          </a:stretch>
        </p:blipFill>
        <p:spPr>
          <a:xfrm>
            <a:off x="960120" y="2286000"/>
            <a:ext cx="365760" cy="365760"/>
          </a:xfrm>
          <a:prstGeom prst="rect">
            <a:avLst/>
          </a:prstGeom>
        </p:spPr>
      </p:pic>
      <p:sp>
        <p:nvSpPr>
          <p:cNvPr id="7" name="Text 4"/>
          <p:cNvSpPr/>
          <p:nvPr/>
        </p:nvSpPr>
        <p:spPr>
          <a:xfrm>
            <a:off x="822960" y="2926080"/>
            <a:ext cx="2971800" cy="320040"/>
          </a:xfrm>
          <a:prstGeom prst="rect">
            <a:avLst/>
          </a:prstGeom>
          <a:noFill/>
          <a:ln/>
        </p:spPr>
        <p:txBody>
          <a:bodyPr wrap="square" rtlCol="0" anchor="ctr"/>
          <a:lstStyle/>
          <a:p>
            <a:pPr marL="0" indent="0">
              <a:buNone/>
            </a:pPr>
            <a:r>
              <a:rPr lang="en-US" sz="1200" b="1" kern="0" spc="100" dirty="0">
                <a:solidFill>
                  <a:srgbClr val="B85042"/>
                </a:solidFill>
                <a:latin typeface="Calibri" pitchFamily="34" charset="0"/>
                <a:ea typeface="Calibri" pitchFamily="34" charset="-122"/>
                <a:cs typeface="Calibri" pitchFamily="34" charset="-120"/>
              </a:rPr>
              <a:t>Compétence 1</a:t>
            </a:r>
            <a:endParaRPr lang="en-US" sz="1200" dirty="0"/>
          </a:p>
        </p:txBody>
      </p:sp>
      <p:sp>
        <p:nvSpPr>
          <p:cNvPr id="8" name="Text 5"/>
          <p:cNvSpPr/>
          <p:nvPr/>
        </p:nvSpPr>
        <p:spPr>
          <a:xfrm>
            <a:off x="822960" y="3246120"/>
            <a:ext cx="2971800" cy="7772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Gestion des membres &amp; cotisations</a:t>
            </a:r>
            <a:endParaRPr lang="en-US" sz="1600" dirty="0"/>
          </a:p>
        </p:txBody>
      </p:sp>
      <p:sp>
        <p:nvSpPr>
          <p:cNvPr id="9" name="Text 6"/>
          <p:cNvSpPr/>
          <p:nvPr/>
        </p:nvSpPr>
        <p:spPr>
          <a:xfrm>
            <a:off x="822960" y="4114800"/>
            <a:ext cx="2971800" cy="1828800"/>
          </a:xfrm>
          <a:prstGeom prst="rect">
            <a:avLst/>
          </a:prstGeom>
          <a:noFill/>
          <a:ln/>
        </p:spPr>
        <p:txBody>
          <a:bodyPr wrap="square" rtlCol="0" anchor="ctr"/>
          <a:lstStyle/>
          <a:p>
            <a:pPr marL="0" indent="0">
              <a:buNone/>
            </a:pPr>
            <a:r>
              <a:rPr lang="en-US" sz="1200" dirty="0">
                <a:solidFill>
                  <a:srgbClr val="E7E8D1"/>
                </a:solidFill>
                <a:latin typeface="Calibri" pitchFamily="34" charset="0"/>
                <a:ea typeface="Calibri" pitchFamily="34" charset="-122"/>
                <a:cs typeface="Calibri" pitchFamily="34" charset="-120"/>
              </a:rPr>
              <a:t>Implémenter le suivi des membres avec calcul automatique des intérêts de retard et des rappels</a:t>
            </a:r>
            <a:endParaRPr lang="en-US" sz="1200" dirty="0"/>
          </a:p>
        </p:txBody>
      </p:sp>
      <p:sp>
        <p:nvSpPr>
          <p:cNvPr id="10" name="Shape 7"/>
          <p:cNvSpPr/>
          <p:nvPr/>
        </p:nvSpPr>
        <p:spPr>
          <a:xfrm>
            <a:off x="4343400" y="1874520"/>
            <a:ext cx="3520440" cy="4114800"/>
          </a:xfrm>
          <a:prstGeom prst="roundRect">
            <a:avLst>
              <a:gd name="adj" fmla="val 2597"/>
            </a:avLst>
          </a:prstGeom>
          <a:solidFill>
            <a:srgbClr val="2B211D"/>
          </a:solidFill>
          <a:ln/>
        </p:spPr>
      </p:sp>
      <p:sp>
        <p:nvSpPr>
          <p:cNvPr id="11" name="Shape 8"/>
          <p:cNvSpPr/>
          <p:nvPr/>
        </p:nvSpPr>
        <p:spPr>
          <a:xfrm>
            <a:off x="4617720" y="2148840"/>
            <a:ext cx="640080" cy="640080"/>
          </a:xfrm>
          <a:prstGeom prst="ellipse">
            <a:avLst/>
          </a:prstGeom>
          <a:solidFill>
            <a:srgbClr val="B85042"/>
          </a:solidFill>
          <a:ln/>
        </p:spPr>
      </p:sp>
      <p:pic>
        <p:nvPicPr>
          <p:cNvPr id="12" name="Image 1" descr="icons/FaHome_white.png"/>
          <p:cNvPicPr>
            <a:picLocks noChangeAspect="1"/>
          </p:cNvPicPr>
          <p:nvPr/>
        </p:nvPicPr>
        <p:blipFill>
          <a:blip r:embed="rId4"/>
          <a:stretch>
            <a:fillRect/>
          </a:stretch>
        </p:blipFill>
        <p:spPr>
          <a:xfrm>
            <a:off x="4754880" y="2286000"/>
            <a:ext cx="365760" cy="365760"/>
          </a:xfrm>
          <a:prstGeom prst="rect">
            <a:avLst/>
          </a:prstGeom>
        </p:spPr>
      </p:pic>
      <p:sp>
        <p:nvSpPr>
          <p:cNvPr id="13" name="Text 9"/>
          <p:cNvSpPr/>
          <p:nvPr/>
        </p:nvSpPr>
        <p:spPr>
          <a:xfrm>
            <a:off x="4617720" y="2926080"/>
            <a:ext cx="2971800" cy="320040"/>
          </a:xfrm>
          <a:prstGeom prst="rect">
            <a:avLst/>
          </a:prstGeom>
          <a:noFill/>
          <a:ln/>
        </p:spPr>
        <p:txBody>
          <a:bodyPr wrap="square" rtlCol="0" anchor="ctr"/>
          <a:lstStyle/>
          <a:p>
            <a:pPr marL="0" indent="0">
              <a:buNone/>
            </a:pPr>
            <a:r>
              <a:rPr lang="en-US" sz="1200" b="1" kern="0" spc="100" dirty="0">
                <a:solidFill>
                  <a:srgbClr val="B85042"/>
                </a:solidFill>
                <a:latin typeface="Calibri" pitchFamily="34" charset="0"/>
                <a:ea typeface="Calibri" pitchFamily="34" charset="-122"/>
                <a:cs typeface="Calibri" pitchFamily="34" charset="-120"/>
              </a:rPr>
              <a:t>Compétence 2</a:t>
            </a:r>
            <a:endParaRPr lang="en-US" sz="1200" dirty="0"/>
          </a:p>
        </p:txBody>
      </p:sp>
      <p:sp>
        <p:nvSpPr>
          <p:cNvPr id="14" name="Text 10"/>
          <p:cNvSpPr/>
          <p:nvPr/>
        </p:nvSpPr>
        <p:spPr>
          <a:xfrm>
            <a:off x="4617720" y="3246120"/>
            <a:ext cx="2971800" cy="7772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Gestion des lots</a:t>
            </a:r>
            <a:endParaRPr lang="en-US" sz="1600" dirty="0"/>
          </a:p>
        </p:txBody>
      </p:sp>
      <p:sp>
        <p:nvSpPr>
          <p:cNvPr id="15" name="Text 11"/>
          <p:cNvSpPr/>
          <p:nvPr/>
        </p:nvSpPr>
        <p:spPr>
          <a:xfrm>
            <a:off x="4617720" y="4114800"/>
            <a:ext cx="2971800" cy="1828800"/>
          </a:xfrm>
          <a:prstGeom prst="rect">
            <a:avLst/>
          </a:prstGeom>
          <a:noFill/>
          <a:ln/>
        </p:spPr>
        <p:txBody>
          <a:bodyPr wrap="square" rtlCol="0" anchor="ctr"/>
          <a:lstStyle/>
          <a:p>
            <a:pPr marL="0" indent="0">
              <a:buNone/>
            </a:pPr>
            <a:r>
              <a:rPr lang="en-US" sz="1200" dirty="0">
                <a:solidFill>
                  <a:srgbClr val="E7E8D1"/>
                </a:solidFill>
                <a:latin typeface="Calibri" pitchFamily="34" charset="0"/>
                <a:ea typeface="Calibri" pitchFamily="34" charset="-122"/>
                <a:cs typeface="Calibri" pitchFamily="34" charset="-120"/>
              </a:rPr>
              <a:t>Concevoir un module d'attribution des terrains/logements, avec workflow transparent et auditable</a:t>
            </a:r>
            <a:endParaRPr lang="en-US" sz="1200" dirty="0"/>
          </a:p>
        </p:txBody>
      </p:sp>
      <p:sp>
        <p:nvSpPr>
          <p:cNvPr id="16" name="Shape 12"/>
          <p:cNvSpPr/>
          <p:nvPr/>
        </p:nvSpPr>
        <p:spPr>
          <a:xfrm>
            <a:off x="8138160" y="1874520"/>
            <a:ext cx="3520440" cy="4114800"/>
          </a:xfrm>
          <a:prstGeom prst="roundRect">
            <a:avLst>
              <a:gd name="adj" fmla="val 2597"/>
            </a:avLst>
          </a:prstGeom>
          <a:solidFill>
            <a:srgbClr val="2B211D"/>
          </a:solidFill>
          <a:ln/>
        </p:spPr>
      </p:sp>
      <p:sp>
        <p:nvSpPr>
          <p:cNvPr id="17" name="Shape 13"/>
          <p:cNvSpPr/>
          <p:nvPr/>
        </p:nvSpPr>
        <p:spPr>
          <a:xfrm>
            <a:off x="8412480" y="2148840"/>
            <a:ext cx="640080" cy="640080"/>
          </a:xfrm>
          <a:prstGeom prst="ellipse">
            <a:avLst/>
          </a:prstGeom>
          <a:solidFill>
            <a:srgbClr val="B85042"/>
          </a:solidFill>
          <a:ln/>
        </p:spPr>
      </p:sp>
      <p:pic>
        <p:nvPicPr>
          <p:cNvPr id="18" name="Image 2" descr="icons/FaClipboardList_white.png"/>
          <p:cNvPicPr>
            <a:picLocks noChangeAspect="1"/>
          </p:cNvPicPr>
          <p:nvPr/>
        </p:nvPicPr>
        <p:blipFill>
          <a:blip r:embed="rId5"/>
          <a:stretch>
            <a:fillRect/>
          </a:stretch>
        </p:blipFill>
        <p:spPr>
          <a:xfrm>
            <a:off x="8549640" y="2286000"/>
            <a:ext cx="365760" cy="365760"/>
          </a:xfrm>
          <a:prstGeom prst="rect">
            <a:avLst/>
          </a:prstGeom>
        </p:spPr>
      </p:pic>
      <p:sp>
        <p:nvSpPr>
          <p:cNvPr id="19" name="Text 14"/>
          <p:cNvSpPr/>
          <p:nvPr/>
        </p:nvSpPr>
        <p:spPr>
          <a:xfrm>
            <a:off x="8412480" y="2926080"/>
            <a:ext cx="2971800" cy="320040"/>
          </a:xfrm>
          <a:prstGeom prst="rect">
            <a:avLst/>
          </a:prstGeom>
          <a:noFill/>
          <a:ln/>
        </p:spPr>
        <p:txBody>
          <a:bodyPr wrap="square" rtlCol="0" anchor="ctr"/>
          <a:lstStyle/>
          <a:p>
            <a:pPr marL="0" indent="0">
              <a:buNone/>
            </a:pPr>
            <a:r>
              <a:rPr lang="en-US" sz="1200" b="1" kern="0" spc="100" dirty="0">
                <a:solidFill>
                  <a:srgbClr val="B85042"/>
                </a:solidFill>
                <a:latin typeface="Calibri" pitchFamily="34" charset="0"/>
                <a:ea typeface="Calibri" pitchFamily="34" charset="-122"/>
                <a:cs typeface="Calibri" pitchFamily="34" charset="-120"/>
              </a:rPr>
              <a:t>Compétence 3</a:t>
            </a:r>
            <a:endParaRPr lang="en-US" sz="1200" dirty="0"/>
          </a:p>
        </p:txBody>
      </p:sp>
      <p:sp>
        <p:nvSpPr>
          <p:cNvPr id="20" name="Text 15"/>
          <p:cNvSpPr/>
          <p:nvPr/>
        </p:nvSpPr>
        <p:spPr>
          <a:xfrm>
            <a:off x="8412480" y="3246120"/>
            <a:ext cx="2971800" cy="7772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Espace membre personnalisé</a:t>
            </a:r>
            <a:endParaRPr lang="en-US" sz="1600" dirty="0"/>
          </a:p>
        </p:txBody>
      </p:sp>
      <p:sp>
        <p:nvSpPr>
          <p:cNvPr id="21" name="Text 16"/>
          <p:cNvSpPr/>
          <p:nvPr/>
        </p:nvSpPr>
        <p:spPr>
          <a:xfrm>
            <a:off x="8412480" y="4114800"/>
            <a:ext cx="2971800" cy="1828800"/>
          </a:xfrm>
          <a:prstGeom prst="rect">
            <a:avLst/>
          </a:prstGeom>
          <a:noFill/>
          <a:ln/>
        </p:spPr>
        <p:txBody>
          <a:bodyPr wrap="square" rtlCol="0" anchor="ctr"/>
          <a:lstStyle/>
          <a:p>
            <a:pPr marL="0" indent="0">
              <a:buNone/>
            </a:pPr>
            <a:r>
              <a:rPr lang="en-US" sz="1200" dirty="0">
                <a:solidFill>
                  <a:srgbClr val="E7E8D1"/>
                </a:solidFill>
                <a:latin typeface="Calibri" pitchFamily="34" charset="0"/>
                <a:ea typeface="Calibri" pitchFamily="34" charset="-122"/>
                <a:cs typeface="Calibri" pitchFamily="34" charset="-120"/>
              </a:rPr>
              <a:t>Développer un espace affichant en temps réel cotisations, calendrier des paiements et documents</a:t>
            </a:r>
            <a:endParaRPr lang="en-US" sz="1200" dirty="0"/>
          </a:p>
        </p:txBody>
      </p:sp>
      <p:sp>
        <p:nvSpPr>
          <p:cNvPr id="22" name="Text 17"/>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PRATIQUE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Cahier des charges fonctionnel (1/2)</a:t>
            </a:r>
            <a:endParaRPr lang="en-US" sz="3000" dirty="0"/>
          </a:p>
        </p:txBody>
      </p:sp>
      <p:sp>
        <p:nvSpPr>
          <p:cNvPr id="4" name="Shape 2"/>
          <p:cNvSpPr/>
          <p:nvPr/>
        </p:nvSpPr>
        <p:spPr>
          <a:xfrm>
            <a:off x="548640" y="1783080"/>
            <a:ext cx="11064240" cy="987552"/>
          </a:xfrm>
          <a:prstGeom prst="roundRect">
            <a:avLst>
              <a:gd name="adj" fmla="val 7407"/>
            </a:avLst>
          </a:prstGeom>
          <a:solidFill>
            <a:srgbClr val="E7E8D1"/>
          </a:solidFill>
          <a:ln/>
        </p:spPr>
      </p:sp>
      <p:sp>
        <p:nvSpPr>
          <p:cNvPr id="5" name="Shape 3"/>
          <p:cNvSpPr/>
          <p:nvPr/>
        </p:nvSpPr>
        <p:spPr>
          <a:xfrm>
            <a:off x="777240" y="1965960"/>
            <a:ext cx="621792" cy="621792"/>
          </a:xfrm>
          <a:prstGeom prst="ellipse">
            <a:avLst/>
          </a:prstGeom>
          <a:solidFill>
            <a:srgbClr val="B85042"/>
          </a:solidFill>
          <a:ln/>
        </p:spPr>
      </p:sp>
      <p:pic>
        <p:nvPicPr>
          <p:cNvPr id="6" name="Image 0" descr="icons/FaUsers_white.png"/>
          <p:cNvPicPr>
            <a:picLocks noChangeAspect="1"/>
          </p:cNvPicPr>
          <p:nvPr/>
        </p:nvPicPr>
        <p:blipFill>
          <a:blip r:embed="rId3"/>
          <a:stretch>
            <a:fillRect/>
          </a:stretch>
        </p:blipFill>
        <p:spPr>
          <a:xfrm>
            <a:off x="914400" y="2103120"/>
            <a:ext cx="347472" cy="347472"/>
          </a:xfrm>
          <a:prstGeom prst="rect">
            <a:avLst/>
          </a:prstGeom>
        </p:spPr>
      </p:pic>
      <p:sp>
        <p:nvSpPr>
          <p:cNvPr id="7" name="Text 4"/>
          <p:cNvSpPr/>
          <p:nvPr/>
        </p:nvSpPr>
        <p:spPr>
          <a:xfrm>
            <a:off x="1645920" y="1874520"/>
            <a:ext cx="2926080" cy="8229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Gestion des membres</a:t>
            </a:r>
            <a:endParaRPr lang="en-US" sz="1400" dirty="0"/>
          </a:p>
        </p:txBody>
      </p:sp>
      <p:sp>
        <p:nvSpPr>
          <p:cNvPr id="8" name="Text 5"/>
          <p:cNvSpPr/>
          <p:nvPr/>
        </p:nvSpPr>
        <p:spPr>
          <a:xfrm>
            <a:off x="4709160" y="1874520"/>
            <a:ext cx="6720840" cy="822960"/>
          </a:xfrm>
          <a:prstGeom prst="rect">
            <a:avLst/>
          </a:prstGeom>
          <a:noFill/>
          <a:ln/>
        </p:spPr>
        <p:txBody>
          <a:bodyPr wrap="square" rtlCol="0" anchor="ctr"/>
          <a:lstStyle/>
          <a:p>
            <a:pPr marL="0" indent="0">
              <a:buNone/>
            </a:pPr>
            <a:r>
              <a:rPr lang="en-US" sz="1200" dirty="0">
                <a:solidFill>
                  <a:srgbClr val="3A2E28"/>
                </a:solidFill>
                <a:latin typeface="Calibri" pitchFamily="34" charset="0"/>
                <a:ea typeface="Calibri" pitchFamily="34" charset="-122"/>
                <a:cs typeface="Calibri" pitchFamily="34" charset="-120"/>
              </a:rPr>
              <a:t>Inscription, numéro d'adhérent, type (fondateur, ordinaire, bénéficiaire), statut actif/suspendu</a:t>
            </a:r>
            <a:endParaRPr lang="en-US" sz="1200" dirty="0"/>
          </a:p>
        </p:txBody>
      </p:sp>
      <p:sp>
        <p:nvSpPr>
          <p:cNvPr id="9" name="Shape 6"/>
          <p:cNvSpPr/>
          <p:nvPr/>
        </p:nvSpPr>
        <p:spPr>
          <a:xfrm>
            <a:off x="548640" y="2953512"/>
            <a:ext cx="11064240" cy="987552"/>
          </a:xfrm>
          <a:prstGeom prst="roundRect">
            <a:avLst>
              <a:gd name="adj" fmla="val 7407"/>
            </a:avLst>
          </a:prstGeom>
          <a:solidFill>
            <a:srgbClr val="DCE8E2"/>
          </a:solidFill>
          <a:ln/>
        </p:spPr>
      </p:sp>
      <p:sp>
        <p:nvSpPr>
          <p:cNvPr id="10" name="Shape 7"/>
          <p:cNvSpPr/>
          <p:nvPr/>
        </p:nvSpPr>
        <p:spPr>
          <a:xfrm>
            <a:off x="777240" y="3136392"/>
            <a:ext cx="621792" cy="621792"/>
          </a:xfrm>
          <a:prstGeom prst="ellipse">
            <a:avLst/>
          </a:prstGeom>
          <a:solidFill>
            <a:srgbClr val="6B8F7F"/>
          </a:solidFill>
          <a:ln/>
        </p:spPr>
      </p:sp>
      <p:pic>
        <p:nvPicPr>
          <p:cNvPr id="11" name="Image 1" descr="icons/FaCoins_white.png"/>
          <p:cNvPicPr>
            <a:picLocks noChangeAspect="1"/>
          </p:cNvPicPr>
          <p:nvPr/>
        </p:nvPicPr>
        <p:blipFill>
          <a:blip r:embed="rId4"/>
          <a:stretch>
            <a:fillRect/>
          </a:stretch>
        </p:blipFill>
        <p:spPr>
          <a:xfrm>
            <a:off x="914400" y="3273552"/>
            <a:ext cx="347472" cy="347472"/>
          </a:xfrm>
          <a:prstGeom prst="rect">
            <a:avLst/>
          </a:prstGeom>
        </p:spPr>
      </p:pic>
      <p:sp>
        <p:nvSpPr>
          <p:cNvPr id="12" name="Text 8"/>
          <p:cNvSpPr/>
          <p:nvPr/>
        </p:nvSpPr>
        <p:spPr>
          <a:xfrm>
            <a:off x="1645920" y="3044952"/>
            <a:ext cx="2926080" cy="8229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Plan de cotisation</a:t>
            </a:r>
            <a:endParaRPr lang="en-US" sz="1400" dirty="0"/>
          </a:p>
        </p:txBody>
      </p:sp>
      <p:sp>
        <p:nvSpPr>
          <p:cNvPr id="13" name="Text 9"/>
          <p:cNvSpPr/>
          <p:nvPr/>
        </p:nvSpPr>
        <p:spPr>
          <a:xfrm>
            <a:off x="4709160" y="3044952"/>
            <a:ext cx="6720840" cy="822960"/>
          </a:xfrm>
          <a:prstGeom prst="rect">
            <a:avLst/>
          </a:prstGeom>
          <a:noFill/>
          <a:ln/>
        </p:spPr>
        <p:txBody>
          <a:bodyPr wrap="square" rtlCol="0" anchor="ctr"/>
          <a:lstStyle/>
          <a:p>
            <a:pPr marL="0" indent="0">
              <a:buNone/>
            </a:pPr>
            <a:r>
              <a:rPr lang="en-US" sz="1200" dirty="0">
                <a:solidFill>
                  <a:srgbClr val="3A2E28"/>
                </a:solidFill>
                <a:latin typeface="Calibri" pitchFamily="34" charset="0"/>
                <a:ea typeface="Calibri" pitchFamily="34" charset="-122"/>
                <a:cs typeface="Calibri" pitchFamily="34" charset="-120"/>
              </a:rPr>
              <a:t>Montant mensuel, date d'échéance, pénalités de retard configurables</a:t>
            </a:r>
            <a:endParaRPr lang="en-US" sz="1200" dirty="0"/>
          </a:p>
        </p:txBody>
      </p:sp>
      <p:sp>
        <p:nvSpPr>
          <p:cNvPr id="14" name="Shape 10"/>
          <p:cNvSpPr/>
          <p:nvPr/>
        </p:nvSpPr>
        <p:spPr>
          <a:xfrm>
            <a:off x="548640" y="4123944"/>
            <a:ext cx="11064240" cy="987552"/>
          </a:xfrm>
          <a:prstGeom prst="roundRect">
            <a:avLst>
              <a:gd name="adj" fmla="val 7407"/>
            </a:avLst>
          </a:prstGeom>
          <a:solidFill>
            <a:srgbClr val="E7E8D1"/>
          </a:solidFill>
          <a:ln/>
        </p:spPr>
      </p:sp>
      <p:sp>
        <p:nvSpPr>
          <p:cNvPr id="15" name="Shape 11"/>
          <p:cNvSpPr/>
          <p:nvPr/>
        </p:nvSpPr>
        <p:spPr>
          <a:xfrm>
            <a:off x="777240" y="4306824"/>
            <a:ext cx="621792" cy="621792"/>
          </a:xfrm>
          <a:prstGeom prst="ellipse">
            <a:avLst/>
          </a:prstGeom>
          <a:solidFill>
            <a:srgbClr val="B85042"/>
          </a:solidFill>
          <a:ln/>
        </p:spPr>
      </p:sp>
      <p:pic>
        <p:nvPicPr>
          <p:cNvPr id="16" name="Image 2" descr="icons/FaMobileAlt_white.png"/>
          <p:cNvPicPr>
            <a:picLocks noChangeAspect="1"/>
          </p:cNvPicPr>
          <p:nvPr/>
        </p:nvPicPr>
        <p:blipFill>
          <a:blip r:embed="rId5"/>
          <a:stretch>
            <a:fillRect/>
          </a:stretch>
        </p:blipFill>
        <p:spPr>
          <a:xfrm>
            <a:off x="914400" y="4443984"/>
            <a:ext cx="347472" cy="347472"/>
          </a:xfrm>
          <a:prstGeom prst="rect">
            <a:avLst/>
          </a:prstGeom>
        </p:spPr>
      </p:pic>
      <p:sp>
        <p:nvSpPr>
          <p:cNvPr id="17" name="Text 12"/>
          <p:cNvSpPr/>
          <p:nvPr/>
        </p:nvSpPr>
        <p:spPr>
          <a:xfrm>
            <a:off x="1645920" y="4215384"/>
            <a:ext cx="2926080" cy="8229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Suivi des paiements</a:t>
            </a:r>
            <a:endParaRPr lang="en-US" sz="1400" dirty="0"/>
          </a:p>
        </p:txBody>
      </p:sp>
      <p:sp>
        <p:nvSpPr>
          <p:cNvPr id="18" name="Text 13"/>
          <p:cNvSpPr/>
          <p:nvPr/>
        </p:nvSpPr>
        <p:spPr>
          <a:xfrm>
            <a:off x="4709160" y="4215384"/>
            <a:ext cx="6720840" cy="822960"/>
          </a:xfrm>
          <a:prstGeom prst="rect">
            <a:avLst/>
          </a:prstGeom>
          <a:noFill/>
          <a:ln/>
        </p:spPr>
        <p:txBody>
          <a:bodyPr wrap="square" rtlCol="0" anchor="ctr"/>
          <a:lstStyle/>
          <a:p>
            <a:pPr marL="0" indent="0">
              <a:buNone/>
            </a:pPr>
            <a:r>
              <a:rPr lang="en-US" sz="1200" dirty="0">
                <a:solidFill>
                  <a:srgbClr val="3A2E28"/>
                </a:solidFill>
                <a:latin typeface="Calibri" pitchFamily="34" charset="0"/>
                <a:ea typeface="Calibri" pitchFamily="34" charset="-122"/>
                <a:cs typeface="Calibri" pitchFamily="34" charset="-120"/>
              </a:rPr>
              <a:t>Saisie manuelle ou via Mobile Money, reçu automatique, solde cumulé par membre</a:t>
            </a:r>
            <a:endParaRPr lang="en-US" sz="1200" dirty="0"/>
          </a:p>
        </p:txBody>
      </p:sp>
      <p:sp>
        <p:nvSpPr>
          <p:cNvPr id="19" name="Shape 14"/>
          <p:cNvSpPr/>
          <p:nvPr/>
        </p:nvSpPr>
        <p:spPr>
          <a:xfrm>
            <a:off x="548640" y="5294376"/>
            <a:ext cx="11064240" cy="987552"/>
          </a:xfrm>
          <a:prstGeom prst="roundRect">
            <a:avLst>
              <a:gd name="adj" fmla="val 7407"/>
            </a:avLst>
          </a:prstGeom>
          <a:solidFill>
            <a:srgbClr val="DCE8E2"/>
          </a:solidFill>
          <a:ln/>
        </p:spPr>
      </p:sp>
      <p:sp>
        <p:nvSpPr>
          <p:cNvPr id="20" name="Shape 15"/>
          <p:cNvSpPr/>
          <p:nvPr/>
        </p:nvSpPr>
        <p:spPr>
          <a:xfrm>
            <a:off x="777240" y="5477256"/>
            <a:ext cx="621792" cy="621792"/>
          </a:xfrm>
          <a:prstGeom prst="ellipse">
            <a:avLst/>
          </a:prstGeom>
          <a:solidFill>
            <a:srgbClr val="6B8F7F"/>
          </a:solidFill>
          <a:ln/>
        </p:spPr>
      </p:sp>
      <p:pic>
        <p:nvPicPr>
          <p:cNvPr id="21" name="Image 3" descr="icons/FaHome_white.png"/>
          <p:cNvPicPr>
            <a:picLocks noChangeAspect="1"/>
          </p:cNvPicPr>
          <p:nvPr/>
        </p:nvPicPr>
        <p:blipFill>
          <a:blip r:embed="rId6"/>
          <a:stretch>
            <a:fillRect/>
          </a:stretch>
        </p:blipFill>
        <p:spPr>
          <a:xfrm>
            <a:off x="914400" y="5614416"/>
            <a:ext cx="347472" cy="347472"/>
          </a:xfrm>
          <a:prstGeom prst="rect">
            <a:avLst/>
          </a:prstGeom>
        </p:spPr>
      </p:pic>
      <p:sp>
        <p:nvSpPr>
          <p:cNvPr id="22" name="Text 16"/>
          <p:cNvSpPr/>
          <p:nvPr/>
        </p:nvSpPr>
        <p:spPr>
          <a:xfrm>
            <a:off x="1645920" y="5385816"/>
            <a:ext cx="2926080" cy="8229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Gestion des lots</a:t>
            </a:r>
            <a:endParaRPr lang="en-US" sz="1400" dirty="0"/>
          </a:p>
        </p:txBody>
      </p:sp>
      <p:sp>
        <p:nvSpPr>
          <p:cNvPr id="23" name="Text 17"/>
          <p:cNvSpPr/>
          <p:nvPr/>
        </p:nvSpPr>
        <p:spPr>
          <a:xfrm>
            <a:off x="4709160" y="5385816"/>
            <a:ext cx="6720840" cy="822960"/>
          </a:xfrm>
          <a:prstGeom prst="rect">
            <a:avLst/>
          </a:prstGeom>
          <a:noFill/>
          <a:ln/>
        </p:spPr>
        <p:txBody>
          <a:bodyPr wrap="square" rtlCol="0" anchor="ctr"/>
          <a:lstStyle/>
          <a:p>
            <a:pPr marL="0" indent="0">
              <a:buNone/>
            </a:pPr>
            <a:r>
              <a:rPr lang="en-US" sz="1200" dirty="0">
                <a:solidFill>
                  <a:srgbClr val="3A2E28"/>
                </a:solidFill>
                <a:latin typeface="Calibri" pitchFamily="34" charset="0"/>
                <a:ea typeface="Calibri" pitchFamily="34" charset="-122"/>
                <a:cs typeface="Calibri" pitchFamily="34" charset="-120"/>
              </a:rPr>
              <a:t>Terrains/logements : superficie, localisation GPS, statut disponible/attribué/litigieux</a:t>
            </a:r>
            <a:endParaRPr lang="en-US" sz="1200" dirty="0"/>
          </a:p>
        </p:txBody>
      </p:sp>
      <p:sp>
        <p:nvSpPr>
          <p:cNvPr id="24" name="Text 18"/>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PRATIQUE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Cahier des charges fonctionnel (2/2)</a:t>
            </a:r>
            <a:endParaRPr lang="en-US" sz="3000" dirty="0"/>
          </a:p>
        </p:txBody>
      </p:sp>
      <p:sp>
        <p:nvSpPr>
          <p:cNvPr id="4" name="Shape 2"/>
          <p:cNvSpPr/>
          <p:nvPr/>
        </p:nvSpPr>
        <p:spPr>
          <a:xfrm>
            <a:off x="548640" y="1783080"/>
            <a:ext cx="11064240" cy="987552"/>
          </a:xfrm>
          <a:prstGeom prst="roundRect">
            <a:avLst>
              <a:gd name="adj" fmla="val 7407"/>
            </a:avLst>
          </a:prstGeom>
          <a:solidFill>
            <a:srgbClr val="E7E8D1"/>
          </a:solidFill>
          <a:ln/>
        </p:spPr>
      </p:sp>
      <p:sp>
        <p:nvSpPr>
          <p:cNvPr id="5" name="Shape 3"/>
          <p:cNvSpPr/>
          <p:nvPr/>
        </p:nvSpPr>
        <p:spPr>
          <a:xfrm>
            <a:off x="777240" y="1965960"/>
            <a:ext cx="621792" cy="621792"/>
          </a:xfrm>
          <a:prstGeom prst="ellipse">
            <a:avLst/>
          </a:prstGeom>
          <a:solidFill>
            <a:srgbClr val="B85042"/>
          </a:solidFill>
          <a:ln/>
        </p:spPr>
      </p:sp>
      <p:pic>
        <p:nvPicPr>
          <p:cNvPr id="6" name="Image 0" descr="icons/FaGavel_white.png"/>
          <p:cNvPicPr>
            <a:picLocks noChangeAspect="1"/>
          </p:cNvPicPr>
          <p:nvPr/>
        </p:nvPicPr>
        <p:blipFill>
          <a:blip r:embed="rId3"/>
          <a:stretch>
            <a:fillRect/>
          </a:stretch>
        </p:blipFill>
        <p:spPr>
          <a:xfrm>
            <a:off x="914400" y="2103120"/>
            <a:ext cx="347472" cy="347472"/>
          </a:xfrm>
          <a:prstGeom prst="rect">
            <a:avLst/>
          </a:prstGeom>
        </p:spPr>
      </p:pic>
      <p:sp>
        <p:nvSpPr>
          <p:cNvPr id="7" name="Text 4"/>
          <p:cNvSpPr/>
          <p:nvPr/>
        </p:nvSpPr>
        <p:spPr>
          <a:xfrm>
            <a:off x="1645920" y="1874520"/>
            <a:ext cx="2926080" cy="8229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Workflow d'attribution</a:t>
            </a:r>
            <a:endParaRPr lang="en-US" sz="1400" dirty="0"/>
          </a:p>
        </p:txBody>
      </p:sp>
      <p:sp>
        <p:nvSpPr>
          <p:cNvPr id="8" name="Text 5"/>
          <p:cNvSpPr/>
          <p:nvPr/>
        </p:nvSpPr>
        <p:spPr>
          <a:xfrm>
            <a:off x="4709160" y="1874520"/>
            <a:ext cx="6720840" cy="822960"/>
          </a:xfrm>
          <a:prstGeom prst="rect">
            <a:avLst/>
          </a:prstGeom>
          <a:noFill/>
          <a:ln/>
        </p:spPr>
        <p:txBody>
          <a:bodyPr wrap="square" rtlCol="0" anchor="ctr"/>
          <a:lstStyle/>
          <a:p>
            <a:pPr marL="0" indent="0">
              <a:buNone/>
            </a:pPr>
            <a:r>
              <a:rPr lang="en-US" sz="1200" dirty="0">
                <a:solidFill>
                  <a:srgbClr val="3A2E28"/>
                </a:solidFill>
                <a:latin typeface="Calibri" pitchFamily="34" charset="0"/>
                <a:ea typeface="Calibri" pitchFamily="34" charset="-122"/>
                <a:cs typeface="Calibri" pitchFamily="34" charset="-120"/>
              </a:rPr>
              <a:t>Tirage au sort ou commission, PV d'attribution, notification aux membres</a:t>
            </a:r>
            <a:endParaRPr lang="en-US" sz="1200" dirty="0"/>
          </a:p>
        </p:txBody>
      </p:sp>
      <p:sp>
        <p:nvSpPr>
          <p:cNvPr id="9" name="Shape 6"/>
          <p:cNvSpPr/>
          <p:nvPr/>
        </p:nvSpPr>
        <p:spPr>
          <a:xfrm>
            <a:off x="548640" y="2953512"/>
            <a:ext cx="11064240" cy="987552"/>
          </a:xfrm>
          <a:prstGeom prst="roundRect">
            <a:avLst>
              <a:gd name="adj" fmla="val 7407"/>
            </a:avLst>
          </a:prstGeom>
          <a:solidFill>
            <a:srgbClr val="DCE8E2"/>
          </a:solidFill>
          <a:ln/>
        </p:spPr>
      </p:sp>
      <p:sp>
        <p:nvSpPr>
          <p:cNvPr id="10" name="Shape 7"/>
          <p:cNvSpPr/>
          <p:nvPr/>
        </p:nvSpPr>
        <p:spPr>
          <a:xfrm>
            <a:off x="777240" y="3136392"/>
            <a:ext cx="621792" cy="621792"/>
          </a:xfrm>
          <a:prstGeom prst="ellipse">
            <a:avLst/>
          </a:prstGeom>
          <a:solidFill>
            <a:srgbClr val="6B8F7F"/>
          </a:solidFill>
          <a:ln/>
        </p:spPr>
      </p:sp>
      <p:pic>
        <p:nvPicPr>
          <p:cNvPr id="11" name="Image 1" descr="icons/FaWallet_white.png"/>
          <p:cNvPicPr>
            <a:picLocks noChangeAspect="1"/>
          </p:cNvPicPr>
          <p:nvPr/>
        </p:nvPicPr>
        <p:blipFill>
          <a:blip r:embed="rId4"/>
          <a:stretch>
            <a:fillRect/>
          </a:stretch>
        </p:blipFill>
        <p:spPr>
          <a:xfrm>
            <a:off x="914400" y="3273552"/>
            <a:ext cx="347472" cy="347472"/>
          </a:xfrm>
          <a:prstGeom prst="rect">
            <a:avLst/>
          </a:prstGeom>
        </p:spPr>
      </p:pic>
      <p:sp>
        <p:nvSpPr>
          <p:cNvPr id="12" name="Text 8"/>
          <p:cNvSpPr/>
          <p:nvPr/>
        </p:nvSpPr>
        <p:spPr>
          <a:xfrm>
            <a:off x="1645920" y="3044952"/>
            <a:ext cx="2926080" cy="8229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Espace comptable</a:t>
            </a:r>
            <a:endParaRPr lang="en-US" sz="1400" dirty="0"/>
          </a:p>
        </p:txBody>
      </p:sp>
      <p:sp>
        <p:nvSpPr>
          <p:cNvPr id="13" name="Text 9"/>
          <p:cNvSpPr/>
          <p:nvPr/>
        </p:nvSpPr>
        <p:spPr>
          <a:xfrm>
            <a:off x="4709160" y="3044952"/>
            <a:ext cx="6720840" cy="822960"/>
          </a:xfrm>
          <a:prstGeom prst="rect">
            <a:avLst/>
          </a:prstGeom>
          <a:noFill/>
          <a:ln/>
        </p:spPr>
        <p:txBody>
          <a:bodyPr wrap="square" rtlCol="0" anchor="ctr"/>
          <a:lstStyle/>
          <a:p>
            <a:pPr marL="0" indent="0">
              <a:buNone/>
            </a:pPr>
            <a:r>
              <a:rPr lang="en-US" sz="1200" dirty="0">
                <a:solidFill>
                  <a:srgbClr val="3A2E28"/>
                </a:solidFill>
                <a:latin typeface="Calibri" pitchFamily="34" charset="0"/>
                <a:ea typeface="Calibri" pitchFamily="34" charset="-122"/>
                <a:cs typeface="Calibri" pitchFamily="34" charset="-120"/>
              </a:rPr>
              <a:t>Budget prévisionnel, dépenses réelles, trésorerie disponible, rapport semestriel</a:t>
            </a:r>
            <a:endParaRPr lang="en-US" sz="1200" dirty="0"/>
          </a:p>
        </p:txBody>
      </p:sp>
      <p:sp>
        <p:nvSpPr>
          <p:cNvPr id="14" name="Shape 10"/>
          <p:cNvSpPr/>
          <p:nvPr/>
        </p:nvSpPr>
        <p:spPr>
          <a:xfrm>
            <a:off x="548640" y="4123944"/>
            <a:ext cx="11064240" cy="987552"/>
          </a:xfrm>
          <a:prstGeom prst="roundRect">
            <a:avLst>
              <a:gd name="adj" fmla="val 7407"/>
            </a:avLst>
          </a:prstGeom>
          <a:solidFill>
            <a:srgbClr val="E7E8D1"/>
          </a:solidFill>
          <a:ln/>
        </p:spPr>
      </p:sp>
      <p:sp>
        <p:nvSpPr>
          <p:cNvPr id="15" name="Shape 11"/>
          <p:cNvSpPr/>
          <p:nvPr/>
        </p:nvSpPr>
        <p:spPr>
          <a:xfrm>
            <a:off x="777240" y="4306824"/>
            <a:ext cx="621792" cy="621792"/>
          </a:xfrm>
          <a:prstGeom prst="ellipse">
            <a:avLst/>
          </a:prstGeom>
          <a:solidFill>
            <a:srgbClr val="B85042"/>
          </a:solidFill>
          <a:ln/>
        </p:spPr>
      </p:sp>
      <p:pic>
        <p:nvPicPr>
          <p:cNvPr id="16" name="Image 2" descr="icons/FaBuilding_white.png"/>
          <p:cNvPicPr>
            <a:picLocks noChangeAspect="1"/>
          </p:cNvPicPr>
          <p:nvPr/>
        </p:nvPicPr>
        <p:blipFill>
          <a:blip r:embed="rId5"/>
          <a:stretch>
            <a:fillRect/>
          </a:stretch>
        </p:blipFill>
        <p:spPr>
          <a:xfrm>
            <a:off x="914400" y="4443984"/>
            <a:ext cx="347472" cy="347472"/>
          </a:xfrm>
          <a:prstGeom prst="rect">
            <a:avLst/>
          </a:prstGeom>
        </p:spPr>
      </p:pic>
      <p:sp>
        <p:nvSpPr>
          <p:cNvPr id="17" name="Text 12"/>
          <p:cNvSpPr/>
          <p:nvPr/>
        </p:nvSpPr>
        <p:spPr>
          <a:xfrm>
            <a:off x="1645920" y="4215384"/>
            <a:ext cx="2926080" cy="8229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Assemblée générale numérique</a:t>
            </a:r>
            <a:endParaRPr lang="en-US" sz="1400" dirty="0"/>
          </a:p>
        </p:txBody>
      </p:sp>
      <p:sp>
        <p:nvSpPr>
          <p:cNvPr id="18" name="Text 13"/>
          <p:cNvSpPr/>
          <p:nvPr/>
        </p:nvSpPr>
        <p:spPr>
          <a:xfrm>
            <a:off x="4709160" y="4215384"/>
            <a:ext cx="6720840" cy="822960"/>
          </a:xfrm>
          <a:prstGeom prst="rect">
            <a:avLst/>
          </a:prstGeom>
          <a:noFill/>
          <a:ln/>
        </p:spPr>
        <p:txBody>
          <a:bodyPr wrap="square" rtlCol="0" anchor="ctr"/>
          <a:lstStyle/>
          <a:p>
            <a:pPr marL="0" indent="0">
              <a:buNone/>
            </a:pPr>
            <a:r>
              <a:rPr lang="en-US" sz="1200" dirty="0">
                <a:solidFill>
                  <a:srgbClr val="3A2E28"/>
                </a:solidFill>
                <a:latin typeface="Calibri" pitchFamily="34" charset="0"/>
                <a:ea typeface="Calibri" pitchFamily="34" charset="-122"/>
                <a:cs typeface="Calibri" pitchFamily="34" charset="-120"/>
              </a:rPr>
              <a:t>Convocations, ordre du jour, délibérations, comptes rendus publiés</a:t>
            </a:r>
            <a:endParaRPr lang="en-US" sz="1200" dirty="0"/>
          </a:p>
        </p:txBody>
      </p:sp>
      <p:sp>
        <p:nvSpPr>
          <p:cNvPr id="19" name="Shape 14"/>
          <p:cNvSpPr/>
          <p:nvPr/>
        </p:nvSpPr>
        <p:spPr>
          <a:xfrm>
            <a:off x="548640" y="5294376"/>
            <a:ext cx="11064240" cy="987552"/>
          </a:xfrm>
          <a:prstGeom prst="roundRect">
            <a:avLst>
              <a:gd name="adj" fmla="val 7407"/>
            </a:avLst>
          </a:prstGeom>
          <a:solidFill>
            <a:srgbClr val="DCE8E2"/>
          </a:solidFill>
          <a:ln/>
        </p:spPr>
      </p:sp>
      <p:sp>
        <p:nvSpPr>
          <p:cNvPr id="20" name="Shape 15"/>
          <p:cNvSpPr/>
          <p:nvPr/>
        </p:nvSpPr>
        <p:spPr>
          <a:xfrm>
            <a:off x="777240" y="5477256"/>
            <a:ext cx="621792" cy="621792"/>
          </a:xfrm>
          <a:prstGeom prst="ellipse">
            <a:avLst/>
          </a:prstGeom>
          <a:solidFill>
            <a:srgbClr val="6B8F7F"/>
          </a:solidFill>
          <a:ln/>
        </p:spPr>
      </p:sp>
      <p:pic>
        <p:nvPicPr>
          <p:cNvPr id="21" name="Image 3" descr="icons/FaUserTie_white.png"/>
          <p:cNvPicPr>
            <a:picLocks noChangeAspect="1"/>
          </p:cNvPicPr>
          <p:nvPr/>
        </p:nvPicPr>
        <p:blipFill>
          <a:blip r:embed="rId6"/>
          <a:stretch>
            <a:fillRect/>
          </a:stretch>
        </p:blipFill>
        <p:spPr>
          <a:xfrm>
            <a:off x="914400" y="5614416"/>
            <a:ext cx="347472" cy="347472"/>
          </a:xfrm>
          <a:prstGeom prst="rect">
            <a:avLst/>
          </a:prstGeom>
        </p:spPr>
      </p:pic>
      <p:sp>
        <p:nvSpPr>
          <p:cNvPr id="22" name="Text 16"/>
          <p:cNvSpPr/>
          <p:nvPr/>
        </p:nvSpPr>
        <p:spPr>
          <a:xfrm>
            <a:off x="1645920" y="5385816"/>
            <a:ext cx="2926080" cy="822960"/>
          </a:xfrm>
          <a:prstGeom prst="rect">
            <a:avLst/>
          </a:prstGeom>
          <a:noFill/>
          <a:ln/>
        </p:spPr>
        <p:txBody>
          <a:bodyPr wrap="square" rtlCol="0" anchor="ctr"/>
          <a:lstStyle/>
          <a:p>
            <a:pPr marL="0" indent="0">
              <a:buNone/>
            </a:pPr>
            <a:r>
              <a:rPr lang="en-US" sz="1400" b="1" dirty="0">
                <a:solidFill>
                  <a:srgbClr val="3A2E28"/>
                </a:solidFill>
                <a:latin typeface="Calibri" pitchFamily="34" charset="0"/>
                <a:ea typeface="Calibri" pitchFamily="34" charset="-122"/>
                <a:cs typeface="Calibri" pitchFamily="34" charset="-120"/>
              </a:rPr>
              <a:t>Rôles</a:t>
            </a:r>
            <a:endParaRPr lang="en-US" sz="1400" dirty="0"/>
          </a:p>
        </p:txBody>
      </p:sp>
      <p:sp>
        <p:nvSpPr>
          <p:cNvPr id="23" name="Text 17"/>
          <p:cNvSpPr/>
          <p:nvPr/>
        </p:nvSpPr>
        <p:spPr>
          <a:xfrm>
            <a:off x="4709160" y="5385816"/>
            <a:ext cx="6720840" cy="822960"/>
          </a:xfrm>
          <a:prstGeom prst="rect">
            <a:avLst/>
          </a:prstGeom>
          <a:noFill/>
          <a:ln/>
        </p:spPr>
        <p:txBody>
          <a:bodyPr wrap="square" rtlCol="0" anchor="ctr"/>
          <a:lstStyle/>
          <a:p>
            <a:pPr marL="0" indent="0">
              <a:buNone/>
            </a:pPr>
            <a:r>
              <a:rPr lang="en-US" sz="1200" dirty="0">
                <a:solidFill>
                  <a:srgbClr val="3A2E28"/>
                </a:solidFill>
                <a:latin typeface="Calibri" pitchFamily="34" charset="0"/>
                <a:ea typeface="Calibri" pitchFamily="34" charset="-122"/>
                <a:cs typeface="Calibri" pitchFamily="34" charset="-120"/>
              </a:rPr>
              <a:t>Président, Trésorier, Secrétaire, Membre</a:t>
            </a:r>
            <a:endParaRPr lang="en-US" sz="1200" dirty="0"/>
          </a:p>
        </p:txBody>
      </p:sp>
      <p:sp>
        <p:nvSpPr>
          <p:cNvPr id="24" name="Text 18"/>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PRATIQUE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Contraintes transversales obligatoires</a:t>
            </a:r>
            <a:endParaRPr lang="en-US" sz="3000" dirty="0"/>
          </a:p>
        </p:txBody>
      </p:sp>
      <p:sp>
        <p:nvSpPr>
          <p:cNvPr id="4" name="Shape 2"/>
          <p:cNvSpPr/>
          <p:nvPr/>
        </p:nvSpPr>
        <p:spPr>
          <a:xfrm>
            <a:off x="548640" y="1920240"/>
            <a:ext cx="2606040" cy="3931920"/>
          </a:xfrm>
          <a:prstGeom prst="roundRect">
            <a:avLst>
              <a:gd name="adj" fmla="val 3509"/>
            </a:avLst>
          </a:prstGeom>
          <a:solidFill>
            <a:srgbClr val="E7E8D1"/>
          </a:solidFill>
          <a:ln/>
          <a:effectLst>
            <a:outerShdw blurRad="63500" dist="25400" dir="5400000" algn="bl" rotWithShape="0">
              <a:srgbClr val="000000">
                <a:alpha val="10000"/>
              </a:srgbClr>
            </a:outerShdw>
          </a:effectLst>
        </p:spPr>
      </p:sp>
      <p:sp>
        <p:nvSpPr>
          <p:cNvPr id="5" name="Shape 3"/>
          <p:cNvSpPr/>
          <p:nvPr/>
        </p:nvSpPr>
        <p:spPr>
          <a:xfrm>
            <a:off x="1531620" y="2194560"/>
            <a:ext cx="640080" cy="640080"/>
          </a:xfrm>
          <a:prstGeom prst="ellipse">
            <a:avLst/>
          </a:prstGeom>
          <a:solidFill>
            <a:srgbClr val="B85042"/>
          </a:solidFill>
          <a:ln/>
        </p:spPr>
      </p:sp>
      <p:pic>
        <p:nvPicPr>
          <p:cNvPr id="6" name="Image 0" descr="icons/FaShieldAlt_white.png"/>
          <p:cNvPicPr>
            <a:picLocks noChangeAspect="1"/>
          </p:cNvPicPr>
          <p:nvPr/>
        </p:nvPicPr>
        <p:blipFill>
          <a:blip r:embed="rId3"/>
          <a:stretch>
            <a:fillRect/>
          </a:stretch>
        </p:blipFill>
        <p:spPr>
          <a:xfrm>
            <a:off x="1677924" y="2340864"/>
            <a:ext cx="347472" cy="347472"/>
          </a:xfrm>
          <a:prstGeom prst="rect">
            <a:avLst/>
          </a:prstGeom>
        </p:spPr>
      </p:pic>
      <p:sp>
        <p:nvSpPr>
          <p:cNvPr id="7" name="Text 4"/>
          <p:cNvSpPr/>
          <p:nvPr/>
        </p:nvSpPr>
        <p:spPr>
          <a:xfrm>
            <a:off x="685800" y="3063240"/>
            <a:ext cx="2331720" cy="502920"/>
          </a:xfrm>
          <a:prstGeom prst="rect">
            <a:avLst/>
          </a:prstGeom>
          <a:noFill/>
          <a:ln/>
        </p:spPr>
        <p:txBody>
          <a:bodyPr wrap="square" rtlCol="0" anchor="ctr"/>
          <a:lstStyle/>
          <a:p>
            <a:pPr marL="0" indent="0" algn="ctr">
              <a:buNone/>
            </a:pPr>
            <a:r>
              <a:rPr lang="en-US" sz="1350" b="1" dirty="0">
                <a:solidFill>
                  <a:srgbClr val="8C3B30"/>
                </a:solidFill>
                <a:latin typeface="Calibri" pitchFamily="34" charset="0"/>
                <a:ea typeface="Calibri" pitchFamily="34" charset="-122"/>
                <a:cs typeface="Calibri" pitchFamily="34" charset="-120"/>
              </a:rPr>
              <a:t>Sécurité</a:t>
            </a:r>
            <a:endParaRPr lang="en-US" sz="1350" dirty="0"/>
          </a:p>
        </p:txBody>
      </p:sp>
      <p:sp>
        <p:nvSpPr>
          <p:cNvPr id="8" name="Text 5"/>
          <p:cNvSpPr/>
          <p:nvPr/>
        </p:nvSpPr>
        <p:spPr>
          <a:xfrm>
            <a:off x="731520" y="3611880"/>
            <a:ext cx="2240280" cy="2103120"/>
          </a:xfrm>
          <a:prstGeom prst="rect">
            <a:avLst/>
          </a:prstGeom>
          <a:noFill/>
          <a:ln/>
        </p:spPr>
        <p:txBody>
          <a:bodyPr wrap="square" rtlCol="0" anchor="ctr"/>
          <a:lstStyle/>
          <a:p>
            <a:pPr marL="0" indent="0" algn="ctr">
              <a:buNone/>
            </a:pPr>
            <a:r>
              <a:rPr lang="en-US" sz="1150" dirty="0">
                <a:solidFill>
                  <a:srgbClr val="3A2E28"/>
                </a:solidFill>
                <a:latin typeface="Calibri" pitchFamily="34" charset="0"/>
                <a:ea typeface="Calibri" pitchFamily="34" charset="-122"/>
                <a:cs typeface="Calibri" pitchFamily="34" charset="-120"/>
              </a:rPr>
              <a:t>Authentification JWT avec gestion des rôles (admin, utilisateur, agent...)</a:t>
            </a:r>
            <a:endParaRPr lang="en-US" sz="1150" dirty="0"/>
          </a:p>
        </p:txBody>
      </p:sp>
      <p:sp>
        <p:nvSpPr>
          <p:cNvPr id="9" name="Shape 6"/>
          <p:cNvSpPr/>
          <p:nvPr/>
        </p:nvSpPr>
        <p:spPr>
          <a:xfrm>
            <a:off x="3383280" y="1920240"/>
            <a:ext cx="2606040" cy="3931920"/>
          </a:xfrm>
          <a:prstGeom prst="roundRect">
            <a:avLst>
              <a:gd name="adj" fmla="val 3509"/>
            </a:avLst>
          </a:prstGeom>
          <a:solidFill>
            <a:srgbClr val="E7E8D1"/>
          </a:solidFill>
          <a:ln/>
          <a:effectLst>
            <a:outerShdw blurRad="63500" dist="25400" dir="5400000" algn="bl" rotWithShape="0">
              <a:srgbClr val="000000">
                <a:alpha val="10000"/>
              </a:srgbClr>
            </a:outerShdw>
          </a:effectLst>
        </p:spPr>
      </p:sp>
      <p:sp>
        <p:nvSpPr>
          <p:cNvPr id="10" name="Shape 7"/>
          <p:cNvSpPr/>
          <p:nvPr/>
        </p:nvSpPr>
        <p:spPr>
          <a:xfrm>
            <a:off x="4366260" y="2194560"/>
            <a:ext cx="640080" cy="640080"/>
          </a:xfrm>
          <a:prstGeom prst="ellipse">
            <a:avLst/>
          </a:prstGeom>
          <a:solidFill>
            <a:srgbClr val="B85042"/>
          </a:solidFill>
          <a:ln/>
        </p:spPr>
      </p:sp>
      <p:pic>
        <p:nvPicPr>
          <p:cNvPr id="11" name="Image 1" descr="icons/FaCode_white.png"/>
          <p:cNvPicPr>
            <a:picLocks noChangeAspect="1"/>
          </p:cNvPicPr>
          <p:nvPr/>
        </p:nvPicPr>
        <p:blipFill>
          <a:blip r:embed="rId4"/>
          <a:stretch>
            <a:fillRect/>
          </a:stretch>
        </p:blipFill>
        <p:spPr>
          <a:xfrm>
            <a:off x="4512564" y="2340864"/>
            <a:ext cx="347472" cy="347472"/>
          </a:xfrm>
          <a:prstGeom prst="rect">
            <a:avLst/>
          </a:prstGeom>
        </p:spPr>
      </p:pic>
      <p:sp>
        <p:nvSpPr>
          <p:cNvPr id="12" name="Text 8"/>
          <p:cNvSpPr/>
          <p:nvPr/>
        </p:nvSpPr>
        <p:spPr>
          <a:xfrm>
            <a:off x="3520440" y="3063240"/>
            <a:ext cx="2331720" cy="502920"/>
          </a:xfrm>
          <a:prstGeom prst="rect">
            <a:avLst/>
          </a:prstGeom>
          <a:noFill/>
          <a:ln/>
        </p:spPr>
        <p:txBody>
          <a:bodyPr wrap="square" rtlCol="0" anchor="ctr"/>
          <a:lstStyle/>
          <a:p>
            <a:pPr marL="0" indent="0" algn="ctr">
              <a:buNone/>
            </a:pPr>
            <a:r>
              <a:rPr lang="en-US" sz="1350" b="1" dirty="0">
                <a:solidFill>
                  <a:srgbClr val="8C3B30"/>
                </a:solidFill>
                <a:latin typeface="Calibri" pitchFamily="34" charset="0"/>
                <a:ea typeface="Calibri" pitchFamily="34" charset="-122"/>
                <a:cs typeface="Calibri" pitchFamily="34" charset="-120"/>
              </a:rPr>
              <a:t>API documentée</a:t>
            </a:r>
            <a:endParaRPr lang="en-US" sz="1350" dirty="0"/>
          </a:p>
        </p:txBody>
      </p:sp>
      <p:sp>
        <p:nvSpPr>
          <p:cNvPr id="13" name="Text 9"/>
          <p:cNvSpPr/>
          <p:nvPr/>
        </p:nvSpPr>
        <p:spPr>
          <a:xfrm>
            <a:off x="3566160" y="3611880"/>
            <a:ext cx="2240280" cy="2103120"/>
          </a:xfrm>
          <a:prstGeom prst="rect">
            <a:avLst/>
          </a:prstGeom>
          <a:noFill/>
          <a:ln/>
        </p:spPr>
        <p:txBody>
          <a:bodyPr wrap="square" rtlCol="0" anchor="ctr"/>
          <a:lstStyle/>
          <a:p>
            <a:pPr marL="0" indent="0" algn="ctr">
              <a:buNone/>
            </a:pPr>
            <a:r>
              <a:rPr lang="en-US" sz="1150" dirty="0">
                <a:solidFill>
                  <a:srgbClr val="3A2E28"/>
                </a:solidFill>
                <a:latin typeface="Calibri" pitchFamily="34" charset="0"/>
                <a:ea typeface="Calibri" pitchFamily="34" charset="-122"/>
                <a:cs typeface="Calibri" pitchFamily="34" charset="-120"/>
              </a:rPr>
              <a:t>API REST documentée via Swagger / OpenAPI 3.0</a:t>
            </a:r>
            <a:endParaRPr lang="en-US" sz="1150" dirty="0"/>
          </a:p>
        </p:txBody>
      </p:sp>
      <p:sp>
        <p:nvSpPr>
          <p:cNvPr id="14" name="Shape 10"/>
          <p:cNvSpPr/>
          <p:nvPr/>
        </p:nvSpPr>
        <p:spPr>
          <a:xfrm>
            <a:off x="6217920" y="1920240"/>
            <a:ext cx="2606040" cy="3931920"/>
          </a:xfrm>
          <a:prstGeom prst="roundRect">
            <a:avLst>
              <a:gd name="adj" fmla="val 3509"/>
            </a:avLst>
          </a:prstGeom>
          <a:solidFill>
            <a:srgbClr val="E7E8D1"/>
          </a:solidFill>
          <a:ln/>
          <a:effectLst>
            <a:outerShdw blurRad="63500" dist="25400" dir="5400000" algn="bl" rotWithShape="0">
              <a:srgbClr val="000000">
                <a:alpha val="10000"/>
              </a:srgbClr>
            </a:outerShdw>
          </a:effectLst>
        </p:spPr>
      </p:sp>
      <p:sp>
        <p:nvSpPr>
          <p:cNvPr id="15" name="Shape 11"/>
          <p:cNvSpPr/>
          <p:nvPr/>
        </p:nvSpPr>
        <p:spPr>
          <a:xfrm>
            <a:off x="7200900" y="2194560"/>
            <a:ext cx="640080" cy="640080"/>
          </a:xfrm>
          <a:prstGeom prst="ellipse">
            <a:avLst/>
          </a:prstGeom>
          <a:solidFill>
            <a:srgbClr val="B85042"/>
          </a:solidFill>
          <a:ln/>
        </p:spPr>
      </p:sp>
      <p:pic>
        <p:nvPicPr>
          <p:cNvPr id="16" name="Image 2" descr="icons/FaMobileAlt_white.png"/>
          <p:cNvPicPr>
            <a:picLocks noChangeAspect="1"/>
          </p:cNvPicPr>
          <p:nvPr/>
        </p:nvPicPr>
        <p:blipFill>
          <a:blip r:embed="rId5"/>
          <a:stretch>
            <a:fillRect/>
          </a:stretch>
        </p:blipFill>
        <p:spPr>
          <a:xfrm>
            <a:off x="7347204" y="2340864"/>
            <a:ext cx="347472" cy="347472"/>
          </a:xfrm>
          <a:prstGeom prst="rect">
            <a:avLst/>
          </a:prstGeom>
        </p:spPr>
      </p:pic>
      <p:sp>
        <p:nvSpPr>
          <p:cNvPr id="17" name="Text 12"/>
          <p:cNvSpPr/>
          <p:nvPr/>
        </p:nvSpPr>
        <p:spPr>
          <a:xfrm>
            <a:off x="6355080" y="3063240"/>
            <a:ext cx="2331720" cy="502920"/>
          </a:xfrm>
          <a:prstGeom prst="rect">
            <a:avLst/>
          </a:prstGeom>
          <a:noFill/>
          <a:ln/>
        </p:spPr>
        <p:txBody>
          <a:bodyPr wrap="square" rtlCol="0" anchor="ctr"/>
          <a:lstStyle/>
          <a:p>
            <a:pPr marL="0" indent="0" algn="ctr">
              <a:buNone/>
            </a:pPr>
            <a:r>
              <a:rPr lang="en-US" sz="1350" b="1" dirty="0">
                <a:solidFill>
                  <a:srgbClr val="8C3B30"/>
                </a:solidFill>
                <a:latin typeface="Calibri" pitchFamily="34" charset="0"/>
                <a:ea typeface="Calibri" pitchFamily="34" charset="-122"/>
                <a:cs typeface="Calibri" pitchFamily="34" charset="-120"/>
              </a:rPr>
              <a:t>Mobile-first</a:t>
            </a:r>
            <a:endParaRPr lang="en-US" sz="1350" dirty="0"/>
          </a:p>
        </p:txBody>
      </p:sp>
      <p:sp>
        <p:nvSpPr>
          <p:cNvPr id="18" name="Text 13"/>
          <p:cNvSpPr/>
          <p:nvPr/>
        </p:nvSpPr>
        <p:spPr>
          <a:xfrm>
            <a:off x="6400800" y="3611880"/>
            <a:ext cx="2240280" cy="2103120"/>
          </a:xfrm>
          <a:prstGeom prst="rect">
            <a:avLst/>
          </a:prstGeom>
          <a:noFill/>
          <a:ln/>
        </p:spPr>
        <p:txBody>
          <a:bodyPr wrap="square" rtlCol="0" anchor="ctr"/>
          <a:lstStyle/>
          <a:p>
            <a:pPr marL="0" indent="0" algn="ctr">
              <a:buNone/>
            </a:pPr>
            <a:r>
              <a:rPr lang="en-US" sz="1150" dirty="0">
                <a:solidFill>
                  <a:srgbClr val="3A2E28"/>
                </a:solidFill>
                <a:latin typeface="Calibri" pitchFamily="34" charset="0"/>
                <a:ea typeface="Calibri" pitchFamily="34" charset="-122"/>
                <a:cs typeface="Calibri" pitchFamily="34" charset="-120"/>
              </a:rPr>
              <a:t>Responsive design + mode offline partiel (Service Worker)</a:t>
            </a:r>
            <a:endParaRPr lang="en-US" sz="1150" dirty="0"/>
          </a:p>
        </p:txBody>
      </p:sp>
      <p:sp>
        <p:nvSpPr>
          <p:cNvPr id="19" name="Shape 14"/>
          <p:cNvSpPr/>
          <p:nvPr/>
        </p:nvSpPr>
        <p:spPr>
          <a:xfrm>
            <a:off x="9052560" y="1920240"/>
            <a:ext cx="2606040" cy="3931920"/>
          </a:xfrm>
          <a:prstGeom prst="roundRect">
            <a:avLst>
              <a:gd name="adj" fmla="val 3509"/>
            </a:avLst>
          </a:prstGeom>
          <a:solidFill>
            <a:srgbClr val="E7E8D1"/>
          </a:solidFill>
          <a:ln/>
          <a:effectLst>
            <a:outerShdw blurRad="63500" dist="25400" dir="5400000" algn="bl" rotWithShape="0">
              <a:srgbClr val="000000">
                <a:alpha val="10000"/>
              </a:srgbClr>
            </a:outerShdw>
          </a:effectLst>
        </p:spPr>
      </p:sp>
      <p:sp>
        <p:nvSpPr>
          <p:cNvPr id="20" name="Shape 15"/>
          <p:cNvSpPr/>
          <p:nvPr/>
        </p:nvSpPr>
        <p:spPr>
          <a:xfrm>
            <a:off x="10035540" y="2194560"/>
            <a:ext cx="640080" cy="640080"/>
          </a:xfrm>
          <a:prstGeom prst="ellipse">
            <a:avLst/>
          </a:prstGeom>
          <a:solidFill>
            <a:srgbClr val="B85042"/>
          </a:solidFill>
          <a:ln/>
        </p:spPr>
      </p:sp>
      <p:pic>
        <p:nvPicPr>
          <p:cNvPr id="21" name="Image 3" descr="icons/FaCoins_white.png"/>
          <p:cNvPicPr>
            <a:picLocks noChangeAspect="1"/>
          </p:cNvPicPr>
          <p:nvPr/>
        </p:nvPicPr>
        <p:blipFill>
          <a:blip r:embed="rId6"/>
          <a:stretch>
            <a:fillRect/>
          </a:stretch>
        </p:blipFill>
        <p:spPr>
          <a:xfrm>
            <a:off x="10181844" y="2340864"/>
            <a:ext cx="347472" cy="347472"/>
          </a:xfrm>
          <a:prstGeom prst="rect">
            <a:avLst/>
          </a:prstGeom>
        </p:spPr>
      </p:pic>
      <p:sp>
        <p:nvSpPr>
          <p:cNvPr id="22" name="Text 16"/>
          <p:cNvSpPr/>
          <p:nvPr/>
        </p:nvSpPr>
        <p:spPr>
          <a:xfrm>
            <a:off x="9189720" y="3063240"/>
            <a:ext cx="2331720" cy="502920"/>
          </a:xfrm>
          <a:prstGeom prst="rect">
            <a:avLst/>
          </a:prstGeom>
          <a:noFill/>
          <a:ln/>
        </p:spPr>
        <p:txBody>
          <a:bodyPr wrap="square" rtlCol="0" anchor="ctr"/>
          <a:lstStyle/>
          <a:p>
            <a:pPr marL="0" indent="0" algn="ctr">
              <a:buNone/>
            </a:pPr>
            <a:r>
              <a:rPr lang="en-US" sz="1350" b="1" dirty="0">
                <a:solidFill>
                  <a:srgbClr val="8C3B30"/>
                </a:solidFill>
                <a:latin typeface="Calibri" pitchFamily="34" charset="0"/>
                <a:ea typeface="Calibri" pitchFamily="34" charset="-122"/>
                <a:cs typeface="Calibri" pitchFamily="34" charset="-120"/>
              </a:rPr>
              <a:t>Paiements &amp; séquestre</a:t>
            </a:r>
            <a:endParaRPr lang="en-US" sz="1350" dirty="0"/>
          </a:p>
        </p:txBody>
      </p:sp>
      <p:sp>
        <p:nvSpPr>
          <p:cNvPr id="23" name="Text 17"/>
          <p:cNvSpPr/>
          <p:nvPr/>
        </p:nvSpPr>
        <p:spPr>
          <a:xfrm>
            <a:off x="9235440" y="3611880"/>
            <a:ext cx="2240280" cy="2103120"/>
          </a:xfrm>
          <a:prstGeom prst="rect">
            <a:avLst/>
          </a:prstGeom>
          <a:noFill/>
          <a:ln/>
        </p:spPr>
        <p:txBody>
          <a:bodyPr wrap="square" rtlCol="0" anchor="ctr"/>
          <a:lstStyle/>
          <a:p>
            <a:pPr marL="0" indent="0" algn="ctr">
              <a:buNone/>
            </a:pPr>
            <a:r>
              <a:rPr lang="en-US" sz="1150" dirty="0">
                <a:solidFill>
                  <a:srgbClr val="3A2E28"/>
                </a:solidFill>
                <a:latin typeface="Calibri" pitchFamily="34" charset="0"/>
                <a:ea typeface="Calibri" pitchFamily="34" charset="-122"/>
                <a:cs typeface="Calibri" pitchFamily="34" charset="-120"/>
              </a:rPr>
              <a:t>Wave / SendFlash sandbox, reçu PDF automatique, fonds commun visible par tous</a:t>
            </a:r>
            <a:endParaRPr lang="en-US" sz="1150" dirty="0"/>
          </a:p>
        </p:txBody>
      </p:sp>
      <p:sp>
        <p:nvSpPr>
          <p:cNvPr id="24" name="Text 18"/>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PRATIQUE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Livrables attendus</a:t>
            </a:r>
            <a:endParaRPr lang="en-US" sz="3000" dirty="0"/>
          </a:p>
        </p:txBody>
      </p:sp>
      <p:pic>
        <p:nvPicPr>
          <p:cNvPr id="4" name="Image 0" descr="icons/FaCheckCircle_sage.png"/>
          <p:cNvPicPr>
            <a:picLocks noChangeAspect="1"/>
          </p:cNvPicPr>
          <p:nvPr/>
        </p:nvPicPr>
        <p:blipFill>
          <a:blip r:embed="rId3"/>
          <a:stretch>
            <a:fillRect/>
          </a:stretch>
        </p:blipFill>
        <p:spPr>
          <a:xfrm>
            <a:off x="640080" y="1828800"/>
            <a:ext cx="292608" cy="292608"/>
          </a:xfrm>
          <a:prstGeom prst="rect">
            <a:avLst/>
          </a:prstGeom>
        </p:spPr>
      </p:pic>
      <p:sp>
        <p:nvSpPr>
          <p:cNvPr id="5" name="Text 2"/>
          <p:cNvSpPr/>
          <p:nvPr/>
        </p:nvSpPr>
        <p:spPr>
          <a:xfrm>
            <a:off x="1051560" y="1755648"/>
            <a:ext cx="5029200" cy="502920"/>
          </a:xfrm>
          <a:prstGeom prst="rect">
            <a:avLst/>
          </a:prstGeom>
          <a:noFill/>
          <a:ln/>
        </p:spPr>
        <p:txBody>
          <a:bodyPr wrap="square" rtlCol="0" anchor="ctr"/>
          <a:lstStyle/>
          <a:p>
            <a:pPr marL="0" indent="0">
              <a:buNone/>
            </a:pPr>
            <a:r>
              <a:rPr lang="en-US" sz="1250" dirty="0">
                <a:solidFill>
                  <a:srgbClr val="3A2E28"/>
                </a:solidFill>
                <a:latin typeface="Calibri" pitchFamily="34" charset="0"/>
                <a:ea typeface="Calibri" pitchFamily="34" charset="-122"/>
                <a:cs typeface="Calibri" pitchFamily="34" charset="-120"/>
              </a:rPr>
              <a:t>Code source versionné (branches feature, develop, main)</a:t>
            </a:r>
            <a:endParaRPr lang="en-US" sz="1250" dirty="0"/>
          </a:p>
        </p:txBody>
      </p:sp>
      <p:pic>
        <p:nvPicPr>
          <p:cNvPr id="6" name="Image 1" descr="icons/FaCheckCircle_sage.png"/>
          <p:cNvPicPr>
            <a:picLocks noChangeAspect="1"/>
          </p:cNvPicPr>
          <p:nvPr/>
        </p:nvPicPr>
        <p:blipFill>
          <a:blip r:embed="rId3"/>
          <a:stretch>
            <a:fillRect/>
          </a:stretch>
        </p:blipFill>
        <p:spPr>
          <a:xfrm>
            <a:off x="640080" y="2450592"/>
            <a:ext cx="292608" cy="292608"/>
          </a:xfrm>
          <a:prstGeom prst="rect">
            <a:avLst/>
          </a:prstGeom>
        </p:spPr>
      </p:pic>
      <p:sp>
        <p:nvSpPr>
          <p:cNvPr id="7" name="Text 3"/>
          <p:cNvSpPr/>
          <p:nvPr/>
        </p:nvSpPr>
        <p:spPr>
          <a:xfrm>
            <a:off x="1051560" y="2377440"/>
            <a:ext cx="5029200" cy="502920"/>
          </a:xfrm>
          <a:prstGeom prst="rect">
            <a:avLst/>
          </a:prstGeom>
          <a:noFill/>
          <a:ln/>
        </p:spPr>
        <p:txBody>
          <a:bodyPr wrap="square" rtlCol="0" anchor="ctr"/>
          <a:lstStyle/>
          <a:p>
            <a:pPr marL="0" indent="0">
              <a:buNone/>
            </a:pPr>
            <a:r>
              <a:rPr lang="en-US" sz="1250" dirty="0">
                <a:solidFill>
                  <a:srgbClr val="3A2E28"/>
                </a:solidFill>
                <a:latin typeface="Calibri" pitchFamily="34" charset="0"/>
                <a:ea typeface="Calibri" pitchFamily="34" charset="-122"/>
                <a:cs typeface="Calibri" pitchFamily="34" charset="-120"/>
              </a:rPr>
              <a:t>README.md détaillé : installation, variables d'environnement</a:t>
            </a:r>
            <a:endParaRPr lang="en-US" sz="1250" dirty="0"/>
          </a:p>
        </p:txBody>
      </p:sp>
      <p:pic>
        <p:nvPicPr>
          <p:cNvPr id="8" name="Image 2" descr="icons/FaCheckCircle_sage.png"/>
          <p:cNvPicPr>
            <a:picLocks noChangeAspect="1"/>
          </p:cNvPicPr>
          <p:nvPr/>
        </p:nvPicPr>
        <p:blipFill>
          <a:blip r:embed="rId3"/>
          <a:stretch>
            <a:fillRect/>
          </a:stretch>
        </p:blipFill>
        <p:spPr>
          <a:xfrm>
            <a:off x="640080" y="3072384"/>
            <a:ext cx="292608" cy="292608"/>
          </a:xfrm>
          <a:prstGeom prst="rect">
            <a:avLst/>
          </a:prstGeom>
        </p:spPr>
      </p:pic>
      <p:sp>
        <p:nvSpPr>
          <p:cNvPr id="9" name="Text 4"/>
          <p:cNvSpPr/>
          <p:nvPr/>
        </p:nvSpPr>
        <p:spPr>
          <a:xfrm>
            <a:off x="1051560" y="2999232"/>
            <a:ext cx="5029200" cy="502920"/>
          </a:xfrm>
          <a:prstGeom prst="rect">
            <a:avLst/>
          </a:prstGeom>
          <a:noFill/>
          <a:ln/>
        </p:spPr>
        <p:txBody>
          <a:bodyPr wrap="square" rtlCol="0" anchor="ctr"/>
          <a:lstStyle/>
          <a:p>
            <a:pPr marL="0" indent="0">
              <a:buNone/>
            </a:pPr>
            <a:r>
              <a:rPr lang="en-US" sz="1250" dirty="0">
                <a:solidFill>
                  <a:srgbClr val="3A2E28"/>
                </a:solidFill>
                <a:latin typeface="Calibri" pitchFamily="34" charset="0"/>
                <a:ea typeface="Calibri" pitchFamily="34" charset="-122"/>
                <a:cs typeface="Calibri" pitchFamily="34" charset="-120"/>
              </a:rPr>
              <a:t>Documentation UML : cas d'utilisation, classes, séquences</a:t>
            </a:r>
            <a:endParaRPr lang="en-US" sz="1250" dirty="0"/>
          </a:p>
        </p:txBody>
      </p:sp>
      <p:pic>
        <p:nvPicPr>
          <p:cNvPr id="10" name="Image 3" descr="icons/FaCheckCircle_sage.png"/>
          <p:cNvPicPr>
            <a:picLocks noChangeAspect="1"/>
          </p:cNvPicPr>
          <p:nvPr/>
        </p:nvPicPr>
        <p:blipFill>
          <a:blip r:embed="rId3"/>
          <a:stretch>
            <a:fillRect/>
          </a:stretch>
        </p:blipFill>
        <p:spPr>
          <a:xfrm>
            <a:off x="640080" y="3694176"/>
            <a:ext cx="292608" cy="292608"/>
          </a:xfrm>
          <a:prstGeom prst="rect">
            <a:avLst/>
          </a:prstGeom>
        </p:spPr>
      </p:pic>
      <p:sp>
        <p:nvSpPr>
          <p:cNvPr id="11" name="Text 5"/>
          <p:cNvSpPr/>
          <p:nvPr/>
        </p:nvSpPr>
        <p:spPr>
          <a:xfrm>
            <a:off x="1051560" y="3621024"/>
            <a:ext cx="5029200" cy="502920"/>
          </a:xfrm>
          <a:prstGeom prst="rect">
            <a:avLst/>
          </a:prstGeom>
          <a:noFill/>
          <a:ln/>
        </p:spPr>
        <p:txBody>
          <a:bodyPr wrap="square" rtlCol="0" anchor="ctr"/>
          <a:lstStyle/>
          <a:p>
            <a:pPr marL="0" indent="0">
              <a:buNone/>
            </a:pPr>
            <a:r>
              <a:rPr lang="en-US" sz="1250" dirty="0">
                <a:solidFill>
                  <a:srgbClr val="3A2E28"/>
                </a:solidFill>
                <a:latin typeface="Calibri" pitchFamily="34" charset="0"/>
                <a:ea typeface="Calibri" pitchFamily="34" charset="-122"/>
                <a:cs typeface="Calibri" pitchFamily="34" charset="-120"/>
              </a:rPr>
              <a:t>Collection Postman ou fichier OpenAPI (swagger.json)</a:t>
            </a:r>
            <a:endParaRPr lang="en-US" sz="1250" dirty="0"/>
          </a:p>
        </p:txBody>
      </p:sp>
      <p:pic>
        <p:nvPicPr>
          <p:cNvPr id="12" name="Image 4" descr="icons/FaCheckCircle_sage.png"/>
          <p:cNvPicPr>
            <a:picLocks noChangeAspect="1"/>
          </p:cNvPicPr>
          <p:nvPr/>
        </p:nvPicPr>
        <p:blipFill>
          <a:blip r:embed="rId3"/>
          <a:stretch>
            <a:fillRect/>
          </a:stretch>
        </p:blipFill>
        <p:spPr>
          <a:xfrm>
            <a:off x="6263640" y="1828800"/>
            <a:ext cx="292608" cy="292608"/>
          </a:xfrm>
          <a:prstGeom prst="rect">
            <a:avLst/>
          </a:prstGeom>
        </p:spPr>
      </p:pic>
      <p:sp>
        <p:nvSpPr>
          <p:cNvPr id="13" name="Text 6"/>
          <p:cNvSpPr/>
          <p:nvPr/>
        </p:nvSpPr>
        <p:spPr>
          <a:xfrm>
            <a:off x="6675120" y="1755648"/>
            <a:ext cx="5029200" cy="502920"/>
          </a:xfrm>
          <a:prstGeom prst="rect">
            <a:avLst/>
          </a:prstGeom>
          <a:noFill/>
          <a:ln/>
        </p:spPr>
        <p:txBody>
          <a:bodyPr wrap="square" rtlCol="0" anchor="ctr"/>
          <a:lstStyle/>
          <a:p>
            <a:pPr marL="0" indent="0">
              <a:buNone/>
            </a:pPr>
            <a:r>
              <a:rPr lang="en-US" sz="1250" dirty="0">
                <a:solidFill>
                  <a:srgbClr val="3A2E28"/>
                </a:solidFill>
                <a:latin typeface="Calibri" pitchFamily="34" charset="0"/>
                <a:ea typeface="Calibri" pitchFamily="34" charset="-122"/>
                <a:cs typeface="Calibri" pitchFamily="34" charset="-120"/>
              </a:rPr>
              <a:t>Tests unitaires (≥ 60 % couverture) + tests d'intégration</a:t>
            </a:r>
            <a:endParaRPr lang="en-US" sz="1250" dirty="0"/>
          </a:p>
        </p:txBody>
      </p:sp>
      <p:pic>
        <p:nvPicPr>
          <p:cNvPr id="14" name="Image 5" descr="icons/FaCheckCircle_sage.png"/>
          <p:cNvPicPr>
            <a:picLocks noChangeAspect="1"/>
          </p:cNvPicPr>
          <p:nvPr/>
        </p:nvPicPr>
        <p:blipFill>
          <a:blip r:embed="rId3"/>
          <a:stretch>
            <a:fillRect/>
          </a:stretch>
        </p:blipFill>
        <p:spPr>
          <a:xfrm>
            <a:off x="6263640" y="2450592"/>
            <a:ext cx="292608" cy="292608"/>
          </a:xfrm>
          <a:prstGeom prst="rect">
            <a:avLst/>
          </a:prstGeom>
        </p:spPr>
      </p:pic>
      <p:sp>
        <p:nvSpPr>
          <p:cNvPr id="15" name="Text 7"/>
          <p:cNvSpPr/>
          <p:nvPr/>
        </p:nvSpPr>
        <p:spPr>
          <a:xfrm>
            <a:off x="6675120" y="2377440"/>
            <a:ext cx="5029200" cy="502920"/>
          </a:xfrm>
          <a:prstGeom prst="rect">
            <a:avLst/>
          </a:prstGeom>
          <a:noFill/>
          <a:ln/>
        </p:spPr>
        <p:txBody>
          <a:bodyPr wrap="square" rtlCol="0" anchor="ctr"/>
          <a:lstStyle/>
          <a:p>
            <a:pPr marL="0" indent="0">
              <a:buNone/>
            </a:pPr>
            <a:r>
              <a:rPr lang="en-US" sz="1250" dirty="0">
                <a:solidFill>
                  <a:srgbClr val="3A2E28"/>
                </a:solidFill>
                <a:latin typeface="Calibri" pitchFamily="34" charset="0"/>
                <a:ea typeface="Calibri" pitchFamily="34" charset="-122"/>
                <a:cs typeface="Calibri" pitchFamily="34" charset="-120"/>
              </a:rPr>
              <a:t>Application déployée sur un cloud gratuit</a:t>
            </a:r>
            <a:endParaRPr lang="en-US" sz="1250" dirty="0"/>
          </a:p>
        </p:txBody>
      </p:sp>
      <p:pic>
        <p:nvPicPr>
          <p:cNvPr id="16" name="Image 6" descr="icons/FaCheckCircle_sage.png"/>
          <p:cNvPicPr>
            <a:picLocks noChangeAspect="1"/>
          </p:cNvPicPr>
          <p:nvPr/>
        </p:nvPicPr>
        <p:blipFill>
          <a:blip r:embed="rId3"/>
          <a:stretch>
            <a:fillRect/>
          </a:stretch>
        </p:blipFill>
        <p:spPr>
          <a:xfrm>
            <a:off x="6263640" y="3072384"/>
            <a:ext cx="292608" cy="292608"/>
          </a:xfrm>
          <a:prstGeom prst="rect">
            <a:avLst/>
          </a:prstGeom>
        </p:spPr>
      </p:pic>
      <p:sp>
        <p:nvSpPr>
          <p:cNvPr id="17" name="Text 8"/>
          <p:cNvSpPr/>
          <p:nvPr/>
        </p:nvSpPr>
        <p:spPr>
          <a:xfrm>
            <a:off x="6675120" y="2999232"/>
            <a:ext cx="5029200" cy="502920"/>
          </a:xfrm>
          <a:prstGeom prst="rect">
            <a:avLst/>
          </a:prstGeom>
          <a:noFill/>
          <a:ln/>
        </p:spPr>
        <p:txBody>
          <a:bodyPr wrap="square" rtlCol="0" anchor="ctr"/>
          <a:lstStyle/>
          <a:p>
            <a:pPr marL="0" indent="0">
              <a:buNone/>
            </a:pPr>
            <a:r>
              <a:rPr lang="en-US" sz="1250" dirty="0">
                <a:solidFill>
                  <a:srgbClr val="3A2E28"/>
                </a:solidFill>
                <a:latin typeface="Calibri" pitchFamily="34" charset="0"/>
                <a:ea typeface="Calibri" pitchFamily="34" charset="-122"/>
                <a:cs typeface="Calibri" pitchFamily="34" charset="-120"/>
              </a:rPr>
              <a:t>Présentation orale de 10 min (5 min démo + 5 min questions)</a:t>
            </a:r>
            <a:endParaRPr lang="en-US" sz="1250" dirty="0"/>
          </a:p>
        </p:txBody>
      </p:sp>
      <p:sp>
        <p:nvSpPr>
          <p:cNvPr id="18" name="Text 9"/>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B211D"/>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PARTIE PRATIQUE</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Critères de réussite</a:t>
            </a:r>
            <a:endParaRPr lang="en-US" sz="3000" dirty="0"/>
          </a:p>
        </p:txBody>
      </p:sp>
      <p:sp>
        <p:nvSpPr>
          <p:cNvPr id="4" name="Shape 2"/>
          <p:cNvSpPr/>
          <p:nvPr/>
        </p:nvSpPr>
        <p:spPr>
          <a:xfrm>
            <a:off x="548640" y="1920240"/>
            <a:ext cx="365760" cy="365760"/>
          </a:xfrm>
          <a:prstGeom prst="ellipse">
            <a:avLst/>
          </a:prstGeom>
          <a:solidFill>
            <a:srgbClr val="B85042"/>
          </a:solidFill>
          <a:ln/>
        </p:spPr>
      </p:sp>
      <p:sp>
        <p:nvSpPr>
          <p:cNvPr id="5" name="Text 3"/>
          <p:cNvSpPr/>
          <p:nvPr/>
        </p:nvSpPr>
        <p:spPr>
          <a:xfrm>
            <a:off x="548640" y="192024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97280" y="1828800"/>
            <a:ext cx="10424160" cy="594360"/>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Le tableau de bord trésorier affiche en temps réel membres à jour, en retard et trésorerie disponible</a:t>
            </a:r>
            <a:endParaRPr lang="en-US" sz="1300" dirty="0"/>
          </a:p>
        </p:txBody>
      </p:sp>
      <p:sp>
        <p:nvSpPr>
          <p:cNvPr id="7" name="Shape 5"/>
          <p:cNvSpPr/>
          <p:nvPr/>
        </p:nvSpPr>
        <p:spPr>
          <a:xfrm>
            <a:off x="548640" y="2670048"/>
            <a:ext cx="365760" cy="365760"/>
          </a:xfrm>
          <a:prstGeom prst="ellipse">
            <a:avLst/>
          </a:prstGeom>
          <a:solidFill>
            <a:srgbClr val="B85042"/>
          </a:solidFill>
          <a:ln/>
        </p:spPr>
      </p:sp>
      <p:sp>
        <p:nvSpPr>
          <p:cNvPr id="8" name="Text 6"/>
          <p:cNvSpPr/>
          <p:nvPr/>
        </p:nvSpPr>
        <p:spPr>
          <a:xfrm>
            <a:off x="548640" y="2670048"/>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097280" y="2578608"/>
            <a:ext cx="10424160" cy="594360"/>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Un rappel automatique (SMS/e-mail) est envoyé 3 jours avant l'échéance de cotisation</a:t>
            </a:r>
            <a:endParaRPr lang="en-US" sz="1300" dirty="0"/>
          </a:p>
        </p:txBody>
      </p:sp>
      <p:sp>
        <p:nvSpPr>
          <p:cNvPr id="10" name="Shape 8"/>
          <p:cNvSpPr/>
          <p:nvPr/>
        </p:nvSpPr>
        <p:spPr>
          <a:xfrm>
            <a:off x="548640" y="3419856"/>
            <a:ext cx="365760" cy="365760"/>
          </a:xfrm>
          <a:prstGeom prst="ellipse">
            <a:avLst/>
          </a:prstGeom>
          <a:solidFill>
            <a:srgbClr val="B85042"/>
          </a:solidFill>
          <a:ln/>
        </p:spPr>
      </p:sp>
      <p:sp>
        <p:nvSpPr>
          <p:cNvPr id="11" name="Text 9"/>
          <p:cNvSpPr/>
          <p:nvPr/>
        </p:nvSpPr>
        <p:spPr>
          <a:xfrm>
            <a:off x="548640" y="3419856"/>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097280" y="3328416"/>
            <a:ext cx="10424160" cy="594360"/>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Le workflow d'attribution génère un PV PDF signé numériquement et notifie le bénéficiaire</a:t>
            </a:r>
            <a:endParaRPr lang="en-US" sz="1300" dirty="0"/>
          </a:p>
        </p:txBody>
      </p:sp>
      <p:sp>
        <p:nvSpPr>
          <p:cNvPr id="13" name="Shape 11"/>
          <p:cNvSpPr/>
          <p:nvPr/>
        </p:nvSpPr>
        <p:spPr>
          <a:xfrm>
            <a:off x="548640" y="4169664"/>
            <a:ext cx="365760" cy="365760"/>
          </a:xfrm>
          <a:prstGeom prst="ellipse">
            <a:avLst/>
          </a:prstGeom>
          <a:solidFill>
            <a:srgbClr val="B85042"/>
          </a:solidFill>
          <a:ln/>
        </p:spPr>
      </p:sp>
      <p:sp>
        <p:nvSpPr>
          <p:cNvPr id="14" name="Text 12"/>
          <p:cNvSpPr/>
          <p:nvPr/>
        </p:nvSpPr>
        <p:spPr>
          <a:xfrm>
            <a:off x="548640" y="4169664"/>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097280" y="4078224"/>
            <a:ext cx="10424160" cy="594360"/>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L'espace membre affiche l'historique complet des paiements et le solde restant dû</a:t>
            </a:r>
            <a:endParaRPr lang="en-US" sz="1300" dirty="0"/>
          </a:p>
        </p:txBody>
      </p:sp>
      <p:sp>
        <p:nvSpPr>
          <p:cNvPr id="16" name="Shape 14"/>
          <p:cNvSpPr/>
          <p:nvPr/>
        </p:nvSpPr>
        <p:spPr>
          <a:xfrm>
            <a:off x="548640" y="4919472"/>
            <a:ext cx="365760" cy="365760"/>
          </a:xfrm>
          <a:prstGeom prst="ellipse">
            <a:avLst/>
          </a:prstGeom>
          <a:solidFill>
            <a:srgbClr val="B85042"/>
          </a:solidFill>
          <a:ln/>
        </p:spPr>
      </p:sp>
      <p:sp>
        <p:nvSpPr>
          <p:cNvPr id="17" name="Text 15"/>
          <p:cNvSpPr/>
          <p:nvPr/>
        </p:nvSpPr>
        <p:spPr>
          <a:xfrm>
            <a:off x="548640" y="4919472"/>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097280" y="4828032"/>
            <a:ext cx="10424160" cy="594360"/>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Les rapports financiers sont exportables en PDF et Excel</a:t>
            </a:r>
            <a:endParaRPr lang="en-US" sz="1300" dirty="0"/>
          </a:p>
        </p:txBody>
      </p:sp>
      <p:sp>
        <p:nvSpPr>
          <p:cNvPr id="19" name="Shape 17"/>
          <p:cNvSpPr/>
          <p:nvPr/>
        </p:nvSpPr>
        <p:spPr>
          <a:xfrm>
            <a:off x="548640" y="5669280"/>
            <a:ext cx="365760" cy="365760"/>
          </a:xfrm>
          <a:prstGeom prst="ellipse">
            <a:avLst/>
          </a:prstGeom>
          <a:solidFill>
            <a:srgbClr val="B85042"/>
          </a:solidFill>
          <a:ln/>
        </p:spPr>
      </p:sp>
      <p:sp>
        <p:nvSpPr>
          <p:cNvPr id="20" name="Text 18"/>
          <p:cNvSpPr/>
          <p:nvPr/>
        </p:nvSpPr>
        <p:spPr>
          <a:xfrm>
            <a:off x="548640" y="566928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1097280" y="5577840"/>
            <a:ext cx="10424160" cy="594360"/>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Le code respecte les principes SOLID et est couvert à ≥ 60 % par des tests</a:t>
            </a:r>
            <a:endParaRPr lang="en-US" sz="1300" dirty="0"/>
          </a:p>
        </p:txBody>
      </p:sp>
      <p:sp>
        <p:nvSpPr>
          <p:cNvPr id="22" name="Text 20"/>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À RÉALISER EN ATELIER</a:t>
            </a:r>
            <a:endParaRPr lang="en-US" sz="1300" dirty="0"/>
          </a:p>
        </p:txBody>
      </p:sp>
      <p:sp>
        <p:nvSpPr>
          <p:cNvPr id="3" name="Text 1"/>
          <p:cNvSpPr/>
          <p:nvPr/>
        </p:nvSpPr>
        <p:spPr>
          <a:xfrm>
            <a:off x="548640" y="685800"/>
            <a:ext cx="10515600" cy="822960"/>
          </a:xfrm>
          <a:prstGeom prst="rect">
            <a:avLst/>
          </a:prstGeom>
          <a:noFill/>
          <a:ln/>
        </p:spPr>
        <p:txBody>
          <a:bodyPr wrap="square"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Travail pratique à réaliser</a:t>
            </a:r>
            <a:endParaRPr lang="en-US" sz="3000" dirty="0"/>
          </a:p>
        </p:txBody>
      </p:sp>
      <p:sp>
        <p:nvSpPr>
          <p:cNvPr id="4" name="Shape 2"/>
          <p:cNvSpPr/>
          <p:nvPr/>
        </p:nvSpPr>
        <p:spPr>
          <a:xfrm>
            <a:off x="548640" y="1920240"/>
            <a:ext cx="3520440" cy="3291840"/>
          </a:xfrm>
          <a:prstGeom prst="roundRect">
            <a:avLst>
              <a:gd name="adj" fmla="val 2778"/>
            </a:avLst>
          </a:prstGeom>
          <a:solidFill>
            <a:srgbClr val="E7E8D1"/>
          </a:solidFill>
          <a:ln/>
          <a:effectLst>
            <a:outerShdw blurRad="63500" dist="25400" dir="5400000" algn="bl" rotWithShape="0">
              <a:srgbClr val="000000">
                <a:alpha val="10000"/>
              </a:srgbClr>
            </a:outerShdw>
          </a:effectLst>
        </p:spPr>
      </p:sp>
      <p:sp>
        <p:nvSpPr>
          <p:cNvPr id="5" name="Shape 3"/>
          <p:cNvSpPr/>
          <p:nvPr/>
        </p:nvSpPr>
        <p:spPr>
          <a:xfrm>
            <a:off x="822960" y="2194560"/>
            <a:ext cx="594360" cy="594360"/>
          </a:xfrm>
          <a:prstGeom prst="ellipse">
            <a:avLst/>
          </a:prstGeom>
          <a:solidFill>
            <a:srgbClr val="B85042"/>
          </a:solidFill>
          <a:ln/>
        </p:spPr>
      </p:sp>
      <p:pic>
        <p:nvPicPr>
          <p:cNvPr id="6" name="Image 0" descr="icons/FaFileSignature_white.png"/>
          <p:cNvPicPr>
            <a:picLocks noChangeAspect="1"/>
          </p:cNvPicPr>
          <p:nvPr/>
        </p:nvPicPr>
        <p:blipFill>
          <a:blip r:embed="rId3"/>
          <a:stretch>
            <a:fillRect/>
          </a:stretch>
        </p:blipFill>
        <p:spPr>
          <a:xfrm>
            <a:off x="960120" y="2331720"/>
            <a:ext cx="329184" cy="329184"/>
          </a:xfrm>
          <a:prstGeom prst="rect">
            <a:avLst/>
          </a:prstGeom>
        </p:spPr>
      </p:pic>
      <p:sp>
        <p:nvSpPr>
          <p:cNvPr id="7" name="Text 4"/>
          <p:cNvSpPr/>
          <p:nvPr/>
        </p:nvSpPr>
        <p:spPr>
          <a:xfrm>
            <a:off x="822960" y="2971800"/>
            <a:ext cx="2971800" cy="8229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Rédiger la charte de projet</a:t>
            </a:r>
            <a:endParaRPr lang="en-US" sz="1450" dirty="0"/>
          </a:p>
        </p:txBody>
      </p:sp>
      <p:sp>
        <p:nvSpPr>
          <p:cNvPr id="8" name="Text 5"/>
          <p:cNvSpPr/>
          <p:nvPr/>
        </p:nvSpPr>
        <p:spPr>
          <a:xfrm>
            <a:off x="822960" y="3794760"/>
            <a:ext cx="2971800" cy="1280160"/>
          </a:xfrm>
          <a:prstGeom prst="rect">
            <a:avLst/>
          </a:prstGeom>
          <a:noFill/>
          <a:ln/>
        </p:spPr>
        <p:txBody>
          <a:bodyPr wrap="square" rtlCol="0" anchor="ctr"/>
          <a:lstStyle/>
          <a:p>
            <a:pPr marL="0" indent="0">
              <a:buNone/>
            </a:pPr>
            <a:r>
              <a:rPr lang="en-US" sz="1150" dirty="0">
                <a:solidFill>
                  <a:srgbClr val="6B625D"/>
                </a:solidFill>
                <a:latin typeface="Calibri" pitchFamily="34" charset="0"/>
                <a:ea typeface="Calibri" pitchFamily="34" charset="-122"/>
                <a:cs typeface="Calibri" pitchFamily="34" charset="-120"/>
              </a:rPr>
              <a:t>Pour le cas CoopHabitat : objet, objectifs, périmètre, parties prenantes</a:t>
            </a:r>
            <a:endParaRPr lang="en-US" sz="1150" dirty="0"/>
          </a:p>
        </p:txBody>
      </p:sp>
      <p:sp>
        <p:nvSpPr>
          <p:cNvPr id="9" name="Shape 6"/>
          <p:cNvSpPr/>
          <p:nvPr/>
        </p:nvSpPr>
        <p:spPr>
          <a:xfrm>
            <a:off x="4343400" y="1920240"/>
            <a:ext cx="3520440" cy="3291840"/>
          </a:xfrm>
          <a:prstGeom prst="roundRect">
            <a:avLst>
              <a:gd name="adj" fmla="val 2778"/>
            </a:avLst>
          </a:prstGeom>
          <a:solidFill>
            <a:srgbClr val="DCE8E2"/>
          </a:solidFill>
          <a:ln/>
          <a:effectLst>
            <a:outerShdw blurRad="63500" dist="25400" dir="5400000" algn="bl" rotWithShape="0">
              <a:srgbClr val="000000">
                <a:alpha val="10000"/>
              </a:srgbClr>
            </a:outerShdw>
          </a:effectLst>
        </p:spPr>
      </p:sp>
      <p:sp>
        <p:nvSpPr>
          <p:cNvPr id="10" name="Shape 7"/>
          <p:cNvSpPr/>
          <p:nvPr/>
        </p:nvSpPr>
        <p:spPr>
          <a:xfrm>
            <a:off x="4617720" y="2194560"/>
            <a:ext cx="594360" cy="594360"/>
          </a:xfrm>
          <a:prstGeom prst="ellipse">
            <a:avLst/>
          </a:prstGeom>
          <a:solidFill>
            <a:srgbClr val="B85042"/>
          </a:solidFill>
          <a:ln/>
        </p:spPr>
      </p:sp>
      <p:pic>
        <p:nvPicPr>
          <p:cNvPr id="11" name="Image 1" descr="icons/FaUsers_white.png"/>
          <p:cNvPicPr>
            <a:picLocks noChangeAspect="1"/>
          </p:cNvPicPr>
          <p:nvPr/>
        </p:nvPicPr>
        <p:blipFill>
          <a:blip r:embed="rId4"/>
          <a:stretch>
            <a:fillRect/>
          </a:stretch>
        </p:blipFill>
        <p:spPr>
          <a:xfrm>
            <a:off x="4754880" y="2331720"/>
            <a:ext cx="329184" cy="329184"/>
          </a:xfrm>
          <a:prstGeom prst="rect">
            <a:avLst/>
          </a:prstGeom>
        </p:spPr>
      </p:pic>
      <p:sp>
        <p:nvSpPr>
          <p:cNvPr id="12" name="Text 8"/>
          <p:cNvSpPr/>
          <p:nvPr/>
        </p:nvSpPr>
        <p:spPr>
          <a:xfrm>
            <a:off x="4617720" y="2971800"/>
            <a:ext cx="2971800" cy="8229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Construire la matrice des parties prenantes</a:t>
            </a:r>
            <a:endParaRPr lang="en-US" sz="1450" dirty="0"/>
          </a:p>
        </p:txBody>
      </p:sp>
      <p:sp>
        <p:nvSpPr>
          <p:cNvPr id="13" name="Text 9"/>
          <p:cNvSpPr/>
          <p:nvPr/>
        </p:nvSpPr>
        <p:spPr>
          <a:xfrm>
            <a:off x="4617720" y="3794760"/>
            <a:ext cx="2971800" cy="1280160"/>
          </a:xfrm>
          <a:prstGeom prst="rect">
            <a:avLst/>
          </a:prstGeom>
          <a:noFill/>
          <a:ln/>
        </p:spPr>
        <p:txBody>
          <a:bodyPr wrap="square" rtlCol="0" anchor="ctr"/>
          <a:lstStyle/>
          <a:p>
            <a:pPr marL="0" indent="0">
              <a:buNone/>
            </a:pPr>
            <a:r>
              <a:rPr lang="en-US" sz="1150" dirty="0">
                <a:solidFill>
                  <a:srgbClr val="6B625D"/>
                </a:solidFill>
                <a:latin typeface="Calibri" pitchFamily="34" charset="0"/>
                <a:ea typeface="Calibri" pitchFamily="34" charset="-122"/>
                <a:cs typeface="Calibri" pitchFamily="34" charset="-120"/>
              </a:rPr>
              <a:t>Positionner Président, Trésorier, membres, autorités selon pouvoir/intérêt</a:t>
            </a:r>
            <a:endParaRPr lang="en-US" sz="1150" dirty="0"/>
          </a:p>
        </p:txBody>
      </p:sp>
      <p:sp>
        <p:nvSpPr>
          <p:cNvPr id="14" name="Shape 10"/>
          <p:cNvSpPr/>
          <p:nvPr/>
        </p:nvSpPr>
        <p:spPr>
          <a:xfrm>
            <a:off x="8138160" y="1920240"/>
            <a:ext cx="3520440" cy="3291840"/>
          </a:xfrm>
          <a:prstGeom prst="roundRect">
            <a:avLst>
              <a:gd name="adj" fmla="val 2778"/>
            </a:avLst>
          </a:prstGeom>
          <a:solidFill>
            <a:srgbClr val="E7E8D1"/>
          </a:solidFill>
          <a:ln/>
          <a:effectLst>
            <a:outerShdw blurRad="63500" dist="25400" dir="5400000" algn="bl" rotWithShape="0">
              <a:srgbClr val="000000">
                <a:alpha val="10000"/>
              </a:srgbClr>
            </a:outerShdw>
          </a:effectLst>
        </p:spPr>
      </p:sp>
      <p:sp>
        <p:nvSpPr>
          <p:cNvPr id="15" name="Shape 11"/>
          <p:cNvSpPr/>
          <p:nvPr/>
        </p:nvSpPr>
        <p:spPr>
          <a:xfrm>
            <a:off x="8412480" y="2194560"/>
            <a:ext cx="594360" cy="594360"/>
          </a:xfrm>
          <a:prstGeom prst="ellipse">
            <a:avLst/>
          </a:prstGeom>
          <a:solidFill>
            <a:srgbClr val="B85042"/>
          </a:solidFill>
          <a:ln/>
        </p:spPr>
      </p:sp>
      <p:pic>
        <p:nvPicPr>
          <p:cNvPr id="16" name="Image 2" descr="icons/FaBalanceScale_white.png"/>
          <p:cNvPicPr>
            <a:picLocks noChangeAspect="1"/>
          </p:cNvPicPr>
          <p:nvPr/>
        </p:nvPicPr>
        <p:blipFill>
          <a:blip r:embed="rId5"/>
          <a:stretch>
            <a:fillRect/>
          </a:stretch>
        </p:blipFill>
        <p:spPr>
          <a:xfrm>
            <a:off x="8549640" y="2331720"/>
            <a:ext cx="329184" cy="329184"/>
          </a:xfrm>
          <a:prstGeom prst="rect">
            <a:avLst/>
          </a:prstGeom>
        </p:spPr>
      </p:pic>
      <p:sp>
        <p:nvSpPr>
          <p:cNvPr id="17" name="Text 12"/>
          <p:cNvSpPr/>
          <p:nvPr/>
        </p:nvSpPr>
        <p:spPr>
          <a:xfrm>
            <a:off x="8412480" y="2971800"/>
            <a:ext cx="2971800" cy="822960"/>
          </a:xfrm>
          <a:prstGeom prst="rect">
            <a:avLst/>
          </a:prstGeom>
          <a:noFill/>
          <a:ln/>
        </p:spPr>
        <p:txBody>
          <a:bodyPr wrap="square" rtlCol="0" anchor="ctr"/>
          <a:lstStyle/>
          <a:p>
            <a:pPr marL="0" indent="0">
              <a:buNone/>
            </a:pPr>
            <a:r>
              <a:rPr lang="en-US" sz="1450" b="1" dirty="0">
                <a:solidFill>
                  <a:srgbClr val="3A2E28"/>
                </a:solidFill>
                <a:latin typeface="Calibri" pitchFamily="34" charset="0"/>
                <a:ea typeface="Calibri" pitchFamily="34" charset="-122"/>
                <a:cs typeface="Calibri" pitchFamily="34" charset="-120"/>
              </a:rPr>
              <a:t>Identifier contraintes et hypothèses</a:t>
            </a:r>
            <a:endParaRPr lang="en-US" sz="1450" dirty="0"/>
          </a:p>
        </p:txBody>
      </p:sp>
      <p:sp>
        <p:nvSpPr>
          <p:cNvPr id="18" name="Text 13"/>
          <p:cNvSpPr/>
          <p:nvPr/>
        </p:nvSpPr>
        <p:spPr>
          <a:xfrm>
            <a:off x="8412480" y="3794760"/>
            <a:ext cx="2971800" cy="1280160"/>
          </a:xfrm>
          <a:prstGeom prst="rect">
            <a:avLst/>
          </a:prstGeom>
          <a:noFill/>
          <a:ln/>
        </p:spPr>
        <p:txBody>
          <a:bodyPr wrap="square" rtlCol="0" anchor="ctr"/>
          <a:lstStyle/>
          <a:p>
            <a:pPr marL="0" indent="0">
              <a:buNone/>
            </a:pPr>
            <a:r>
              <a:rPr lang="en-US" sz="1150" dirty="0">
                <a:solidFill>
                  <a:srgbClr val="6B625D"/>
                </a:solidFill>
                <a:latin typeface="Calibri" pitchFamily="34" charset="0"/>
                <a:ea typeface="Calibri" pitchFamily="34" charset="-122"/>
                <a:cs typeface="Calibri" pitchFamily="34" charset="-120"/>
              </a:rPr>
              <a:t>Techniques, financières, réglementaires et organisationnelles du projet</a:t>
            </a:r>
            <a:endParaRPr lang="en-US" sz="1150" dirty="0"/>
          </a:p>
        </p:txBody>
      </p:sp>
      <p:sp>
        <p:nvSpPr>
          <p:cNvPr id="19" name="Text 14"/>
          <p:cNvSpPr/>
          <p:nvPr/>
        </p:nvSpPr>
        <p:spPr>
          <a:xfrm>
            <a:off x="11503152" y="6400800"/>
            <a:ext cx="457200" cy="274320"/>
          </a:xfrm>
          <a:prstGeom prst="rect">
            <a:avLst/>
          </a:prstGeom>
          <a:noFill/>
          <a:ln/>
        </p:spPr>
        <p:txBody>
          <a:bodyPr wrap="square" rtlCol="0" anchor="ctr"/>
          <a:lstStyle/>
          <a:p>
            <a:pPr marL="0" indent="0" algn="r">
              <a:buNone/>
            </a:pPr>
            <a:r>
              <a:rPr lang="en-US" sz="1000" dirty="0">
                <a:solidFill>
                  <a:srgbClr val="6B625D"/>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1208</Words>
  <Application>Microsoft Office PowerPoint</Application>
  <PresentationFormat>Grand écran</PresentationFormat>
  <Paragraphs>244</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Thème 2 – Cadrage et Initialisation du Projet</dc:title>
  <dc:subject>PptxGenJS Presentation</dc:subject>
  <dc:creator>Cours Gestion de Projet</dc:creator>
  <cp:lastModifiedBy>bmd tech</cp:lastModifiedBy>
  <cp:revision>2</cp:revision>
  <dcterms:created xsi:type="dcterms:W3CDTF">2026-07-06T16:35:41Z</dcterms:created>
  <dcterms:modified xsi:type="dcterms:W3CDTF">2026-07-20T07:58:47Z</dcterms:modified>
</cp:coreProperties>
</file>