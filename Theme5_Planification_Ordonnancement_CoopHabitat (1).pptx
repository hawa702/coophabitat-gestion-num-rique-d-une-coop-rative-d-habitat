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06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5 / 14 · </a:t>
            </a:r>
            <a:r>
              <a:rPr lang="en-US" sz="1300" b="1" kern="0" spc="3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 </a:t>
            </a:r>
            <a:r>
              <a:rPr lang="en-US" sz="1300" b="1" u="sng" kern="0" spc="3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r>
              <a:rPr lang="en-US" sz="1300" b="1" u="sng" kern="0" spc="3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</a:t>
            </a:r>
            <a:endParaRPr lang="en-US" sz="1300" b="1" u="sng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Thème 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Planification et Ordonnancement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2743200" cy="502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découpage du travail (WBS) au pilotage des délais : Gantt, PERT et chemin critique appliqués au développement de </a:t>
            </a:r>
            <a:r>
              <a:rPr lang="en-US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</a:t>
            </a:r>
            <a:r>
              <a:rPr lang="en-US" sz="15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5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i="1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11: 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Coumbel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Abdourahmane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Diaw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Ousmane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Niang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Hawa Diallo,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Abib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Traore</a:t>
            </a:r>
            <a:endParaRPr lang="en-US" sz="14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/home/claude/pptx_project/icon_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02005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4892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0" y="4892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ptx_project/icon_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502005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4892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projet : Spring Boot · Angular · PostgreSQL · Jasper Reports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de découpage du travail au pilotage des risques de délai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691640"/>
            <a:ext cx="5394960" cy="448056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THÉORIQUE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: décomposition du travail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Gantt : construction &amp; lecture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PERT : réseau de tâches &amp; marges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critique (CPM) &amp; tâches critiques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entre tâches : FS, SS, FF, SF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PRATIQUE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d'un WBS – projet logiciel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Gantt (GanttProject / Monday)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chemin critique par la méthode PERT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▶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d'impact d'un retard sur le 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WBS — Work Breakdown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Décomposer le projet en lots de travail gérables et estimables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44348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project/icon_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hiérarchique et arborescent du produit livrable en lots, puis en lots de travail, jusqu'au niveau de la tâche.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des 100% : la somme des sous-niveaux = le niveau parent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lot est unique, mesurable et attribuable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détail suffisant pour estimer charge &amp; délai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1645920"/>
            <a:ext cx="6537960" cy="443484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0" y="1783080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— WBS CoopHabitat (extrait)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92340" y="2286000"/>
            <a:ext cx="20116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729234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98180" y="2743200"/>
            <a:ext cx="0" cy="502920"/>
          </a:xfrm>
          <a:prstGeom prst="line">
            <a:avLst/>
          </a:prstGeom>
          <a:noFill/>
          <a:ln w="12700">
            <a:solidFill>
              <a:srgbClr val="3D5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03520" y="3246120"/>
            <a:ext cx="1417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0" y="3246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Membres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298180" y="2743200"/>
            <a:ext cx="0" cy="502920"/>
          </a:xfrm>
          <a:prstGeom prst="line">
            <a:avLst/>
          </a:prstGeom>
          <a:noFill/>
          <a:ln w="12700">
            <a:solidFill>
              <a:srgbClr val="3D5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27520" y="3246120"/>
            <a:ext cx="1417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6827520" y="3246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Gestion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lots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98180" y="2743200"/>
            <a:ext cx="762000" cy="502920"/>
          </a:xfrm>
          <a:prstGeom prst="line">
            <a:avLst/>
          </a:prstGeom>
          <a:noFill/>
          <a:ln w="12700">
            <a:solidFill>
              <a:srgbClr val="3D5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51520" y="3246120"/>
            <a:ext cx="1417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8351520" y="3246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Espace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298180" y="2743200"/>
            <a:ext cx="2286000" cy="502920"/>
          </a:xfrm>
          <a:prstGeom prst="line">
            <a:avLst/>
          </a:prstGeom>
          <a:noFill/>
          <a:ln w="12700">
            <a:solidFill>
              <a:srgbClr val="3D5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75520" y="3246120"/>
            <a:ext cx="14173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2"/>
          <p:cNvSpPr/>
          <p:nvPr/>
        </p:nvSpPr>
        <p:spPr>
          <a:xfrm>
            <a:off x="9875520" y="3246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Comptabilité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12180" y="3840480"/>
            <a:ext cx="0" cy="320040"/>
          </a:xfrm>
          <a:prstGeom prst="line">
            <a:avLst/>
          </a:prstGeom>
          <a:noFill/>
          <a:ln w="12700">
            <a:solidFill>
              <a:srgbClr val="3D5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03520" y="4160520"/>
            <a:ext cx="12344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0" y="4160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012180" y="3840480"/>
            <a:ext cx="1252728" cy="320040"/>
          </a:xfrm>
          <a:prstGeom prst="line">
            <a:avLst/>
          </a:prstGeom>
          <a:noFill/>
          <a:ln w="12700">
            <a:solidFill>
              <a:srgbClr val="3D5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47688" y="4160520"/>
            <a:ext cx="12344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8"/>
          <p:cNvSpPr/>
          <p:nvPr/>
        </p:nvSpPr>
        <p:spPr>
          <a:xfrm>
            <a:off x="6647688" y="4160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012180" y="3840480"/>
            <a:ext cx="2596896" cy="320040"/>
          </a:xfrm>
          <a:prstGeom prst="line">
            <a:avLst/>
          </a:prstGeom>
          <a:noFill/>
          <a:ln w="12700">
            <a:solidFill>
              <a:srgbClr val="3D5A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91856" y="4160520"/>
            <a:ext cx="12344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Text 31"/>
          <p:cNvSpPr/>
          <p:nvPr/>
        </p:nvSpPr>
        <p:spPr>
          <a:xfrm>
            <a:off x="7991856" y="4160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303520" y="5349240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 : Projet · Niveau 1 : Lots · Niveau 2 : Lots de travail · Niveau 3 : Tâches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Gantt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visuelle du planning : tâches, durées et enchaînements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749040" cy="44348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le lire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abscisse : </a:t>
            </a: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l'échelle de temps (jours, semaines)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ordonnée : </a:t>
            </a: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des tâches du WBS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barre : </a:t>
            </a: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durée de la tâche, positionnée sur le calendrier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flèche : </a:t>
            </a: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dépendance entre deux tâches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Losange : </a:t>
            </a:r>
            <a:r>
              <a:rPr lang="en-US" sz="11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jalon (livraison, décision)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6995160" cy="443484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simplifié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769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2606040"/>
            <a:ext cx="0" cy="2267712"/>
          </a:xfrm>
          <a:prstGeom prst="line">
            <a:avLst/>
          </a:prstGeom>
          <a:noFill/>
          <a:ln w="9525">
            <a:solidFill>
              <a:srgbClr val="1E4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4740" y="2286000"/>
            <a:ext cx="769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44740" y="2606040"/>
            <a:ext cx="0" cy="2267712"/>
          </a:xfrm>
          <a:prstGeom prst="line">
            <a:avLst/>
          </a:prstGeom>
          <a:noFill/>
          <a:ln w="9525">
            <a:solidFill>
              <a:srgbClr val="1E4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4360" y="2286000"/>
            <a:ext cx="769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14360" y="2606040"/>
            <a:ext cx="0" cy="2267712"/>
          </a:xfrm>
          <a:prstGeom prst="line">
            <a:avLst/>
          </a:prstGeom>
          <a:noFill/>
          <a:ln w="9525">
            <a:solidFill>
              <a:srgbClr val="1E4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3980" y="2286000"/>
            <a:ext cx="769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83980" y="2606040"/>
            <a:ext cx="0" cy="2267712"/>
          </a:xfrm>
          <a:prstGeom prst="line">
            <a:avLst/>
          </a:prstGeom>
          <a:noFill/>
          <a:ln w="9525">
            <a:solidFill>
              <a:srgbClr val="1E4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3600" y="2286000"/>
            <a:ext cx="769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53600" y="2606040"/>
            <a:ext cx="0" cy="2267712"/>
          </a:xfrm>
          <a:prstGeom prst="line">
            <a:avLst/>
          </a:prstGeom>
          <a:noFill/>
          <a:ln w="9525">
            <a:solidFill>
              <a:srgbClr val="1E4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23220" y="2286000"/>
            <a:ext cx="769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23220" y="2606040"/>
            <a:ext cx="0" cy="2267712"/>
          </a:xfrm>
          <a:prstGeom prst="line">
            <a:avLst/>
          </a:prstGeom>
          <a:noFill/>
          <a:ln w="9525">
            <a:solidFill>
              <a:srgbClr val="1E45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92840" y="2606040"/>
            <a:ext cx="0" cy="2267712"/>
          </a:xfrm>
          <a:prstGeom prst="line">
            <a:avLst/>
          </a:prstGeom>
          <a:noFill/>
          <a:ln w="9525">
            <a:solidFill>
              <a:srgbClr val="1E4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060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WBS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02552" y="2715768"/>
            <a:ext cx="714756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1729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Dév. module cotisation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72172" y="3282696"/>
            <a:ext cx="2253996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7398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Dév. module lots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41792" y="3849624"/>
            <a:ext cx="2253996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30682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recette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781032" y="4416552"/>
            <a:ext cx="1484376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11155680" y="4462272"/>
            <a:ext cx="274320" cy="274320"/>
          </a:xfrm>
          <a:prstGeom prst="diamond">
            <a:avLst/>
          </a:prstGeom>
          <a:solidFill>
            <a:srgbClr val="E0722F"/>
          </a:solidFill>
          <a:ln/>
        </p:spPr>
      </p:sp>
      <p:sp>
        <p:nvSpPr>
          <p:cNvPr id="35" name="Text 33"/>
          <p:cNvSpPr/>
          <p:nvPr/>
        </p:nvSpPr>
        <p:spPr>
          <a:xfrm>
            <a:off x="10835640" y="4782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PERT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Evaluation and Review Technique — réseau de tâches et calcul des marges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44348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d'une tâche PERT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468880"/>
            <a:ext cx="20116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474720"/>
            <a:ext cx="20116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468880"/>
            <a:ext cx="0" cy="20116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468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3474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</a:t>
            </a: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Date de début au plus tôt
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 </a:t>
            </a: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Date de début au plus tard
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DTA − DTO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6537960" cy="443484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Réseau de tâches (extrait)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3634740"/>
            <a:ext cx="7772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37960" y="3634740"/>
            <a:ext cx="777240" cy="82296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66760" y="2994660"/>
            <a:ext cx="960120" cy="64008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66760" y="4457700"/>
            <a:ext cx="96012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378440" y="3634740"/>
            <a:ext cx="50292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3108960"/>
            <a:ext cx="1051560" cy="1051560"/>
          </a:xfrm>
          <a:prstGeom prst="rect">
            <a:avLst/>
          </a:prstGeom>
          <a:solidFill>
            <a:srgbClr val="0F3B3D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108960"/>
            <a:ext cx="1051560" cy="683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3792474"/>
            <a:ext cx="105156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3j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0" y="2468880"/>
            <a:ext cx="1051560" cy="1051560"/>
          </a:xfrm>
          <a:prstGeom prst="rect">
            <a:avLst/>
          </a:prstGeom>
          <a:solidFill>
            <a:srgbClr val="0F3B3D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468880"/>
            <a:ext cx="1051560" cy="683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3152394"/>
            <a:ext cx="105156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2j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0" y="3931920"/>
            <a:ext cx="1051560" cy="1051560"/>
          </a:xfrm>
          <a:prstGeom prst="rect">
            <a:avLst/>
          </a:prstGeom>
          <a:solidFill>
            <a:srgbClr val="0F3B3D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3931920"/>
            <a:ext cx="1051560" cy="683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4615434"/>
            <a:ext cx="105156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4j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326880" y="3108960"/>
            <a:ext cx="1051560" cy="1051560"/>
          </a:xfrm>
          <a:prstGeom prst="rect">
            <a:avLst/>
          </a:prstGeom>
          <a:solidFill>
            <a:srgbClr val="0F3B3D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3108960"/>
            <a:ext cx="1051560" cy="683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Dév. API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0" y="3792474"/>
            <a:ext cx="105156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6j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881360" y="3108960"/>
            <a:ext cx="1051560" cy="1051560"/>
          </a:xfrm>
          <a:prstGeom prst="rect">
            <a:avLst/>
          </a:prstGeom>
          <a:solidFill>
            <a:srgbClr val="0F3B3D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81360" y="3108960"/>
            <a:ext cx="1051560" cy="683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81360" y="3792474"/>
            <a:ext cx="105156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3j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Chemin critique (CPM)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Method — la séquence de tâches qui détermine la durée totale du projet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9202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project/icon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long chemin possible à travers le réseau de tâches, du début à la fin du projet.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611880" cy="19202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_project/icon_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0025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 nulle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468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tâche critique a une marge totale de 0 : aucun retard n'est possible sans décaler la fin du projet.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45920"/>
            <a:ext cx="3611880" cy="19202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x_project/icon_hourg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0025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Priorité de pilotage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468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chef de projet concentre sa surveillance sur les tâches critiques, source de risque de délai.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11018520" cy="274320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Chemin critique du réseau A → C → D → E (13 jours)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965960" y="5280660"/>
            <a:ext cx="1691640" cy="0"/>
          </a:xfrm>
          <a:prstGeom prst="line">
            <a:avLst/>
          </a:prstGeom>
          <a:noFill/>
          <a:ln w="15875">
            <a:solidFill>
              <a:srgbClr val="3D5A5C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1965960" y="5280660"/>
            <a:ext cx="1691640" cy="502920"/>
          </a:xfrm>
          <a:prstGeom prst="line">
            <a:avLst/>
          </a:prstGeom>
          <a:noFill/>
          <a:ln w="31750">
            <a:solidFill>
              <a:srgbClr val="E0722F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4526280" y="4777740"/>
            <a:ext cx="1691640" cy="502920"/>
          </a:xfrm>
          <a:prstGeom prst="line">
            <a:avLst/>
          </a:prstGeom>
          <a:noFill/>
          <a:ln w="15875">
            <a:solidFill>
              <a:srgbClr val="3D5A5C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4526280" y="5783580"/>
            <a:ext cx="1691640" cy="0"/>
          </a:xfrm>
          <a:prstGeom prst="line">
            <a:avLst/>
          </a:prstGeom>
          <a:noFill/>
          <a:ln w="31750">
            <a:solidFill>
              <a:srgbClr val="E0722F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086600" y="5280660"/>
            <a:ext cx="1691640" cy="0"/>
          </a:xfrm>
          <a:prstGeom prst="line">
            <a:avLst/>
          </a:prstGeom>
          <a:noFill/>
          <a:ln w="31750">
            <a:solidFill>
              <a:srgbClr val="E0722F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1097280" y="4846320"/>
            <a:ext cx="868680" cy="868680"/>
          </a:xfrm>
          <a:prstGeom prst="rect">
            <a:avLst/>
          </a:prstGeom>
          <a:solidFill>
            <a:srgbClr val="E0722F"/>
          </a:solidFill>
          <a:ln w="19050">
            <a:solidFill>
              <a:srgbClr val="E0722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97280" y="48463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657600" y="4343400"/>
            <a:ext cx="868680" cy="868680"/>
          </a:xfrm>
          <a:prstGeom prst="rect">
            <a:avLst/>
          </a:prstGeom>
          <a:solidFill>
            <a:srgbClr val="0F3B3D"/>
          </a:solidFill>
          <a:ln w="19050">
            <a:solidFill>
              <a:srgbClr val="3D5A5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657600" y="43434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3657600" y="5349240"/>
            <a:ext cx="868680" cy="868680"/>
          </a:xfrm>
          <a:prstGeom prst="rect">
            <a:avLst/>
          </a:prstGeom>
          <a:solidFill>
            <a:srgbClr val="E0722F"/>
          </a:solidFill>
          <a:ln w="19050">
            <a:solidFill>
              <a:srgbClr val="E0722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657600" y="53492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217920" y="4846320"/>
            <a:ext cx="868680" cy="868680"/>
          </a:xfrm>
          <a:prstGeom prst="rect">
            <a:avLst/>
          </a:prstGeom>
          <a:solidFill>
            <a:srgbClr val="E0722F"/>
          </a:solidFill>
          <a:ln w="19050">
            <a:solidFill>
              <a:srgbClr val="E0722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17920" y="48463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8778240" y="4846320"/>
            <a:ext cx="868680" cy="868680"/>
          </a:xfrm>
          <a:prstGeom prst="rect">
            <a:avLst/>
          </a:prstGeom>
          <a:solidFill>
            <a:srgbClr val="E0722F"/>
          </a:solidFill>
          <a:ln w="19050">
            <a:solidFill>
              <a:srgbClr val="E0722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778240" y="48463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68680" y="6195060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orange : le chemin critique — tout retard ici retarde la livraison de CoopHabitat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dépendances entre tâches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de liens logiques entre deux tâches A et 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24612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8229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→ Début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1188720" cy="2926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3520440"/>
            <a:ext cx="1005840" cy="2926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233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démarre quand A se termine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697480" cy="324612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3592" y="1920240"/>
            <a:ext cx="8229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Début → Début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93592" y="3063240"/>
            <a:ext cx="14630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3593592" y="3520440"/>
            <a:ext cx="10058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40233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démarre quand A démarre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1344" y="1691640"/>
            <a:ext cx="2697480" cy="324612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1920240"/>
            <a:ext cx="8229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→ Fin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9944" y="3063240"/>
            <a:ext cx="10058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6775704" y="3520440"/>
            <a:ext cx="15544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9944" y="40233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se termine quand A se termine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97696" y="1691640"/>
            <a:ext cx="2697480" cy="324612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9226296" y="1920240"/>
            <a:ext cx="8229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226296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26296" y="2514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Début → Fin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003536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7A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26296" y="3520440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7A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40233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se termine quand A démarre (rare)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166360"/>
            <a:ext cx="11018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CoopHabitat — cas le plus fréquent : 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Développer l'API cotisation » (FS) « Tester l'API » — la relation </a:t>
            </a: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→ Début</a:t>
            </a:r>
            <a:r>
              <a:rPr lang="en-US" sz="12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domine largement un planning de développement logiciel.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pratique — WBS du projet CoopHabitat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 4 lots majeurs, alignés sur le cahier des charges fonctionnel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Membres &amp; cotisations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97480" cy="28346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2316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rôles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cotisation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PDF automatique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974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Gestion des lots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2286000"/>
            <a:ext cx="2697480" cy="28346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42316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terrain/logement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d'attribution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signé numériquement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bénéficiaire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9748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Espace membre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286000"/>
            <a:ext cx="2697480" cy="28346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242316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membre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paiements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officiels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offline partiel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97696" y="1645920"/>
            <a:ext cx="2697480" cy="548640"/>
          </a:xfrm>
          <a:prstGeom prst="rect">
            <a:avLst/>
          </a:prstGeom>
          <a:solidFill>
            <a:srgbClr val="046A73"/>
          </a:solidFill>
          <a:ln/>
        </p:spPr>
      </p:sp>
      <p:sp>
        <p:nvSpPr>
          <p:cNvPr id="17" name="Text 15"/>
          <p:cNvSpPr/>
          <p:nvPr/>
        </p:nvSpPr>
        <p:spPr>
          <a:xfrm>
            <a:off x="9089136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Comptabilité &amp; AG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86000"/>
            <a:ext cx="2697480" cy="283464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9" name="Text 17"/>
          <p:cNvSpPr/>
          <p:nvPr/>
        </p:nvSpPr>
        <p:spPr>
          <a:xfrm>
            <a:off x="9180576" y="2423160"/>
            <a:ext cx="2331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prévisionnel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financier PDF/Excel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Convocation AG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rendus publiés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(non détaillé ici) : chaque item se décline en User Stories estimées, alimentant directement le Sprint Backlog (cf. Thème 4).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Gantt — Planning CoopHabitat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GanttProject / Monday.com — 10 semaines de développement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0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0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14216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14216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28032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41848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41848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55664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83296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97112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897112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0928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710928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24744" y="1536192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24744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38560" y="1828800"/>
            <a:ext cx="0" cy="3364992"/>
          </a:xfrm>
          <a:prstGeom prst="line">
            <a:avLst/>
          </a:prstGeom>
          <a:noFill/>
          <a:ln w="6350">
            <a:solidFill>
              <a:srgbClr val="1E45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1828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&amp; cadrage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18688" y="1883664"/>
            <a:ext cx="777240" cy="31089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Text 25"/>
          <p:cNvSpPr/>
          <p:nvPr/>
        </p:nvSpPr>
        <p:spPr>
          <a:xfrm>
            <a:off x="548640" y="224942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+ rôles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32504" y="2304288"/>
            <a:ext cx="1184148" cy="3108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670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cotisations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39412" y="2724912"/>
            <a:ext cx="1997964" cy="310896"/>
          </a:xfrm>
          <a:prstGeom prst="rect">
            <a:avLst/>
          </a:prstGeom>
          <a:solidFill>
            <a:srgbClr val="E0722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0906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PDF &amp; Mobile Money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67044" y="3145536"/>
            <a:ext cx="1184148" cy="310896"/>
          </a:xfrm>
          <a:prstGeom prst="rect">
            <a:avLst/>
          </a:prstGeom>
          <a:solidFill>
            <a:srgbClr val="E0722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51129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gestion des lots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566160"/>
            <a:ext cx="1997964" cy="3108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93192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membre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87768" y="3986784"/>
            <a:ext cx="159105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35254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&amp; AG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94676" y="4407408"/>
            <a:ext cx="1591056" cy="3108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7731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recette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322308" y="4828032"/>
            <a:ext cx="1184148" cy="310896"/>
          </a:xfrm>
          <a:prstGeom prst="rect">
            <a:avLst/>
          </a:prstGeom>
          <a:solidFill>
            <a:srgbClr val="E0722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1937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(Render)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543032" y="5248656"/>
            <a:ext cx="777240" cy="310896"/>
          </a:xfrm>
          <a:prstGeom prst="rect">
            <a:avLst/>
          </a:prstGeom>
          <a:solidFill>
            <a:srgbClr val="E0722F"/>
          </a:solidFill>
          <a:ln/>
        </p:spPr>
      </p:sp>
      <p:sp>
        <p:nvSpPr>
          <p:cNvPr id="43" name="Shape 41"/>
          <p:cNvSpPr/>
          <p:nvPr/>
        </p:nvSpPr>
        <p:spPr>
          <a:xfrm>
            <a:off x="3154680" y="5330952"/>
            <a:ext cx="128016" cy="128016"/>
          </a:xfrm>
          <a:prstGeom prst="ellipse">
            <a:avLst/>
          </a:prstGeom>
          <a:solidFill>
            <a:srgbClr val="E0722F"/>
          </a:solidFill>
          <a:ln/>
        </p:spPr>
      </p:sp>
      <p:sp>
        <p:nvSpPr>
          <p:cNvPr id="44" name="Text 42"/>
          <p:cNvSpPr/>
          <p:nvPr/>
        </p:nvSpPr>
        <p:spPr>
          <a:xfrm>
            <a:off x="3364992" y="5239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sur le chemin critique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 du chemin critique — méthode PERT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calcul appliquées au lot « Module cotisations 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50292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0" y="1691640"/>
            <a:ext cx="1005840" cy="50292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1737360" cy="50292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691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Prédécesseur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1691640"/>
            <a:ext cx="1005840" cy="50292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1691640"/>
            <a:ext cx="1005840" cy="50292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0" y="1691640"/>
            <a:ext cx="1005840" cy="50292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16916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3291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945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Spécifier US cotisation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2194560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194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2j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173736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945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194560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194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2194560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194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194560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19456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2670048"/>
            <a:ext cx="3291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– Dév. saisie paiement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670048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26700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5j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670048"/>
            <a:ext cx="173736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6700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2670048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6700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0" y="2670048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26700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95360" y="2670048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26700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3145536"/>
            <a:ext cx="3291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14553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– Dév. génération reçu PDF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0" y="3145536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314553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3j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14553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14553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3145536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314553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89520" y="3145536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314553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95360" y="3145536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314553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3621024"/>
            <a:ext cx="3291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62102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– Intégration Mobile Money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840480" y="3621024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0" y="36210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4j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46320" y="3621024"/>
            <a:ext cx="173736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62102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83680" y="3621024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36210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589520" y="3621024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36210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595360" y="3621024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36210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4096512"/>
            <a:ext cx="3291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09651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– Tests &amp; recette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840480" y="4096512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31920" y="40965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2j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846320" y="4096512"/>
            <a:ext cx="173736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0" y="40965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583680" y="4096512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75120" y="40965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589520" y="4096512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80960" y="40965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595360" y="4096512"/>
            <a:ext cx="1005840" cy="475488"/>
          </a:xfrm>
          <a:prstGeom prst="rect">
            <a:avLst/>
          </a:prstGeom>
          <a:solidFill>
            <a:srgbClr val="FCE9DE"/>
          </a:solidFill>
          <a:ln w="6350">
            <a:solidFill>
              <a:srgbClr val="E3EE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86800" y="40965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48640" y="4800600"/>
            <a:ext cx="9052560" cy="105156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77" name="Text 75"/>
          <p:cNvSpPr/>
          <p:nvPr/>
        </p:nvSpPr>
        <p:spPr>
          <a:xfrm>
            <a:off x="777240" y="480060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critique : </a:t>
            </a:r>
            <a:r>
              <a:rPr lang="en-US" sz="1150" b="1" dirty="0">
                <a:solidFill>
                  <a:srgbClr val="E07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D → E </a:t>
            </a:r>
            <a:r>
              <a:rPr lang="en-US" sz="11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(durée totale = 13 jours). La tâche C dispose d'une marge de 2 jours : elle peut démarrer plus tard sans impacter la date de livraison.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d'impact d'un retard sur le planning global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une tâche critique glisse 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18520" cy="137160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E0722F"/>
          </a:solidFill>
          <a:ln/>
        </p:spPr>
      </p:sp>
      <p:pic>
        <p:nvPicPr>
          <p:cNvPr id="6" name="Image 0" descr="/home/claude/pptx_project/icon_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311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Retard sur tâche critique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24028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« Intégration Mobile Money » glisse de 3 jours.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00200" y="258775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direct : la date de livraison de CoopHabitat recule de 3 jours (marge = 0).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1018520" cy="1371600"/>
          </a:xfrm>
          <a:prstGeom prst="rect">
            <a:avLst/>
          </a:prstGeom>
          <a:solidFill>
            <a:srgbClr val="F2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36576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pptx_project/icon_hour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856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Retard sur tâche non critique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00200" y="37947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« Génération reçu PDF » glisse de 2 jours (marge disponible).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600200" y="4142232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impact sur la fin du projet tant que le retard reste ≤ marge (2j).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892040"/>
            <a:ext cx="11018520" cy="1325880"/>
          </a:xfrm>
          <a:prstGeom prst="rect">
            <a:avLst/>
          </a:prstGeom>
          <a:solidFill>
            <a:srgbClr val="0B2E30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5056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Leviers d'action du chef de projet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22960" y="53949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Réaffecter des ressources vers la tâche critique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Paralléliser des sous-tâches si possible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Renégocier le périmètre (MoSCoW) avec le Product Owner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5 – Planification et Ordonnancement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WBS structure le travail,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Gantt le rend visible,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PERT/CPM révèle ce qui pilote vraiment le délai.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CoopHabitat, la vigilance doit porter en priorité sur le chemin critique A → B → D → E : cotisations, paiement Mobile Money et recette.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1176</Words>
  <Application>Microsoft Office PowerPoint</Application>
  <PresentationFormat>Grand écran</PresentationFormat>
  <Paragraphs>252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bmd tech</cp:lastModifiedBy>
  <cp:revision>4</cp:revision>
  <dcterms:created xsi:type="dcterms:W3CDTF">2026-07-13T22:55:02Z</dcterms:created>
  <dcterms:modified xsi:type="dcterms:W3CDTF">2026-07-20T08:03:11Z</dcterms:modified>
</cp:coreProperties>
</file>