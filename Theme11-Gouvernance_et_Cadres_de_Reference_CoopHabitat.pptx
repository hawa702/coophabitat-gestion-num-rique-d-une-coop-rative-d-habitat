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d5e0cb0c-2463-5a3e-17e0-fc7dbb8959fc}">
          <p14:sldIdLst>
            <p14:sldId id="256"/>
            <p14:sldId id="257"/>
          </p14:sldIdLst>
        </p14:section>
        <p14:section name="Partie théorique" id="{5ba790a7-5606-2151-5439-79e124f69633}">
          <p14:sldIdLst>
            <p14:sldId id="258"/>
            <p14:sldId id="259"/>
            <p14:sldId id="260"/>
            <p14:sldId id="261"/>
            <p14:sldId id="262"/>
          </p14:sldIdLst>
        </p14:section>
        <p14:section name="Partie pratique" id="{57bb2bd7-8ea1-e8f7-620c-93eb3fbd22ca}">
          <p14:sldIdLst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Conclusion" id="{ae695d0e-f5b3-0997-0b7d-3b78f389ee69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Thème 11 : les grands référentiels de gestion de projet et le choix d'une gouvernance adaptée à CoopHabitat.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 notions théoriques, puis leur application à CoopHabitat.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PMBOK croise cinq groupes de processus et dix domaines de connaissance.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PRINCE2 est une méthode structurée, centrée sur la justification économique et la gestion par étapes.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ITIL gère les services en exploitation. Il devient utile après la mise en production de CoopHabitat.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PMO peut soutenir, contrôler ou diriger les projets, selon l'organisation.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Quatre certifications courantes, du niveau débutant au niveau expérimenté.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référentiel répond à une question différente : savoir, gouverner, exploiter, livrer.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 contraintes du projet CoopHabitat qui orientent le choix du cadre.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Nous combinons Scrum, un PRINCE2 allégé, le PMBOK comme vocabulaire et un ITIL allégé après le lancement.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rôles PRINCE2 du comité de direction du projet sont tenus par les acteurs de la coopérative et de l'équipe.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Nos livrables couvrent les cinq groupes de processus.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domaine de connaissance correspond à un ou deux thèmes du portfolio ; les approvisionnements sont le point le plus faible.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Quatre messages à retenir.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 aux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Thème 11 — Gouvernance et Cadres de Référence · CoopHabitat · Groupe 11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A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2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011680"/>
            <a:ext cx="10241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657600"/>
            <a:ext cx="85039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i="1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0B2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737360"/>
            <a:ext cx="102412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A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écor haut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chemeClr val="accent1">
              <a:alpha val="30000"/>
            </a:schemeClr>
          </a:solidFill>
          <a:ln/>
        </p:spPr>
      </p:sp>
      <p:sp>
        <p:nvSpPr>
          <p:cNvPr id="3" name="Décor bas"/>
          <p:cNvSpPr/>
          <p:nvPr/>
        </p:nvSpPr>
        <p:spPr>
          <a:xfrm>
            <a:off x="-1280160" y="4937760"/>
            <a:ext cx="3657600" cy="3657600"/>
          </a:xfrm>
          <a:prstGeom prst="ellipse">
            <a:avLst/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4" name="Eyebrow"/>
          <p:cNvSpPr txBox="1"/>
          <p:nvPr/>
        </p:nvSpPr>
        <p:spPr>
          <a:xfrm>
            <a:off x="822960" y="1280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THÈME 11 · PROJET COOPHABITAT</a:t>
            </a:r>
            <a:endParaRPr lang="en-US" sz="1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822960" y="201168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Gouvernance, Cadres de Référence et Certifications</a:t>
            </a:r>
            <a:endParaRPr lang="en-US" sz="40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822960" y="36576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accent6"/>
                </a:solidFill>
              </a:rPr>
              <a:t>PMBOK, PRINCE2, ITIL et PMO : quel cadre de gouvernance pour la plateforme de gestion numérique d'une coopérative d'habitat ?</a:t>
            </a:r>
            <a:endParaRPr lang="en-US" sz="1800" dirty="0"/>
          </a:p>
        </p:txBody>
      </p:sp>
      <p:sp>
        <p:nvSpPr>
          <p:cNvPr id="7" name="Groupe"/>
          <p:cNvSpPr txBox="1"/>
          <p:nvPr/>
        </p:nvSpPr>
        <p:spPr>
          <a:xfrm>
            <a:off x="822960" y="5212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GROUPE 11</a:t>
            </a:r>
            <a:endParaRPr lang="en-US" sz="1400" dirty="0"/>
          </a:p>
        </p:txBody>
      </p:sp>
      <p:sp>
        <p:nvSpPr>
          <p:cNvPr id="8" name="Membres"/>
          <p:cNvSpPr txBox="1"/>
          <p:nvPr/>
        </p:nvSpPr>
        <p:spPr>
          <a:xfrm>
            <a:off x="822960" y="55961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Abdourahmane Diaw   ·   Coumbel Ka   ·   Ousmane Niang   ·   Hawa Diallo   ·   Abib Traoré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SOMMAIRE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Ce que nous allons voir</a:t>
            </a:r>
            <a:endParaRPr lang="en-US" sz="3400" dirty="0"/>
          </a:p>
        </p:txBody>
      </p:sp>
      <p:sp>
        <p:nvSpPr>
          <p:cNvPr id="5" name="Carte PARTIE THÉORIQUE"/>
          <p:cNvSpPr/>
          <p:nvPr/>
        </p:nvSpPr>
        <p:spPr>
          <a:xfrm>
            <a:off x="548640" y="1691640"/>
            <a:ext cx="5440680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/>
        </p:spPr>
      </p:sp>
      <p:sp>
        <p:nvSpPr>
          <p:cNvPr id="6" name="Pastille FaBook"/>
          <p:cNvSpPr/>
          <p:nvPr/>
        </p:nvSpPr>
        <p:spPr>
          <a:xfrm>
            <a:off x="868680" y="1965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icône Boo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21259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91640" y="19659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chemeClr val="accent1"/>
                </a:solidFill>
              </a:rPr>
              <a:t>PARTIE THÉORIQUE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292608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PMBOK : processus et domaines de connaissance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PRINCE2 : principes, thèmes, processus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ITIL : gestion des services IT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Le rôle du PMO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Certifications : PMP, CAPM, PRINCE2, PSM</a:t>
            </a:r>
            <a:endParaRPr lang="en-US" sz="2000" dirty="0"/>
          </a:p>
        </p:txBody>
      </p:sp>
      <p:sp>
        <p:nvSpPr>
          <p:cNvPr id="10" name="Carte PARTIE PRATIQUE — CoopHabitat"/>
          <p:cNvSpPr/>
          <p:nvPr/>
        </p:nvSpPr>
        <p:spPr>
          <a:xfrm>
            <a:off x="6199632" y="1691640"/>
            <a:ext cx="5440680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/>
        </p:spPr>
      </p:sp>
      <p:sp>
        <p:nvSpPr>
          <p:cNvPr id="11" name="Pastille FaTasks"/>
          <p:cNvSpPr/>
          <p:nvPr/>
        </p:nvSpPr>
        <p:spPr>
          <a:xfrm>
            <a:off x="6519672" y="1965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icône Task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9692" y="21259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342632" y="19659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chemeClr val="accent1"/>
                </a:solidFill>
              </a:rPr>
              <a:t>PARTIE PRATIQUE — CoopHabitat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6565392" y="292608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Étude comparative des référentiels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Nos contraintes et la recommandation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Comité de pilotage : qui fait quoi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Cartographie PMBOK de notre projet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A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PARTIE THÉORIQUE · 1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PMBOK : processus et connaissances</a:t>
            </a:r>
            <a:endParaRPr lang="en-US" sz="3400" dirty="0"/>
          </a:p>
        </p:txBody>
      </p:sp>
      <p:sp>
        <p:nvSpPr>
          <p:cNvPr id="5" name="Groupe Initialisation"/>
          <p:cNvSpPr/>
          <p:nvPr/>
        </p:nvSpPr>
        <p:spPr>
          <a:xfrm>
            <a:off x="548640" y="1691640"/>
            <a:ext cx="2377440" cy="100584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051560" y="169164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Initialisation</a:t>
            </a:r>
            <a:endParaRPr lang="en-US" sz="1400" dirty="0"/>
          </a:p>
        </p:txBody>
      </p:sp>
      <p:sp>
        <p:nvSpPr>
          <p:cNvPr id="7" name="Groupe Planification"/>
          <p:cNvSpPr/>
          <p:nvPr/>
        </p:nvSpPr>
        <p:spPr>
          <a:xfrm>
            <a:off x="2724912" y="1691640"/>
            <a:ext cx="2377440" cy="1005840"/>
          </a:xfrm>
          <a:prstGeom prst="chevron">
            <a:avLst/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227832" y="169164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Planification</a:t>
            </a:r>
            <a:endParaRPr lang="en-US" sz="1400" dirty="0"/>
          </a:p>
        </p:txBody>
      </p:sp>
      <p:sp>
        <p:nvSpPr>
          <p:cNvPr id="9" name="Groupe Exécution"/>
          <p:cNvSpPr/>
          <p:nvPr/>
        </p:nvSpPr>
        <p:spPr>
          <a:xfrm>
            <a:off x="4901184" y="1691640"/>
            <a:ext cx="2377440" cy="100584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04104" y="169164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Exécution</a:t>
            </a:r>
            <a:endParaRPr lang="en-US" sz="1400" dirty="0"/>
          </a:p>
        </p:txBody>
      </p:sp>
      <p:sp>
        <p:nvSpPr>
          <p:cNvPr id="11" name="Groupe Surveillance et maîtrise"/>
          <p:cNvSpPr/>
          <p:nvPr/>
        </p:nvSpPr>
        <p:spPr>
          <a:xfrm>
            <a:off x="7077456" y="1691640"/>
            <a:ext cx="2377440" cy="1005840"/>
          </a:xfrm>
          <a:prstGeom prst="chevron">
            <a:avLst/>
          </a:prstGeom>
          <a:solidFill>
            <a:schemeClr val="tx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580376" y="169164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Surveillance et maîtrise</a:t>
            </a:r>
            <a:endParaRPr lang="en-US" sz="1400" dirty="0"/>
          </a:p>
        </p:txBody>
      </p:sp>
      <p:sp>
        <p:nvSpPr>
          <p:cNvPr id="13" name="Groupe Clôture"/>
          <p:cNvSpPr/>
          <p:nvPr/>
        </p:nvSpPr>
        <p:spPr>
          <a:xfrm>
            <a:off x="9253728" y="1691640"/>
            <a:ext cx="2377440" cy="100584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756648" y="169164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Clôture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3017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10 domaines de connaissance</a:t>
            </a:r>
            <a:endParaRPr lang="en-US" sz="1800" dirty="0"/>
          </a:p>
        </p:txBody>
      </p:sp>
      <p:sp>
        <p:nvSpPr>
          <p:cNvPr id="16" name="Domaine Intégration"/>
          <p:cNvSpPr/>
          <p:nvPr/>
        </p:nvSpPr>
        <p:spPr>
          <a:xfrm>
            <a:off x="548640" y="3520440"/>
            <a:ext cx="21031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40080" y="35204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Intégration</a:t>
            </a:r>
            <a:endParaRPr lang="en-US" sz="1500" dirty="0"/>
          </a:p>
        </p:txBody>
      </p:sp>
      <p:sp>
        <p:nvSpPr>
          <p:cNvPr id="18" name="Domaine Périmètre"/>
          <p:cNvSpPr/>
          <p:nvPr/>
        </p:nvSpPr>
        <p:spPr>
          <a:xfrm>
            <a:off x="2796235" y="3520440"/>
            <a:ext cx="21031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2887675" y="35204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Périmètre</a:t>
            </a:r>
            <a:endParaRPr lang="en-US" sz="1500" dirty="0"/>
          </a:p>
        </p:txBody>
      </p:sp>
      <p:sp>
        <p:nvSpPr>
          <p:cNvPr id="20" name="Domaine Échéancier"/>
          <p:cNvSpPr/>
          <p:nvPr/>
        </p:nvSpPr>
        <p:spPr>
          <a:xfrm>
            <a:off x="5043830" y="3520440"/>
            <a:ext cx="21031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135270" y="35204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Échéancier</a:t>
            </a:r>
            <a:endParaRPr lang="en-US" sz="1500" dirty="0"/>
          </a:p>
        </p:txBody>
      </p:sp>
      <p:sp>
        <p:nvSpPr>
          <p:cNvPr id="22" name="Domaine Coûts"/>
          <p:cNvSpPr/>
          <p:nvPr/>
        </p:nvSpPr>
        <p:spPr>
          <a:xfrm>
            <a:off x="7291426" y="3520440"/>
            <a:ext cx="21031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382866" y="35204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Coûts</a:t>
            </a:r>
            <a:endParaRPr lang="en-US" sz="1500" dirty="0"/>
          </a:p>
        </p:txBody>
      </p:sp>
      <p:sp>
        <p:nvSpPr>
          <p:cNvPr id="24" name="Domaine Qualité"/>
          <p:cNvSpPr/>
          <p:nvPr/>
        </p:nvSpPr>
        <p:spPr>
          <a:xfrm>
            <a:off x="9539021" y="3520440"/>
            <a:ext cx="21031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9630461" y="35204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Qualité</a:t>
            </a:r>
            <a:endParaRPr lang="en-US" sz="1500" dirty="0"/>
          </a:p>
        </p:txBody>
      </p:sp>
      <p:sp>
        <p:nvSpPr>
          <p:cNvPr id="26" name="Domaine Ressources"/>
          <p:cNvSpPr/>
          <p:nvPr/>
        </p:nvSpPr>
        <p:spPr>
          <a:xfrm>
            <a:off x="548640" y="4617720"/>
            <a:ext cx="21031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40080" y="46177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Ressources</a:t>
            </a:r>
            <a:endParaRPr lang="en-US" sz="1500" dirty="0"/>
          </a:p>
        </p:txBody>
      </p:sp>
      <p:sp>
        <p:nvSpPr>
          <p:cNvPr id="28" name="Domaine Communication"/>
          <p:cNvSpPr/>
          <p:nvPr/>
        </p:nvSpPr>
        <p:spPr>
          <a:xfrm>
            <a:off x="2796235" y="4617720"/>
            <a:ext cx="21031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2887675" y="46177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Communication</a:t>
            </a:r>
            <a:endParaRPr lang="en-US" sz="1500" dirty="0"/>
          </a:p>
        </p:txBody>
      </p:sp>
      <p:sp>
        <p:nvSpPr>
          <p:cNvPr id="30" name="Domaine Risques"/>
          <p:cNvSpPr/>
          <p:nvPr/>
        </p:nvSpPr>
        <p:spPr>
          <a:xfrm>
            <a:off x="5043830" y="4617720"/>
            <a:ext cx="21031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5135270" y="46177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Risques</a:t>
            </a:r>
            <a:endParaRPr lang="en-US" sz="1500" dirty="0"/>
          </a:p>
        </p:txBody>
      </p:sp>
      <p:sp>
        <p:nvSpPr>
          <p:cNvPr id="32" name="Domaine Approvisionnements"/>
          <p:cNvSpPr/>
          <p:nvPr/>
        </p:nvSpPr>
        <p:spPr>
          <a:xfrm>
            <a:off x="7291426" y="4617720"/>
            <a:ext cx="21031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7382866" y="46177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Approvisionnements</a:t>
            </a:r>
            <a:endParaRPr lang="en-US" sz="1500" dirty="0"/>
          </a:p>
        </p:txBody>
      </p:sp>
      <p:sp>
        <p:nvSpPr>
          <p:cNvPr id="34" name="Domaine Parties prenantes"/>
          <p:cNvSpPr/>
          <p:nvPr/>
        </p:nvSpPr>
        <p:spPr>
          <a:xfrm>
            <a:off x="9539021" y="4617720"/>
            <a:ext cx="21031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9630461" y="46177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Parties prenantes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Version 6e édition : 5 groupes de processus × 10 domaines (49 processus). La 7e édition s'organise autour de principes et de domaines de performance.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A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PARTIE THÉORIQUE · 2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PRINCE2 : principes, thèmes, processus</a:t>
            </a:r>
            <a:endParaRPr lang="en-US" sz="3400" dirty="0"/>
          </a:p>
        </p:txBody>
      </p:sp>
      <p:sp>
        <p:nvSpPr>
          <p:cNvPr id="5" name="Carte 7 principes"/>
          <p:cNvSpPr/>
          <p:nvPr/>
        </p:nvSpPr>
        <p:spPr>
          <a:xfrm>
            <a:off x="548640" y="1691640"/>
            <a:ext cx="3566160" cy="452628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6" name="Pastille FaBullseye"/>
          <p:cNvSpPr/>
          <p:nvPr/>
        </p:nvSpPr>
        <p:spPr>
          <a:xfrm>
            <a:off x="822960" y="1874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icône Bullsey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023110"/>
            <a:ext cx="297180" cy="2971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54480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7 principes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1554480" y="2212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1"/>
                </a:solidFill>
              </a:rPr>
              <a:t>Ce qui guide les décisions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834640"/>
            <a:ext cx="3063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Justification économique continue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Tirer les leçons de l'expérience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Rôles et responsabilités définis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Gestion par séquences (étapes)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Gestion par exception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Orientation produits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Adaptation au projet</a:t>
            </a:r>
            <a:endParaRPr lang="en-US" sz="1600" dirty="0"/>
          </a:p>
        </p:txBody>
      </p:sp>
      <p:sp>
        <p:nvSpPr>
          <p:cNvPr id="11" name="Carte 7 thèmes"/>
          <p:cNvSpPr/>
          <p:nvPr/>
        </p:nvSpPr>
        <p:spPr>
          <a:xfrm>
            <a:off x="4402836" y="1691640"/>
            <a:ext cx="3566160" cy="452628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12" name="Pastille FaLayerGroup"/>
          <p:cNvSpPr/>
          <p:nvPr/>
        </p:nvSpPr>
        <p:spPr>
          <a:xfrm>
            <a:off x="4677156" y="1874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1" descr="icône LayerGrou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5746" y="2023110"/>
            <a:ext cx="297180" cy="2971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408676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7 thèmes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5408676" y="2212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1"/>
                </a:solidFill>
              </a:rPr>
              <a:t>Ce qu'il faut gérer en continu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4722876" y="2834640"/>
            <a:ext cx="3063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Business case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Organisation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Qualité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Plans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Risques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Changement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Progression</a:t>
            </a:r>
            <a:endParaRPr lang="en-US" sz="1600" dirty="0"/>
          </a:p>
        </p:txBody>
      </p:sp>
      <p:sp>
        <p:nvSpPr>
          <p:cNvPr id="17" name="Carte 7 processus"/>
          <p:cNvSpPr/>
          <p:nvPr/>
        </p:nvSpPr>
        <p:spPr>
          <a:xfrm>
            <a:off x="8257032" y="1691640"/>
            <a:ext cx="3566160" cy="452628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18" name="Pastille FaStream"/>
          <p:cNvSpPr/>
          <p:nvPr/>
        </p:nvSpPr>
        <p:spPr>
          <a:xfrm>
            <a:off x="8531352" y="1874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mage 2" descr="icône Strea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9942" y="2023110"/>
            <a:ext cx="297180" cy="29718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262872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7 processus</a:t>
            </a:r>
            <a:endParaRPr lang="en-US" sz="2000" dirty="0"/>
          </a:p>
        </p:txBody>
      </p:sp>
      <p:sp>
        <p:nvSpPr>
          <p:cNvPr id="21" name="Text 15"/>
          <p:cNvSpPr txBox="1"/>
          <p:nvPr/>
        </p:nvSpPr>
        <p:spPr>
          <a:xfrm>
            <a:off x="9262872" y="2212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1"/>
                </a:solidFill>
              </a:rPr>
              <a:t>Le cycle de vie du projet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8577072" y="2834640"/>
            <a:ext cx="3063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Préparer le projet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Diriger le projet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Initialiser le projet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Contrôler une séquence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Gérer la livraison des produits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Gérer une limite de séquence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Clore le projet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A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PARTIE THÉORIQUE · 3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ITIL : gestion des services IT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45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Chaîne de valeur du service : 6 activités</a:t>
            </a:r>
            <a:endParaRPr lang="en-US" sz="1800" dirty="0"/>
          </a:p>
        </p:txBody>
      </p:sp>
      <p:sp>
        <p:nvSpPr>
          <p:cNvPr id="6" name="Activité Planifier"/>
          <p:cNvSpPr/>
          <p:nvPr/>
        </p:nvSpPr>
        <p:spPr>
          <a:xfrm>
            <a:off x="548640" y="2103120"/>
            <a:ext cx="1737360" cy="109728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210312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Planifier</a:t>
            </a:r>
            <a:endParaRPr lang="en-US" sz="1400" dirty="0"/>
          </a:p>
        </p:txBody>
      </p:sp>
      <p:sp>
        <p:nvSpPr>
          <p:cNvPr id="8" name="Activité Améliorer"/>
          <p:cNvSpPr/>
          <p:nvPr/>
        </p:nvSpPr>
        <p:spPr>
          <a:xfrm>
            <a:off x="2419502" y="2103120"/>
            <a:ext cx="173736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510942" y="210312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Améliorer</a:t>
            </a:r>
            <a:endParaRPr lang="en-US" sz="1400" dirty="0"/>
          </a:p>
        </p:txBody>
      </p:sp>
      <p:sp>
        <p:nvSpPr>
          <p:cNvPr id="10" name="Activité Impliquer"/>
          <p:cNvSpPr/>
          <p:nvPr/>
        </p:nvSpPr>
        <p:spPr>
          <a:xfrm>
            <a:off x="4290365" y="2103120"/>
            <a:ext cx="1737360" cy="109728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381805" y="210312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Impliquer</a:t>
            </a:r>
            <a:endParaRPr lang="en-US" sz="1400" dirty="0"/>
          </a:p>
        </p:txBody>
      </p:sp>
      <p:sp>
        <p:nvSpPr>
          <p:cNvPr id="12" name="Activité Concevoir et faire la transition"/>
          <p:cNvSpPr/>
          <p:nvPr/>
        </p:nvSpPr>
        <p:spPr>
          <a:xfrm>
            <a:off x="6161227" y="2103120"/>
            <a:ext cx="173736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252667" y="210312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Concevoir et faire la transition</a:t>
            </a:r>
            <a:endParaRPr lang="en-US" sz="1400" dirty="0"/>
          </a:p>
        </p:txBody>
      </p:sp>
      <p:sp>
        <p:nvSpPr>
          <p:cNvPr id="14" name="Activité Obtenir ou construire"/>
          <p:cNvSpPr/>
          <p:nvPr/>
        </p:nvSpPr>
        <p:spPr>
          <a:xfrm>
            <a:off x="8032090" y="2103120"/>
            <a:ext cx="1737360" cy="109728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123530" y="210312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Obtenir ou construire</a:t>
            </a:r>
            <a:endParaRPr lang="en-US" sz="1400" dirty="0"/>
          </a:p>
        </p:txBody>
      </p:sp>
      <p:sp>
        <p:nvSpPr>
          <p:cNvPr id="16" name="Activité Fournir et soutenir"/>
          <p:cNvSpPr/>
          <p:nvPr/>
        </p:nvSpPr>
        <p:spPr>
          <a:xfrm>
            <a:off x="9902952" y="2103120"/>
            <a:ext cx="173736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994392" y="210312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Fournir et soutenir</a:t>
            </a:r>
            <a:endParaRPr lang="en-US" sz="1400" dirty="0"/>
          </a:p>
        </p:txBody>
      </p:sp>
      <p:sp>
        <p:nvSpPr>
          <p:cNvPr id="18" name="Carte principes ITIL"/>
          <p:cNvSpPr/>
          <p:nvPr/>
        </p:nvSpPr>
        <p:spPr>
          <a:xfrm>
            <a:off x="548640" y="3474720"/>
            <a:ext cx="548640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22960" y="3611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7 principes directeurs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4023360"/>
            <a:ext cx="49377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 concentrer sur la valeur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Partir de l'existant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Progresser par itérations avec retours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Collaborer et favoriser la visibilité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Penser et travailler de façon globale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Rester simple et pratique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Optimiser et automatiser</a:t>
            </a:r>
            <a:endParaRPr lang="en-US" sz="1500" dirty="0"/>
          </a:p>
        </p:txBody>
      </p:sp>
      <p:sp>
        <p:nvSpPr>
          <p:cNvPr id="21" name="Carte ITIL pour CoopHabitat"/>
          <p:cNvSpPr/>
          <p:nvPr/>
        </p:nvSpPr>
        <p:spPr>
          <a:xfrm>
            <a:off x="6245352" y="3474720"/>
            <a:ext cx="539496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22" name="Pastille FaHeadset"/>
          <p:cNvSpPr/>
          <p:nvPr/>
        </p:nvSpPr>
        <p:spPr>
          <a:xfrm>
            <a:off x="6492240" y="3657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mage 0" descr="icône Heads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3794760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7178040" y="36576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Ce qu'ITIL apporte à CoopHabitat</a:t>
            </a:r>
            <a:endParaRPr lang="en-US" sz="1800" dirty="0"/>
          </a:p>
        </p:txBody>
      </p:sp>
      <p:sp>
        <p:nvSpPr>
          <p:cNvPr id="25" name="Text 21"/>
          <p:cNvSpPr txBox="1"/>
          <p:nvPr/>
        </p:nvSpPr>
        <p:spPr>
          <a:xfrm>
            <a:off x="6492240" y="443484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Gestion des incidents de paiement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Gestion des demandes de changement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Support aux demandes des membres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6492240" y="56235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accent1"/>
                </a:solidFill>
              </a:rPr>
              <a:t>ITIL gère les services en exploitation, pas les projets.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A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PARTIE THÉORIQUE · 4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Le rôle du PMO</a:t>
            </a:r>
            <a:endParaRPr lang="en-US" sz="3400" dirty="0"/>
          </a:p>
        </p:txBody>
      </p:sp>
      <p:sp>
        <p:nvSpPr>
          <p:cNvPr id="5" name="Carte PMO de soutien"/>
          <p:cNvSpPr/>
          <p:nvPr/>
        </p:nvSpPr>
        <p:spPr>
          <a:xfrm>
            <a:off x="548640" y="1691640"/>
            <a:ext cx="356616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6" name="Pastille FaHandshake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icône Handshak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03454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45920" y="1874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PMO de soutien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74320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Fournit modèles, bonnes pratiques et formation : un rôle de conseil.</a:t>
            </a:r>
            <a:endParaRPr lang="en-US" sz="1700" dirty="0"/>
          </a:p>
        </p:txBody>
      </p:sp>
      <p:sp>
        <p:nvSpPr>
          <p:cNvPr id="10" name="Carte PMO de contrôle"/>
          <p:cNvSpPr/>
          <p:nvPr/>
        </p:nvSpPr>
        <p:spPr>
          <a:xfrm>
            <a:off x="4402836" y="1691640"/>
            <a:ext cx="356616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11" name="Pastille FaClipboardCheck"/>
          <p:cNvSpPr/>
          <p:nvPr/>
        </p:nvSpPr>
        <p:spPr>
          <a:xfrm>
            <a:off x="4677156" y="1874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icône Clipboard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76" y="203454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500116" y="1874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PMO de contrôle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4677156" y="274320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Vérifie la conformité aux méthodes et aux standards : audits et revues.</a:t>
            </a:r>
            <a:endParaRPr lang="en-US" sz="1700" dirty="0"/>
          </a:p>
        </p:txBody>
      </p:sp>
      <p:sp>
        <p:nvSpPr>
          <p:cNvPr id="15" name="Carte PMO directif"/>
          <p:cNvSpPr/>
          <p:nvPr/>
        </p:nvSpPr>
        <p:spPr>
          <a:xfrm>
            <a:off x="8257032" y="1691640"/>
            <a:ext cx="356616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16" name="Pastille FaUserTie"/>
          <p:cNvSpPr/>
          <p:nvPr/>
        </p:nvSpPr>
        <p:spPr>
          <a:xfrm>
            <a:off x="8531352" y="1874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2" descr="icône UserTi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1372" y="203454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354312" y="1874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PMO directif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8531352" y="274320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Prend directement en charge la conduite des projets.</a:t>
            </a:r>
            <a:endParaRPr lang="en-US" sz="1700" dirty="0"/>
          </a:p>
        </p:txBody>
      </p:sp>
      <p:sp>
        <p:nvSpPr>
          <p:cNvPr id="20" name="Carte fonctions PMO"/>
          <p:cNvSpPr/>
          <p:nvPr/>
        </p:nvSpPr>
        <p:spPr>
          <a:xfrm>
            <a:off x="548640" y="4251960"/>
            <a:ext cx="11091672" cy="1965960"/>
          </a:xfrm>
          <a:prstGeom prst="roundRect">
            <a:avLst>
              <a:gd name="adj" fmla="val 3721"/>
            </a:avLst>
          </a:prstGeom>
          <a:solidFill>
            <a:schemeClr val="tx2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86868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Fonctions d'un PMO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868680" y="484632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Standardiser les méthodes et les modèles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Soutenir et former les chefs de projet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Consolider le reporting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6309360" y="484632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Arbitrer et partager les ressources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Capitaliser les leçons apprises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A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PARTIE THÉORIQUE · 5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Certifications professionnelles</a:t>
            </a:r>
            <a:endParaRPr lang="en-US" sz="3400" dirty="0"/>
          </a:p>
        </p:txBody>
      </p:sp>
      <p:sp>
        <p:nvSpPr>
          <p:cNvPr id="5" name="Carte CAPM"/>
          <p:cNvSpPr/>
          <p:nvPr/>
        </p:nvSpPr>
        <p:spPr>
          <a:xfrm>
            <a:off x="548640" y="1691640"/>
            <a:ext cx="2606040" cy="452628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6" name="Pastille FaGraduationCap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icône GraduationC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03454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00200" y="18745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CAPM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6974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1"/>
                </a:solidFill>
              </a:rPr>
              <a:t>PMI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32918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Profil visé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35661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Débutants en gestion de projet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44805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Pour nous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475488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Premier pas réaliste à notre niveau, vocabulaire PMBOK</a:t>
            </a:r>
            <a:endParaRPr lang="en-US" sz="1400" dirty="0"/>
          </a:p>
        </p:txBody>
      </p:sp>
      <p:sp>
        <p:nvSpPr>
          <p:cNvPr id="14" name="Carte PMP"/>
          <p:cNvSpPr/>
          <p:nvPr/>
        </p:nvSpPr>
        <p:spPr>
          <a:xfrm>
            <a:off x="3376879" y="1691640"/>
            <a:ext cx="2606040" cy="452628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15" name="Pastille FaMedal"/>
          <p:cNvSpPr/>
          <p:nvPr/>
        </p:nvSpPr>
        <p:spPr>
          <a:xfrm>
            <a:off x="3651199" y="1874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1" descr="icône Med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1219" y="203454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428439" y="18745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PMP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3651199" y="26974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1"/>
                </a:solidFill>
              </a:rPr>
              <a:t>PMI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3651199" y="32918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Profil visé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3651199" y="35661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Chefs de projet expérimentés (expérience requise)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3651199" y="44805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Pour nous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3651199" y="475488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Objectif à moyen terme, après quelques années de pratique</a:t>
            </a:r>
            <a:endParaRPr lang="en-US" sz="1400" dirty="0"/>
          </a:p>
        </p:txBody>
      </p:sp>
      <p:sp>
        <p:nvSpPr>
          <p:cNvPr id="23" name="Carte PRINCE2"/>
          <p:cNvSpPr/>
          <p:nvPr/>
        </p:nvSpPr>
        <p:spPr>
          <a:xfrm>
            <a:off x="6205118" y="1691640"/>
            <a:ext cx="2606040" cy="452628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24" name="Pastille FaAward"/>
          <p:cNvSpPr/>
          <p:nvPr/>
        </p:nvSpPr>
        <p:spPr>
          <a:xfrm>
            <a:off x="6479438" y="1874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mage 2" descr="icône Awa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9458" y="2034540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256678" y="18745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PRINCE2</a:t>
            </a:r>
            <a:endParaRPr lang="en-US" sz="2000" dirty="0"/>
          </a:p>
        </p:txBody>
      </p:sp>
      <p:sp>
        <p:nvSpPr>
          <p:cNvPr id="27" name="Text 21"/>
          <p:cNvSpPr txBox="1"/>
          <p:nvPr/>
        </p:nvSpPr>
        <p:spPr>
          <a:xfrm>
            <a:off x="6479438" y="26974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1"/>
                </a:solidFill>
              </a:rPr>
              <a:t>Foundation / Practitioner · PeopleCert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6479438" y="32918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Profil visé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6479438" y="35661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Projets à gouvernance formelle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6479438" y="44805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Pour nous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6479438" y="475488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Utile en organisation structurée ; Foundation sans prérequis</a:t>
            </a:r>
            <a:endParaRPr lang="en-US" sz="1400" dirty="0"/>
          </a:p>
        </p:txBody>
      </p:sp>
      <p:sp>
        <p:nvSpPr>
          <p:cNvPr id="32" name="Carte PSM"/>
          <p:cNvSpPr/>
          <p:nvPr/>
        </p:nvSpPr>
        <p:spPr>
          <a:xfrm>
            <a:off x="9033358" y="1691640"/>
            <a:ext cx="2606040" cy="452628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33" name="Pastille FaCogs"/>
          <p:cNvSpPr/>
          <p:nvPr/>
        </p:nvSpPr>
        <p:spPr>
          <a:xfrm>
            <a:off x="9307678" y="1874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4" name="Image 3" descr="icône Cog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7698" y="2034540"/>
            <a:ext cx="320040" cy="320040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10084918" y="18745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PSM</a:t>
            </a:r>
            <a:endParaRPr lang="en-US" sz="2000" dirty="0"/>
          </a:p>
        </p:txBody>
      </p:sp>
      <p:sp>
        <p:nvSpPr>
          <p:cNvPr id="36" name="Text 29"/>
          <p:cNvSpPr txBox="1"/>
          <p:nvPr/>
        </p:nvSpPr>
        <p:spPr>
          <a:xfrm>
            <a:off x="9307678" y="26974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1"/>
                </a:solidFill>
              </a:rPr>
              <a:t>Scrum.org</a:t>
            </a:r>
            <a:endParaRPr lang="en-US" sz="1300" dirty="0"/>
          </a:p>
        </p:txBody>
      </p:sp>
      <p:sp>
        <p:nvSpPr>
          <p:cNvPr id="37" name="Text 30"/>
          <p:cNvSpPr txBox="1"/>
          <p:nvPr/>
        </p:nvSpPr>
        <p:spPr>
          <a:xfrm>
            <a:off x="9307678" y="32918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Profil visé</a:t>
            </a:r>
            <a:endParaRPr lang="en-US" sz="1300" dirty="0"/>
          </a:p>
        </p:txBody>
      </p:sp>
      <p:sp>
        <p:nvSpPr>
          <p:cNvPr id="38" name="Text 31"/>
          <p:cNvSpPr txBox="1"/>
          <p:nvPr/>
        </p:nvSpPr>
        <p:spPr>
          <a:xfrm>
            <a:off x="9307678" y="35661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Scrum Masters et équipes agiles</a:t>
            </a:r>
            <a:endParaRPr lang="en-US" sz="1400" dirty="0"/>
          </a:p>
        </p:txBody>
      </p:sp>
      <p:sp>
        <p:nvSpPr>
          <p:cNvPr id="39" name="Text 32"/>
          <p:cNvSpPr txBox="1"/>
          <p:nvPr/>
        </p:nvSpPr>
        <p:spPr>
          <a:xfrm>
            <a:off x="9307678" y="44805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Pour nous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9307678" y="475488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Cohérent avec notre pratique de Scrum (Thème 4)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A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PARTIE PRATIQUE · 1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Quel référentiel pour quel projet ?</a:t>
            </a:r>
            <a:endParaRPr lang="en-US" sz="3400" dirty="0"/>
          </a:p>
        </p:txBody>
      </p:sp>
      <p:graphicFrame>
        <p:nvGraphicFramePr>
          <p:cNvPr id="9" name="Table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566160"/>
                <a:gridCol w="2834640"/>
                <a:gridCol w="295351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Référentiel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Nature et structure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Quand l'utiliser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Pertinence pour CoopHabitat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PMBOK (PMI)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Guide de connaissances : 5 groupes de processus, 10 domaines (6e édition)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Tout type de projet : langage commun et boîte à outils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Vocabulaire et cartographie de nos livrables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PRINCE2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Méthode : 7 principes, 7 thèmes, 7 processus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Gouvernance formelle, business case à justifier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Comité de pilotage, gestion par étapes et par exception, en version allégée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ITIL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Bonnes pratiques de gestion des services IT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Exploitation après la mise en production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Incidents de paiement et demandes des membres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Scrum (Agile)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Cadre de livraison itératif (Thème 4)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Besoins évolutifs, livraisons fréquentes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Pilote déjà notre développement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A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PARTIE PRATIQUE · 2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Nos contraintes de gouvernance</a:t>
            </a:r>
            <a:endParaRPr lang="en-US" sz="3400" dirty="0"/>
          </a:p>
        </p:txBody>
      </p:sp>
      <p:sp>
        <p:nvSpPr>
          <p:cNvPr id="5" name="Contrainte Équipe réduite"/>
          <p:cNvSpPr/>
          <p:nvPr/>
        </p:nvSpPr>
        <p:spPr>
          <a:xfrm>
            <a:off x="548640" y="1691640"/>
            <a:ext cx="11091672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6" name="Pastille FaUsers"/>
          <p:cNvSpPr/>
          <p:nvPr/>
        </p:nvSpPr>
        <p:spPr>
          <a:xfrm>
            <a:off x="777240" y="1801368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icône Us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947672"/>
            <a:ext cx="292608" cy="29260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00200" y="1691640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Équipe réduite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5029200" y="1691640"/>
            <a:ext cx="6400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Une équipe de développement de petite taille</a:t>
            </a:r>
            <a:endParaRPr lang="en-US" sz="1600" dirty="0"/>
          </a:p>
        </p:txBody>
      </p:sp>
      <p:sp>
        <p:nvSpPr>
          <p:cNvPr id="10" name="Contrainte Bureau bénévole"/>
          <p:cNvSpPr/>
          <p:nvPr/>
        </p:nvSpPr>
        <p:spPr>
          <a:xfrm>
            <a:off x="548640" y="2587752"/>
            <a:ext cx="11091672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1" name="Pastille FaHandshake"/>
          <p:cNvSpPr/>
          <p:nvPr/>
        </p:nvSpPr>
        <p:spPr>
          <a:xfrm>
            <a:off x="777240" y="2697480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icône Handshak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2843784"/>
            <a:ext cx="292608" cy="29260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00200" y="2587752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Bureau bénévole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5029200" y="2587752"/>
            <a:ext cx="6400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Président, Trésorier et Secrétaire disponibles par intermittence</a:t>
            </a:r>
            <a:endParaRPr lang="en-US" sz="1600" dirty="0"/>
          </a:p>
        </p:txBody>
      </p:sp>
      <p:sp>
        <p:nvSpPr>
          <p:cNvPr id="15" name="Contrainte Budget limité"/>
          <p:cNvSpPr/>
          <p:nvPr/>
        </p:nvSpPr>
        <p:spPr>
          <a:xfrm>
            <a:off x="548640" y="3483864"/>
            <a:ext cx="11091672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6" name="Pastille FaCoins"/>
          <p:cNvSpPr/>
          <p:nvPr/>
        </p:nvSpPr>
        <p:spPr>
          <a:xfrm>
            <a:off x="777240" y="3593592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2" descr="icône Coin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3739896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600200" y="3483864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Budget limité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5029200" y="3483864"/>
            <a:ext cx="6400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58 000 € et un hébergement gratuit</a:t>
            </a:r>
            <a:endParaRPr lang="en-US" sz="1600" dirty="0"/>
          </a:p>
        </p:txBody>
      </p:sp>
      <p:sp>
        <p:nvSpPr>
          <p:cNvPr id="20" name="Contrainte Exigences évolutives"/>
          <p:cNvSpPr/>
          <p:nvPr/>
        </p:nvSpPr>
        <p:spPr>
          <a:xfrm>
            <a:off x="548640" y="4379976"/>
            <a:ext cx="11091672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21" name="Pastille FaSyncAlt"/>
          <p:cNvSpPr/>
          <p:nvPr/>
        </p:nvSpPr>
        <p:spPr>
          <a:xfrm>
            <a:off x="777240" y="4489704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Image 3" descr="icône SyncAl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4636008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600200" y="4379976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Exigences évolutives</a:t>
            </a:r>
            <a:endParaRPr lang="en-US" sz="1800" dirty="0"/>
          </a:p>
        </p:txBody>
      </p:sp>
      <p:sp>
        <p:nvSpPr>
          <p:cNvPr id="24" name="Text 17"/>
          <p:cNvSpPr txBox="1"/>
          <p:nvPr/>
        </p:nvSpPr>
        <p:spPr>
          <a:xfrm>
            <a:off x="5029200" y="4379976"/>
            <a:ext cx="6400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 cahier des charges précisé en cours de projet</a:t>
            </a:r>
            <a:endParaRPr lang="en-US" sz="1600" dirty="0"/>
          </a:p>
        </p:txBody>
      </p:sp>
      <p:sp>
        <p:nvSpPr>
          <p:cNvPr id="25" name="Contrainte Transparence et traçabilité"/>
          <p:cNvSpPr/>
          <p:nvPr/>
        </p:nvSpPr>
        <p:spPr>
          <a:xfrm>
            <a:off x="548640" y="5276088"/>
            <a:ext cx="11091672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26" name="Pastille FaLock"/>
          <p:cNvSpPr/>
          <p:nvPr/>
        </p:nvSpPr>
        <p:spPr>
          <a:xfrm>
            <a:off x="777240" y="5385816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Image 4" descr="icône Lo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5532120"/>
            <a:ext cx="292608" cy="292608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600200" y="5276088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Transparence et traçabilité</a:t>
            </a:r>
            <a:endParaRPr lang="en-US" sz="1800" dirty="0"/>
          </a:p>
        </p:txBody>
      </p:sp>
      <p:sp>
        <p:nvSpPr>
          <p:cNvPr id="29" name="Text 21"/>
          <p:cNvSpPr txBox="1"/>
          <p:nvPr/>
        </p:nvSpPr>
        <p:spPr>
          <a:xfrm>
            <a:off x="5029200" y="5276088"/>
            <a:ext cx="6400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Décisions, PV et comptes consultables par tous les membres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A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PARTIE PRATIQUE · 3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Recommandation : un modèle hybride</a:t>
            </a:r>
            <a:endParaRPr lang="en-US" sz="3400" dirty="0"/>
          </a:p>
        </p:txBody>
      </p:sp>
      <p:sp>
        <p:nvSpPr>
          <p:cNvPr id="5" name="Couche Scrum"/>
          <p:cNvSpPr/>
          <p:nvPr/>
        </p:nvSpPr>
        <p:spPr>
          <a:xfrm>
            <a:off x="548640" y="1691640"/>
            <a:ext cx="292608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bg1"/>
                </a:solidFill>
              </a:rPr>
              <a:t>LIVRAISON</a:t>
            </a:r>
            <a:endParaRPr lang="en-US" sz="12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Scrum</a:t>
            </a:r>
            <a:endParaRPr lang="en-US" sz="1200" dirty="0"/>
          </a:p>
        </p:txBody>
      </p:sp>
      <p:sp>
        <p:nvSpPr>
          <p:cNvPr id="7" name="Description Scrum"/>
          <p:cNvSpPr/>
          <p:nvPr/>
        </p:nvSpPr>
        <p:spPr>
          <a:xfrm>
            <a:off x="3657600" y="1691640"/>
            <a:ext cx="7982712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931920" y="16916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Absorbe les exigences évolutives (Thèmes 3 et 4)</a:t>
            </a:r>
            <a:endParaRPr lang="en-US" sz="1600" dirty="0"/>
          </a:p>
        </p:txBody>
      </p:sp>
      <p:sp>
        <p:nvSpPr>
          <p:cNvPr id="9" name="Couche PRINCE2 allégé"/>
          <p:cNvSpPr/>
          <p:nvPr/>
        </p:nvSpPr>
        <p:spPr>
          <a:xfrm>
            <a:off x="548640" y="2743200"/>
            <a:ext cx="292608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27432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bg1"/>
                </a:solidFill>
              </a:rPr>
              <a:t>GOUVERNANCE</a:t>
            </a:r>
            <a:endParaRPr lang="en-US" sz="12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PRINCE2 allégé</a:t>
            </a:r>
            <a:endParaRPr lang="en-US" sz="1200" dirty="0"/>
          </a:p>
        </p:txBody>
      </p:sp>
      <p:sp>
        <p:nvSpPr>
          <p:cNvPr id="11" name="Description PRINCE2 allégé"/>
          <p:cNvSpPr/>
          <p:nvPr/>
        </p:nvSpPr>
        <p:spPr>
          <a:xfrm>
            <a:off x="3657600" y="2743200"/>
            <a:ext cx="7982712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931920" y="27432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Business case, comité de pilotage, gestion par étapes et par exception : au-delà de ±10 % sur délai ou coût, escalade au comité</a:t>
            </a:r>
            <a:endParaRPr lang="en-US" sz="1600" dirty="0"/>
          </a:p>
        </p:txBody>
      </p:sp>
      <p:sp>
        <p:nvSpPr>
          <p:cNvPr id="13" name="Couche PMBOK"/>
          <p:cNvSpPr/>
          <p:nvPr/>
        </p:nvSpPr>
        <p:spPr>
          <a:xfrm>
            <a:off x="548640" y="3794760"/>
            <a:ext cx="292608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77240" y="37947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bg1"/>
                </a:solidFill>
              </a:rPr>
              <a:t>CONNAISSANCES</a:t>
            </a:r>
            <a:endParaRPr lang="en-US" sz="12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PMBOK</a:t>
            </a:r>
            <a:endParaRPr lang="en-US" sz="1200" dirty="0"/>
          </a:p>
        </p:txBody>
      </p:sp>
      <p:sp>
        <p:nvSpPr>
          <p:cNvPr id="15" name="Description PMBOK"/>
          <p:cNvSpPr/>
          <p:nvPr/>
        </p:nvSpPr>
        <p:spPr>
          <a:xfrm>
            <a:off x="3657600" y="3794760"/>
            <a:ext cx="7982712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931920" y="37947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Vocabulaire commun et grille de cartographie de nos livrables</a:t>
            </a:r>
            <a:endParaRPr lang="en-US" sz="1600" dirty="0"/>
          </a:p>
        </p:txBody>
      </p:sp>
      <p:sp>
        <p:nvSpPr>
          <p:cNvPr id="17" name="Couche ITIL allégé"/>
          <p:cNvSpPr/>
          <p:nvPr/>
        </p:nvSpPr>
        <p:spPr>
          <a:xfrm>
            <a:off x="548640" y="4846320"/>
            <a:ext cx="292608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77240" y="48463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bg1"/>
                </a:solidFill>
              </a:rPr>
              <a:t>EXPLOITATION</a:t>
            </a:r>
            <a:endParaRPr lang="en-US" sz="12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ITIL allégé</a:t>
            </a:r>
            <a:endParaRPr lang="en-US" sz="1200" dirty="0"/>
          </a:p>
        </p:txBody>
      </p:sp>
      <p:sp>
        <p:nvSpPr>
          <p:cNvPr id="19" name="Description ITIL allégé"/>
          <p:cNvSpPr/>
          <p:nvPr/>
        </p:nvSpPr>
        <p:spPr>
          <a:xfrm>
            <a:off x="3657600" y="4846320"/>
            <a:ext cx="7982712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3931920" y="48463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Gestion des incidents de paiement et des changements après la mise en production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897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Pas de PMO dédié : un « PMO léger » tenu par le chef de projet et le Secrétaire (registre des risques, tableau de bord, modèles, archivage).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A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PARTIE PRATIQUE · 4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Comité de pilotage : qui fait quoi</a:t>
            </a:r>
            <a:endParaRPr lang="en-US" sz="3400" dirty="0"/>
          </a:p>
        </p:txBody>
      </p:sp>
      <p:graphicFrame>
        <p:nvGraphicFramePr>
          <p:cNvPr id="12" name="Table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926080"/>
                <a:gridCol w="5513832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Rôle PRINCE2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Titulaire CoopHabitat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Responsabilité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Executive (sponsor)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Président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Garant du business case, décide en dernier ressort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Senior User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Trésorier (Product Owner)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Représente les besoins des utilisateurs, valide les livrables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Senior Supplier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Lead développeur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Garantit la faisabilité technique et la capacité de l'équipe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Project Manager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Chef de projet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Pilote au quotidien et produit les rapports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Assurance projet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Secrétaire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Vérifie la conformité aux décisions d'AG et la traçabilité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9893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Ces rôles recoupent la matrice RACI du Thème 8 : un seul « A » par décision.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A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PARTIE PRATIQUE · 5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Cartographie PMBOK : les processus</a:t>
            </a:r>
            <a:endParaRPr lang="en-US" sz="3400" dirty="0"/>
          </a:p>
        </p:txBody>
      </p:sp>
      <p:sp>
        <p:nvSpPr>
          <p:cNvPr id="5" name="Groupe Initialisation"/>
          <p:cNvSpPr/>
          <p:nvPr/>
        </p:nvSpPr>
        <p:spPr>
          <a:xfrm>
            <a:off x="548640" y="1691640"/>
            <a:ext cx="2103120" cy="420624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6" name="En-tête Initialisation"/>
          <p:cNvSpPr/>
          <p:nvPr/>
        </p:nvSpPr>
        <p:spPr>
          <a:xfrm>
            <a:off x="640080" y="1783080"/>
            <a:ext cx="192024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85800" y="17830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Initialisation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743200"/>
            <a:ext cx="18745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Charte de projet (2)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Parties prenantes (2)</a:t>
            </a:r>
            <a:endParaRPr lang="en-US" sz="1400" dirty="0"/>
          </a:p>
        </p:txBody>
      </p:sp>
      <p:sp>
        <p:nvSpPr>
          <p:cNvPr id="9" name="Groupe Planification"/>
          <p:cNvSpPr/>
          <p:nvPr/>
        </p:nvSpPr>
        <p:spPr>
          <a:xfrm>
            <a:off x="2796235" y="1691640"/>
            <a:ext cx="2103120" cy="420624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0" name="En-tête Planification"/>
          <p:cNvSpPr/>
          <p:nvPr/>
        </p:nvSpPr>
        <p:spPr>
          <a:xfrm>
            <a:off x="2887675" y="1783080"/>
            <a:ext cx="192024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933395" y="17830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Planification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2933395" y="2743200"/>
            <a:ext cx="18745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WBS, Gantt, PERT (5)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CBS et budget (7)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Registre des risques (6)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RACI (8)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Plan de communication (9)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Plan de tests (10)</a:t>
            </a:r>
            <a:endParaRPr lang="en-US" sz="1400" dirty="0"/>
          </a:p>
        </p:txBody>
      </p:sp>
      <p:sp>
        <p:nvSpPr>
          <p:cNvPr id="13" name="Groupe Exécution"/>
          <p:cNvSpPr/>
          <p:nvPr/>
        </p:nvSpPr>
        <p:spPr>
          <a:xfrm>
            <a:off x="5043830" y="1691640"/>
            <a:ext cx="2103120" cy="420624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4" name="En-tête Exécution"/>
          <p:cNvSpPr/>
          <p:nvPr/>
        </p:nvSpPr>
        <p:spPr>
          <a:xfrm>
            <a:off x="5135270" y="1783080"/>
            <a:ext cx="192024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180990" y="17830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Exécution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5180990" y="2743200"/>
            <a:ext cx="18745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Sprints de développement (4)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Développement d'équipe (8)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Communication (9)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Exécution des tests (10)</a:t>
            </a:r>
            <a:endParaRPr lang="en-US" sz="1400" dirty="0"/>
          </a:p>
        </p:txBody>
      </p:sp>
      <p:sp>
        <p:nvSpPr>
          <p:cNvPr id="17" name="Groupe Surveillance et maîtrise"/>
          <p:cNvSpPr/>
          <p:nvPr/>
        </p:nvSpPr>
        <p:spPr>
          <a:xfrm>
            <a:off x="7291426" y="1691640"/>
            <a:ext cx="2103120" cy="420624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8" name="En-tête Surveillance et maîtrise"/>
          <p:cNvSpPr/>
          <p:nvPr/>
        </p:nvSpPr>
        <p:spPr>
          <a:xfrm>
            <a:off x="7382866" y="1783080"/>
            <a:ext cx="192024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428586" y="17830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Surveillance et maîtrise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7428586" y="2743200"/>
            <a:ext cx="18745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EVM, CPI / SPI (7)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Rapports d'avancement (9)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Suivi des risques (6)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Métriques qualité (10)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Comité de pilotage (11)</a:t>
            </a:r>
            <a:endParaRPr lang="en-US" sz="1400" dirty="0"/>
          </a:p>
        </p:txBody>
      </p:sp>
      <p:sp>
        <p:nvSpPr>
          <p:cNvPr id="21" name="Groupe Clôture"/>
          <p:cNvSpPr/>
          <p:nvPr/>
        </p:nvSpPr>
        <p:spPr>
          <a:xfrm>
            <a:off x="9539021" y="1691640"/>
            <a:ext cx="2103120" cy="420624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22" name="En-tête Clôture"/>
          <p:cNvSpPr/>
          <p:nvPr/>
        </p:nvSpPr>
        <p:spPr>
          <a:xfrm>
            <a:off x="9630461" y="1783080"/>
            <a:ext cx="192024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9676181" y="17830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Clôture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9676181" y="2743200"/>
            <a:ext cx="18745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Rapport de clôture (12)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Passation (12)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Retour d'expérience (12)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035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Entre parenthèses : le numéro du thème du portfolio.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A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PARTIE PRATIQUE · 6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Cartographie PMBOK : les domaines</a:t>
            </a:r>
            <a:endParaRPr lang="en-US" sz="3400" dirty="0"/>
          </a:p>
        </p:txBody>
      </p:sp>
      <p:sp>
        <p:nvSpPr>
          <p:cNvPr id="5" name="Domaine Intégration"/>
          <p:cNvSpPr/>
          <p:nvPr/>
        </p:nvSpPr>
        <p:spPr>
          <a:xfrm>
            <a:off x="548640" y="1691640"/>
            <a:ext cx="21031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85800" y="1828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Intégration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2860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Charte, comité de pilotage, changements de périmètre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337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Thèmes 2, 11</a:t>
            </a:r>
            <a:endParaRPr lang="en-US" sz="1300" dirty="0"/>
          </a:p>
        </p:txBody>
      </p:sp>
      <p:sp>
        <p:nvSpPr>
          <p:cNvPr id="9" name="Domaine Périmètre"/>
          <p:cNvSpPr/>
          <p:nvPr/>
        </p:nvSpPr>
        <p:spPr>
          <a:xfrm>
            <a:off x="2796235" y="1691640"/>
            <a:ext cx="21031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933395" y="1828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Périmètre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2933395" y="22860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WBS, Product Backlog MoSCoW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2933395" y="3337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Thèmes 4, 5</a:t>
            </a:r>
            <a:endParaRPr lang="en-US" sz="1300" dirty="0"/>
          </a:p>
        </p:txBody>
      </p:sp>
      <p:sp>
        <p:nvSpPr>
          <p:cNvPr id="13" name="Domaine Échéancier"/>
          <p:cNvSpPr/>
          <p:nvPr/>
        </p:nvSpPr>
        <p:spPr>
          <a:xfrm>
            <a:off x="5043830" y="1691640"/>
            <a:ext cx="21031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180990" y="1828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Échéancier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180990" y="22860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Gantt, PERT, chemin critique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5180990" y="3337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Thème 5</a:t>
            </a:r>
            <a:endParaRPr lang="en-US" sz="1300" dirty="0"/>
          </a:p>
        </p:txBody>
      </p:sp>
      <p:sp>
        <p:nvSpPr>
          <p:cNvPr id="17" name="Domaine Coûts"/>
          <p:cNvSpPr/>
          <p:nvPr/>
        </p:nvSpPr>
        <p:spPr>
          <a:xfrm>
            <a:off x="7291426" y="1691640"/>
            <a:ext cx="21031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428586" y="1828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Coûts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7428586" y="22860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CBS, EVM, EAC / VAC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7428586" y="3337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Thème 7</a:t>
            </a:r>
            <a:endParaRPr lang="en-US" sz="1300" dirty="0"/>
          </a:p>
        </p:txBody>
      </p:sp>
      <p:sp>
        <p:nvSpPr>
          <p:cNvPr id="21" name="Domaine Qualité"/>
          <p:cNvSpPr/>
          <p:nvPr/>
        </p:nvSpPr>
        <p:spPr>
          <a:xfrm>
            <a:off x="9539021" y="1691640"/>
            <a:ext cx="21031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9676181" y="1828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Qualité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9676181" y="22860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Plan de tests, DoR / DoD, ISO 25010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9676181" y="3337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Thème 10</a:t>
            </a:r>
            <a:endParaRPr lang="en-US" sz="1300" dirty="0"/>
          </a:p>
        </p:txBody>
      </p:sp>
      <p:sp>
        <p:nvSpPr>
          <p:cNvPr id="25" name="Domaine Ressources"/>
          <p:cNvSpPr/>
          <p:nvPr/>
        </p:nvSpPr>
        <p:spPr>
          <a:xfrm>
            <a:off x="548640" y="3977640"/>
            <a:ext cx="21031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85800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Ressources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685800" y="45720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RACI, leadership, développement d'équipe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685800" y="5623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Thème 8</a:t>
            </a:r>
            <a:endParaRPr lang="en-US" sz="1300" dirty="0"/>
          </a:p>
        </p:txBody>
      </p:sp>
      <p:sp>
        <p:nvSpPr>
          <p:cNvPr id="29" name="Domaine Communication"/>
          <p:cNvSpPr/>
          <p:nvPr/>
        </p:nvSpPr>
        <p:spPr>
          <a:xfrm>
            <a:off x="2796235" y="3977640"/>
            <a:ext cx="21031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2933395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Communication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2933395" y="45720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Plan, rapports, tableau de bord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2933395" y="5623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Thème 9</a:t>
            </a:r>
            <a:endParaRPr lang="en-US" sz="1300" dirty="0"/>
          </a:p>
        </p:txBody>
      </p:sp>
      <p:sp>
        <p:nvSpPr>
          <p:cNvPr id="33" name="Domaine Risques"/>
          <p:cNvSpPr/>
          <p:nvPr/>
        </p:nvSpPr>
        <p:spPr>
          <a:xfrm>
            <a:off x="5043830" y="3977640"/>
            <a:ext cx="21031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5180990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Risques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5180990" y="45720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Registre, matrice P × I, contingence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180990" y="5623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Thème 6</a:t>
            </a:r>
            <a:endParaRPr lang="en-US" sz="1300" dirty="0"/>
          </a:p>
        </p:txBody>
      </p:sp>
      <p:sp>
        <p:nvSpPr>
          <p:cNvPr id="37" name="Domaine Approvisionnements"/>
          <p:cNvSpPr/>
          <p:nvPr/>
        </p:nvSpPr>
        <p:spPr>
          <a:xfrm>
            <a:off x="7291426" y="3977640"/>
            <a:ext cx="2103120" cy="2103120"/>
          </a:xfrm>
          <a:prstGeom prst="roundRect">
            <a:avLst>
              <a:gd name="adj" fmla="val 3478"/>
            </a:avLst>
          </a:prstGeom>
          <a:solidFill>
            <a:schemeClr val="accent6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7428586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Approvisionnements</a:t>
            </a:r>
            <a:endParaRPr lang="en-US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7428586" y="45720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Wave / SendFlash, hébergeur</a:t>
            </a:r>
            <a:endParaRPr 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7428586" y="5623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Thèmes 6, 11</a:t>
            </a:r>
            <a:endParaRPr lang="en-US" sz="1300" dirty="0"/>
          </a:p>
        </p:txBody>
      </p:sp>
      <p:sp>
        <p:nvSpPr>
          <p:cNvPr id="41" name="Domaine Parties prenantes"/>
          <p:cNvSpPr/>
          <p:nvPr/>
        </p:nvSpPr>
        <p:spPr>
          <a:xfrm>
            <a:off x="9539021" y="3977640"/>
            <a:ext cx="21031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9676181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Parties prenantes</a:t>
            </a:r>
            <a:endParaRPr lang="en-US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9676181" y="45720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Matrice pouvoir / intérêt, attentes</a:t>
            </a:r>
            <a:endParaRPr lang="en-US" sz="1500" dirty="0"/>
          </a:p>
        </p:txBody>
      </p:sp>
      <p:sp>
        <p:nvSpPr>
          <p:cNvPr id="44" name="Text 41"/>
          <p:cNvSpPr txBox="1"/>
          <p:nvPr/>
        </p:nvSpPr>
        <p:spPr>
          <a:xfrm>
            <a:off x="9676181" y="5623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Thèmes 2, 9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A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SYNTHÈSE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Ce qu'il faut retenir</a:t>
            </a:r>
            <a:endParaRPr lang="en-US" sz="3400" dirty="0"/>
          </a:p>
        </p:txBody>
      </p:sp>
      <p:sp>
        <p:nvSpPr>
          <p:cNvPr id="5" name="Message Aucun cadre en entier"/>
          <p:cNvSpPr/>
          <p:nvPr/>
        </p:nvSpPr>
        <p:spPr>
          <a:xfrm>
            <a:off x="548640" y="1691640"/>
            <a:ext cx="53949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6" name="Pastille FaPuzzlePiece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icône PuzzlePie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1259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45920" y="19659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Aucun cadre en entier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7889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Un référentiel est une boîte à outils, pas une méthode à appliquer telle quelle.</a:t>
            </a:r>
            <a:endParaRPr lang="en-US" sz="1700" dirty="0"/>
          </a:p>
        </p:txBody>
      </p:sp>
      <p:sp>
        <p:nvSpPr>
          <p:cNvPr id="10" name="Message Trois questions différentes"/>
          <p:cNvSpPr/>
          <p:nvPr/>
        </p:nvSpPr>
        <p:spPr>
          <a:xfrm>
            <a:off x="6245352" y="1691640"/>
            <a:ext cx="53949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1" name="Pastille FaSitemap"/>
          <p:cNvSpPr/>
          <p:nvPr/>
        </p:nvSpPr>
        <p:spPr>
          <a:xfrm>
            <a:off x="6519672" y="1965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icône Sitema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9692" y="21259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342632" y="19659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Trois questions différentes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6519672" y="27889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PMBOK : savoir. PRINCE2 : gouverner. ITIL : exploiter.</a:t>
            </a:r>
            <a:endParaRPr lang="en-US" sz="1700" dirty="0"/>
          </a:p>
        </p:txBody>
      </p:sp>
      <p:sp>
        <p:nvSpPr>
          <p:cNvPr id="15" name="Message Un modèle hybride allégé"/>
          <p:cNvSpPr/>
          <p:nvPr/>
        </p:nvSpPr>
        <p:spPr>
          <a:xfrm>
            <a:off x="548640" y="3977640"/>
            <a:ext cx="53949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6" name="Pastille FaUniversity"/>
          <p:cNvSpPr/>
          <p:nvPr/>
        </p:nvSpPr>
        <p:spPr>
          <a:xfrm>
            <a:off x="822960" y="4251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2" descr="icône Universit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441198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645920" y="42519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Un modèle hybride allégé</a:t>
            </a:r>
            <a:endParaRPr lang="en-US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822960" y="50749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Scrum, PRINCE2 allégé, PMBOK en vocabulaire, ITIL après le lancement.</a:t>
            </a:r>
            <a:endParaRPr lang="en-US" sz="1700" dirty="0"/>
          </a:p>
        </p:txBody>
      </p:sp>
      <p:sp>
        <p:nvSpPr>
          <p:cNvPr id="20" name="Message Un portfolio cohérent"/>
          <p:cNvSpPr/>
          <p:nvPr/>
        </p:nvSpPr>
        <p:spPr>
          <a:xfrm>
            <a:off x="6245352" y="3977640"/>
            <a:ext cx="53949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21" name="Pastille FaProjectDiagram"/>
          <p:cNvSpPr/>
          <p:nvPr/>
        </p:nvSpPr>
        <p:spPr>
          <a:xfrm>
            <a:off x="6519672" y="4251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Image 3" descr="icône ProjectDiagram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9692" y="4411980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342632" y="42519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Un portfolio cohérent</a:t>
            </a:r>
            <a:endParaRPr lang="en-US" sz="2000" dirty="0"/>
          </a:p>
        </p:txBody>
      </p:sp>
      <p:sp>
        <p:nvSpPr>
          <p:cNvPr id="24" name="Text 17"/>
          <p:cNvSpPr txBox="1"/>
          <p:nvPr/>
        </p:nvSpPr>
        <p:spPr>
          <a:xfrm>
            <a:off x="6519672" y="50749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Nos livrables couvrent les 5 groupes de processus ; le point faible : les approvisionnements.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A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écor haut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chemeClr val="accent1">
              <a:alpha val="30000"/>
            </a:schemeClr>
          </a:solidFill>
          <a:ln/>
        </p:spPr>
      </p:sp>
      <p:sp>
        <p:nvSpPr>
          <p:cNvPr id="3" name="Décor bas"/>
          <p:cNvSpPr/>
          <p:nvPr/>
        </p:nvSpPr>
        <p:spPr>
          <a:xfrm>
            <a:off x="-1280160" y="4937760"/>
            <a:ext cx="3657600" cy="3657600"/>
          </a:xfrm>
          <a:prstGeom prst="ellipse">
            <a:avLst/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822960" y="173736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Merci de votre attention</a:t>
            </a:r>
            <a:endParaRPr lang="en-US" sz="4600" dirty="0"/>
          </a:p>
        </p:txBody>
      </p:sp>
      <p:sp>
        <p:nvSpPr>
          <p:cNvPr id="5" name="Questions"/>
          <p:cNvSpPr txBox="1"/>
          <p:nvPr/>
        </p:nvSpPr>
        <p:spPr>
          <a:xfrm>
            <a:off x="822960" y="2926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accent3"/>
                </a:solidFill>
              </a:rPr>
              <a:t>Des questions ?</a:t>
            </a:r>
            <a:endParaRPr lang="en-US" sz="2400" dirty="0"/>
          </a:p>
        </p:txBody>
      </p:sp>
      <p:sp>
        <p:nvSpPr>
          <p:cNvPr id="6" name="Groupe"/>
          <p:cNvSpPr txBox="1"/>
          <p:nvPr/>
        </p:nvSpPr>
        <p:spPr>
          <a:xfrm>
            <a:off x="822960" y="4846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GROUPE 11</a:t>
            </a:r>
            <a:endParaRPr lang="en-US" sz="1400" dirty="0"/>
          </a:p>
        </p:txBody>
      </p:sp>
      <p:sp>
        <p:nvSpPr>
          <p:cNvPr id="7" name="Membres"/>
          <p:cNvSpPr txBox="1"/>
          <p:nvPr/>
        </p:nvSpPr>
        <p:spPr>
          <a:xfrm>
            <a:off x="822960" y="523036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Abdourahmane Diaw   ·   Coumbel Ka   ·   Ousmane Niang   ·   Hawa Diallo   ·   Abib Traoré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opHabitat Teal">
  <a:themeElements>
    <a:clrScheme name="CoopHabitat Teal">
      <a:dk1>
        <a:srgbClr val="16302F"/>
      </a:dk1>
      <a:lt1>
        <a:srgbClr val="FFFFFF"/>
      </a:lt1>
      <a:dk2>
        <a:srgbClr val="0B2E30"/>
      </a:dk2>
      <a:lt2>
        <a:srgbClr val="F2F8F7"/>
      </a:lt2>
      <a:accent1>
        <a:srgbClr val="028090"/>
      </a:accent1>
      <a:accent2>
        <a:srgbClr val="00A896"/>
      </a:accent2>
      <a:accent3>
        <a:srgbClr val="02C39A"/>
      </a:accent3>
      <a:accent4>
        <a:srgbClr val="E0722F"/>
      </a:accent4>
      <a:accent5>
        <a:srgbClr val="5C7A7D"/>
      </a:accent5>
      <a:accent6>
        <a:srgbClr val="C9DAD8"/>
      </a:accent6>
      <a:hlink>
        <a:srgbClr val="028090"/>
      </a:hlink>
      <a:folHlink>
        <a:srgbClr val="5C7A7D"/>
      </a:folHlink>
    </a:clrScheme>
    <a:fontScheme name="CoopHabitat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Groupe 11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Thème 11 — Gouvernance, Cadres de Référence et Certifications</dc:title>
  <dc:subject>PptxGenJS Presentation</dc:subject>
  <dc:creator>Groupe 11</dc:creator>
  <cp:lastModifiedBy>Groupe 11</cp:lastModifiedBy>
  <cp:revision>1</cp:revision>
  <dcterms:created xsi:type="dcterms:W3CDTF">2026-10-15T00:11:33Z</dcterms:created>
  <dcterms:modified xsi:type="dcterms:W3CDTF">2026-10-15T00:11:33Z</dcterms:modified>
</cp:coreProperties>
</file>