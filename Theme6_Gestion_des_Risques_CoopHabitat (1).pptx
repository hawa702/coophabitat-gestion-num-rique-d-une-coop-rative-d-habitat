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84" autoAdjust="0"/>
    <p:restoredTop sz="94610"/>
  </p:normalViewPr>
  <p:slideViewPr>
    <p:cSldViewPr snapToGrid="0" snapToObjects="1">
      <p:cViewPr>
        <p:scale>
          <a:sx n="67" d="100"/>
          <a:sy n="67" d="100"/>
        </p:scale>
        <p:origin x="49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37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383280"/>
            <a:ext cx="1188720" cy="11887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760720"/>
            <a:ext cx="320040" cy="3200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Risques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Processus, analyse et stratégies de réponse — appliqués au projet CoopHabitat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— Gestion numérique d'une coopérative d'habitat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Coumbel 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 Diaw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Ousmane Niang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 Diallo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 Traore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115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mtClean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150" smtClean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Licence 3 Génie Informatique  •  UFR Sciences et Technologies  •  Université Assane Seck de Ziguinchor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Théorique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67919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511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gérer les risques 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255264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272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en 5 étapes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831336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03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qualitative (matrice P × I)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407408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79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quantitative (arbres, Monte Carlo)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983480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55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réponse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55955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4315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continue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1600200"/>
            <a:ext cx="5394960" cy="44348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65392" y="190195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1192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Pratique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565392" y="267919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25511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CoopHabitat &amp; le Cloud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65392" y="3255264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7" name="Text 25"/>
          <p:cNvSpPr/>
          <p:nvPr/>
        </p:nvSpPr>
        <p:spPr>
          <a:xfrm>
            <a:off x="6793992" y="31272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risques du projet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65392" y="3831336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793992" y="3703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risques CoopHabitat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65392" y="4407408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31" name="Text 29"/>
          <p:cNvSpPr/>
          <p:nvPr/>
        </p:nvSpPr>
        <p:spPr>
          <a:xfrm>
            <a:off x="6793992" y="4279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réponse &amp; contingence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65392" y="4983480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33" name="Text 31"/>
          <p:cNvSpPr/>
          <p:nvPr/>
        </p:nvSpPr>
        <p:spPr>
          <a:xfrm>
            <a:off x="6793992" y="4855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au risque &amp; priorisation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gérer les risques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projet informatique — migration cloud, développement d'une plateforme, déploiement d'un service — évolue dans l'incertitude. Un risque non anticipé se transforme en retard, surcoût ou perte de confiance des utilisateurs.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486400" cy="2651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risques, c'est 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</a:t>
            </a: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plutôt que subir
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</a:t>
            </a: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efforts sur ce qui compte
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valeur livrée au client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03920" y="1645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projets IT échouent en partie à cause de risques mal anticipés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081528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21868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21868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clés composent un processus structuré de gestion des risques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4654296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479145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x2-3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503920" y="479145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d'un risque traité tardivement vs anticipé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processus de gestion des risques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continu, pas une action ponctuelle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63624" y="2560320"/>
            <a:ext cx="9034272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52144" y="21488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15214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0299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3832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Recenser les événements pouvant affecter le projet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2148840"/>
            <a:ext cx="822960" cy="8229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07208" y="3200400"/>
            <a:ext cx="20299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44368" y="33832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4368" y="3977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causes, sources et conséquences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5776" y="3200400"/>
            <a:ext cx="20299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02936" y="33832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02936" y="3977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probabilité et impact, prioriser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27848" y="2148840"/>
            <a:ext cx="822960" cy="8229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24344" y="3200400"/>
            <a:ext cx="20299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61504" y="33832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61504" y="3977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et mettre en œuvre une stratégie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86416" y="21488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582912" y="3200400"/>
            <a:ext cx="20299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20072" y="33832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20072" y="3977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l'évolution et ajuster en continu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qualitative : la matrice Probabilité × Impact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risque identifié est positionné selon deux axes : sa probabilité d'occurrence et la gravité de son impact. Le croisement des deux détermine le niveau de criticité et l'ordre de priorité de traitement.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92608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154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 routine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67328"/>
            <a:ext cx="292608" cy="292608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7216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mitigation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34256"/>
            <a:ext cx="292608" cy="29260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288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/ Critique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immédiate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1179576" cy="1179576"/>
          </a:xfrm>
          <a:prstGeom prst="rect">
            <a:avLst/>
          </a:prstGeom>
          <a:solidFill>
            <a:srgbClr val="2E7D3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1417320"/>
            <a:ext cx="1179576" cy="1179576"/>
          </a:xfrm>
          <a:prstGeom prst="rect">
            <a:avLst/>
          </a:prstGeom>
          <a:solidFill>
            <a:srgbClr val="E0A5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1417320"/>
            <a:ext cx="1179576" cy="1179576"/>
          </a:xfrm>
          <a:prstGeom prst="rect">
            <a:avLst/>
          </a:prstGeom>
          <a:solidFill>
            <a:srgbClr val="C1121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651760"/>
            <a:ext cx="1179576" cy="1179576"/>
          </a:xfrm>
          <a:prstGeom prst="rect">
            <a:avLst/>
          </a:prstGeom>
          <a:solidFill>
            <a:srgbClr val="2E7D3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2651760"/>
            <a:ext cx="1179576" cy="1179576"/>
          </a:xfrm>
          <a:prstGeom prst="rect">
            <a:avLst/>
          </a:prstGeom>
          <a:solidFill>
            <a:srgbClr val="E0A5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651760"/>
            <a:ext cx="1179576" cy="1179576"/>
          </a:xfrm>
          <a:prstGeom prst="rect">
            <a:avLst/>
          </a:prstGeom>
          <a:solidFill>
            <a:srgbClr val="C1121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86200"/>
            <a:ext cx="1179576" cy="1179576"/>
          </a:xfrm>
          <a:prstGeom prst="rect">
            <a:avLst/>
          </a:prstGeom>
          <a:solidFill>
            <a:srgbClr val="E0A5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3886200"/>
            <a:ext cx="1179576" cy="1179576"/>
          </a:xfrm>
          <a:prstGeom prst="rect">
            <a:avLst/>
          </a:prstGeom>
          <a:solidFill>
            <a:srgbClr val="C1121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3886200"/>
            <a:ext cx="1179576" cy="1179576"/>
          </a:xfrm>
          <a:prstGeom prst="rect">
            <a:avLst/>
          </a:prstGeom>
          <a:solidFill>
            <a:srgbClr val="C1121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417320"/>
            <a:ext cx="914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651760"/>
            <a:ext cx="914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886200"/>
            <a:ext cx="914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513892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513892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0" y="513892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 rot="16200000">
            <a:off x="489204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quantitative des risques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jugement qualitatif ne suffit plus, on chiffre le risque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Arbres de décision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80160" y="2834640"/>
            <a:ext cx="18288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554480" y="3291840"/>
            <a:ext cx="0" cy="5029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3291840"/>
            <a:ext cx="640080" cy="5029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794760"/>
            <a:ext cx="1691640" cy="4572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(70%)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794760"/>
            <a:ext cx="1691640" cy="457200"/>
          </a:xfrm>
          <a:prstGeom prst="rect">
            <a:avLst/>
          </a:prstGeom>
          <a:solidFill>
            <a:srgbClr val="9FB0C8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(30%)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des décisions séquentielles sous incertitude : chaque branche porte une probabilité et un gain/coût, permettant de calculer l'espérance de chaque chemin.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1783080"/>
            <a:ext cx="5394960" cy="425196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201168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14032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Simulations Monte Carlo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66560" y="301752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329184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28803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342900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31089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0" y="35661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052560" y="297180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0" y="329184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784080" y="315468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149840" y="347472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0" y="301752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35661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315468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28803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352044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0" y="28803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0" y="324612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329184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332720" y="333756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0" y="2926080"/>
            <a:ext cx="100584" cy="100584"/>
          </a:xfrm>
          <a:prstGeom prst="ellipse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3977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d'itérations font varier durée, coûts et probabilités pour obtenir une distribution complète des résultats possibles — plutôt qu'une estimation unique.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19672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"80% de chances que le projet coûte moins de X FCFA"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Stratégies de réponse aux risques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14884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Évitement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la cause du risque en modifiant le plan du projet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691640"/>
            <a:ext cx="2651760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148840"/>
            <a:ext cx="731520" cy="7315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Atténuation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probabilité ou l'impact par des actions préventives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91640"/>
            <a:ext cx="2651760" cy="164592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2148840"/>
            <a:ext cx="731520" cy="731520"/>
          </a:xfrm>
          <a:prstGeom prst="ellipse">
            <a:avLst/>
          </a:prstGeom>
          <a:solidFill>
            <a:srgbClr val="6E7FA0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la charge du risque à un tiers (assurance, prestataire)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691640"/>
            <a:ext cx="2651760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12680" y="214884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8972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8116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 le risque en connaissance de cause, avec ou sans réserve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et contrôle continu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risques ne s'arrête jamais tant que le projet est en cours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Revue périodique du registre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45920" y="25877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Réévaluer probabilité et impact à chaque itération / sprint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194560"/>
            <a:ext cx="594360" cy="5943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d'alerte (KRI)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69480" y="25877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des signaux précoces révélateurs d'un risque qui se matérialise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Nouveaux risques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45920" y="45537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risques émergents non prévus initialement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160520"/>
            <a:ext cx="594360" cy="5943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Efficacité des réponses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69480" y="45537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actions engagées réduisent réellement l'exposition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3200400" cy="32004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théorie au terrain 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cas CoopHabitat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risques  ·  Matrice P × I  ·  Plans de réponse  ·  Exposition financière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CoopHabitat et le déploiement Cloud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digitalise la gestion d'une coopérative d'habitat au Sénégal : cotisations, attribution de lots, paiements Mobile Money, comptes rendus. L'application est hébergée sur un cloud gratuit (Render / Railway / Vercel), ce qui l'expose à des risques techniques, financiers et humains, au même titre qu'un projet classique de migration Cloud.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306824"/>
            <a:ext cx="82296" cy="822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(API REST)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4306824"/>
            <a:ext cx="82296" cy="822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(Front mobile-first)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809744"/>
            <a:ext cx="82296" cy="822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681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(données)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4809744"/>
            <a:ext cx="82296" cy="822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4681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Reports (PDF)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312664"/>
            <a:ext cx="82296" cy="822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184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/ SendFlash (paiement)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330952" cy="457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en jeu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9400" y="2331720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223113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des membres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des cotisations et des attributions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264408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316382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de service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 l'app pendant les échéances de paiement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0" y="4197096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40965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données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cotisations, soldes, PV d'attribution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129784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 personnelles des membres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des risques — CoopHabitat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507492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417320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18288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1732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15087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173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0" y="1417320"/>
            <a:ext cx="192024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4173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020824"/>
            <a:ext cx="64008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20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2020824"/>
            <a:ext cx="507492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020824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de l'hébergeur cloud (Render/Railway)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020824"/>
            <a:ext cx="182880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208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2020824"/>
            <a:ext cx="15087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52460" y="2176272"/>
            <a:ext cx="1188720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202082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2020824"/>
            <a:ext cx="1920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2176272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202082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624328"/>
            <a:ext cx="640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6243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8720" y="2624328"/>
            <a:ext cx="50749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26243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de sécurité JWT / fuite de données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624328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6243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2624328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52460" y="2779776"/>
            <a:ext cx="1188720" cy="292608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26243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01200" y="2624328"/>
            <a:ext cx="1920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960" y="2779776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0" y="262432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227832"/>
            <a:ext cx="64008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22783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88720" y="3227832"/>
            <a:ext cx="507492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3227832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de l'API Mobile Money (Wave/SendFlash)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3227832"/>
            <a:ext cx="182880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2278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92440" y="3227832"/>
            <a:ext cx="15087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52460" y="3383280"/>
            <a:ext cx="1188720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092440" y="322783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0" y="3227832"/>
            <a:ext cx="1920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66960" y="3383280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601200" y="32278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3831336"/>
            <a:ext cx="640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83133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88720" y="3831336"/>
            <a:ext cx="50749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88720" y="3831336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données PostgreSQL (pas de sauvegarde)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263640" y="3831336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38313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092440" y="3831336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2460" y="3986784"/>
            <a:ext cx="1188720" cy="292608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092440" y="383133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601200" y="3831336"/>
            <a:ext cx="1920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66960" y="3986784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601200" y="38313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4434840"/>
            <a:ext cx="64008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43484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188720" y="4434840"/>
            <a:ext cx="507492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88720" y="4434840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 sur une attribution de lot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263640" y="4434840"/>
            <a:ext cx="182880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63640" y="44348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Organisationnel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092440" y="4434840"/>
            <a:ext cx="15087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52460" y="4590288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092440" y="443484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601200" y="4434840"/>
            <a:ext cx="1920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66960" y="4590288"/>
            <a:ext cx="1188720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9601200" y="443484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5038344"/>
            <a:ext cx="640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503834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188720" y="5038344"/>
            <a:ext cx="50749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88720" y="5038344"/>
            <a:ext cx="507492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adoption numérique par les membres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6263640" y="5038344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63640" y="50383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8092440" y="5038344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52460" y="5193792"/>
            <a:ext cx="1188720" cy="292608"/>
          </a:xfrm>
          <a:prstGeom prst="rect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8092440" y="503834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601200" y="5038344"/>
            <a:ext cx="1920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66960" y="5193792"/>
            <a:ext cx="1188720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9601200" y="503834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des risques — Probabilité × Impact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0" y="1508760"/>
            <a:ext cx="2093976" cy="1179576"/>
          </a:xfrm>
          <a:prstGeom prst="rect">
            <a:avLst/>
          </a:prstGeom>
          <a:solidFill>
            <a:srgbClr val="2E7D32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1508760"/>
            <a:ext cx="2093976" cy="1179576"/>
          </a:xfrm>
          <a:prstGeom prst="rect">
            <a:avLst/>
          </a:prstGeom>
          <a:solidFill>
            <a:srgbClr val="E0A526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508760"/>
            <a:ext cx="2093976" cy="1179576"/>
          </a:xfrm>
          <a:prstGeom prst="rect">
            <a:avLst/>
          </a:prstGeom>
          <a:solidFill>
            <a:srgbClr val="C1121F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743200"/>
            <a:ext cx="2093976" cy="1179576"/>
          </a:xfrm>
          <a:prstGeom prst="rect">
            <a:avLst/>
          </a:prstGeom>
          <a:solidFill>
            <a:srgbClr val="2E7D32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0" y="2743200"/>
            <a:ext cx="2093976" cy="1179576"/>
          </a:xfrm>
          <a:prstGeom prst="rect">
            <a:avLst/>
          </a:prstGeom>
          <a:solidFill>
            <a:srgbClr val="E0A526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743200"/>
            <a:ext cx="2093976" cy="1179576"/>
          </a:xfrm>
          <a:prstGeom prst="rect">
            <a:avLst/>
          </a:prstGeom>
          <a:solidFill>
            <a:srgbClr val="C1121F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977640"/>
            <a:ext cx="2093976" cy="1179576"/>
          </a:xfrm>
          <a:prstGeom prst="rect">
            <a:avLst/>
          </a:prstGeom>
          <a:solidFill>
            <a:srgbClr val="E0A526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3977640"/>
            <a:ext cx="2093976" cy="1179576"/>
          </a:xfrm>
          <a:prstGeom prst="rect">
            <a:avLst/>
          </a:prstGeom>
          <a:solidFill>
            <a:srgbClr val="C1121F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3977640"/>
            <a:ext cx="2093976" cy="1179576"/>
          </a:xfrm>
          <a:prstGeom prst="rect">
            <a:avLst/>
          </a:prstGeom>
          <a:solidFill>
            <a:srgbClr val="C1121F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508760"/>
            <a:ext cx="1188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1188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977640"/>
            <a:ext cx="1188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525780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525780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525780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5596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600200" y="201168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34740" y="180594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4740" y="18059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57700" y="180594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7700" y="18059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783580" y="304038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83580" y="30403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06540" y="304038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6540" y="30403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32420" y="427482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32420" y="42748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755380" y="4274820"/>
            <a:ext cx="585216" cy="58521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55380" y="42748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pastille = un risque du registre, positionné selon son évaluation qualitative.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de réponse et de contingence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43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1417320"/>
            <a:ext cx="169164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173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417320"/>
            <a:ext cx="44805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417320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de mitigation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417320"/>
            <a:ext cx="420624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4173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20824"/>
            <a:ext cx="5943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0824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2020824"/>
            <a:ext cx="16916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2728" y="2176272"/>
            <a:ext cx="1472184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02082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4640" y="2020824"/>
            <a:ext cx="44805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0208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alertes de disponibilité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2020824"/>
            <a:ext cx="4206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020824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vers un hébergeur secondaire (&lt; 2h)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624328"/>
            <a:ext cx="594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24328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" y="2624328"/>
            <a:ext cx="1691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2728" y="2779776"/>
            <a:ext cx="1472184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26243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34640" y="2624328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2624328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sécurité, rotation des tokens, HTTPS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2624328"/>
            <a:ext cx="4206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6243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immédiate + rotation des clés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227832"/>
            <a:ext cx="5943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2783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43000" y="3227832"/>
            <a:ext cx="16916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2728" y="3383280"/>
            <a:ext cx="1472184" cy="292608"/>
          </a:xfrm>
          <a:prstGeom prst="rect">
            <a:avLst/>
          </a:prstGeom>
          <a:solidFill>
            <a:srgbClr val="6E7FA0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322783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34640" y="3227832"/>
            <a:ext cx="44805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227832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avec le prestataire de paiement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0" y="3227832"/>
            <a:ext cx="4206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32278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temporaire par le trésorier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831336"/>
            <a:ext cx="594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831336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43000" y="3831336"/>
            <a:ext cx="1691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2728" y="3986784"/>
            <a:ext cx="1472184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383133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834640" y="3831336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831336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automatiques quotidiennes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200" y="3831336"/>
            <a:ext cx="4206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8313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depuis la dernière sauvegarde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4434840"/>
            <a:ext cx="5943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43484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43000" y="4434840"/>
            <a:ext cx="16916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52728" y="4590288"/>
            <a:ext cx="1472184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4348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834640" y="4434840"/>
            <a:ext cx="448056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4434840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auditable, PV signé numériquement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315200" y="4434840"/>
            <a:ext cx="4206240" cy="603504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44348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 à la commission d'attribution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5038344"/>
            <a:ext cx="594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5038344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43000" y="5038344"/>
            <a:ext cx="1691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52728" y="5193792"/>
            <a:ext cx="1472184" cy="292608"/>
          </a:xfrm>
          <a:prstGeom prst="rect">
            <a:avLst/>
          </a:prstGeom>
          <a:solidFill>
            <a:srgbClr val="E0A526">
              <a:alpha val="8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43000" y="50383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834640" y="5038344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5038344"/>
            <a:ext cx="448056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membres, mode offline (PWA)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315200" y="5038344"/>
            <a:ext cx="4206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0" y="50383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du trésorier en présentiel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Exposition au risque &amp; priorisation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1234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= </a:t>
            </a:r>
            <a:r>
              <a:rPr lang="en-US" sz="1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lang="en-US" sz="1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financier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R4 a 15% de chance de survenir avec un impact estimé à 2 500 000 FCFA (perte des historiques de cotisation) → exposition = 375 000 FCFA.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0515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2926080"/>
            <a:ext cx="9144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926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2926080"/>
            <a:ext cx="21488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2880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26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(FCFA)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926080"/>
            <a:ext cx="32461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(FCFA)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05156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00200" y="3429000"/>
            <a:ext cx="91440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3429000"/>
            <a:ext cx="214884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429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288036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3429000"/>
            <a:ext cx="324612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3429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05156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31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00200" y="3931920"/>
            <a:ext cx="91440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31920"/>
            <a:ext cx="214884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931920"/>
            <a:ext cx="288036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931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43800" y="3931920"/>
            <a:ext cx="3246120" cy="502920"/>
          </a:xfrm>
          <a:prstGeom prst="rect">
            <a:avLst/>
          </a:prstGeom>
          <a:solidFill>
            <a:srgbClr val="FBEFD4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3931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434840"/>
            <a:ext cx="10515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34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00200" y="4434840"/>
            <a:ext cx="9144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4434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14600" y="4434840"/>
            <a:ext cx="214884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4434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4434840"/>
            <a:ext cx="28803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434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600 000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543800" y="4434840"/>
            <a:ext cx="324612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4434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210 000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493776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937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600200" y="49377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4937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14600" y="4937760"/>
            <a:ext cx="2148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4937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63440" y="4937760"/>
            <a:ext cx="2880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937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800 000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543800" y="493776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43800" y="4937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8640" y="5440680"/>
            <a:ext cx="10515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54406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600200" y="5440680"/>
            <a:ext cx="9144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00200" y="5440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514600" y="5440680"/>
            <a:ext cx="214884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1460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663440" y="5440680"/>
            <a:ext cx="28803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5440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543800" y="5440680"/>
            <a:ext cx="324612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43800" y="5440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160 000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48640" y="594360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943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600200" y="594360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00200" y="5943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514600" y="5943600"/>
            <a:ext cx="2148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14600" y="5943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663440" y="5943600"/>
            <a:ext cx="2880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5943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543800" y="594360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5943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135 000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48640" y="6629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risques les plus prioritaires (fond ambré) concentrent l'essentiel de l'exposition financière du projet et doivent être traités en premier.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processus, pas un événement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Identifier, analyser, évaluer, traiter, surveiller : un cycle continu tout au long du projet.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Qualitatif et quantitatif se complètent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P × I priorise vite ; l'exposition financière objective la décision.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050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CoopHabitat n'échappe pas à la règle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cloud, paiement mobile, données sensibles : les mêmes principes s'appliquent.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00507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950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Anticiper coûte toujours moins cher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de contingence prêt à l'avance limite l'impact réel d'un risque avéré.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6 – Gestion des Risques  |  Groupe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smtClean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Coumbel Ka · Abdourahmane Diaw · Ousmane Niang · Hawa Diallo · Abib Traore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3 Génie Informatique — UFR ST — Université Assane Seck de Ziguinchor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1350</Words>
  <Application>Microsoft Office PowerPoint</Application>
  <PresentationFormat>Grand écran</PresentationFormat>
  <Paragraphs>323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bmd tech</cp:lastModifiedBy>
  <cp:revision>3</cp:revision>
  <dcterms:created xsi:type="dcterms:W3CDTF">2026-07-14T22:26:00Z</dcterms:created>
  <dcterms:modified xsi:type="dcterms:W3CDTF">2026-07-20T07:45:00Z</dcterms:modified>
</cp:coreProperties>
</file>