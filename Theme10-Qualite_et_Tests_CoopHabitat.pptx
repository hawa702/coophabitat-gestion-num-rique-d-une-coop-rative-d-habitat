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0b911b8-0896-8d12-30f4-4381decbe8e6}">
          <p14:sldIdLst>
            <p14:sldId id="256"/>
            <p14:sldId id="257"/>
          </p14:sldIdLst>
        </p14:section>
        <p14:section name="Partie théorique" id="{a4e9ff59-04c8-4db5-aeb2-b5101e9a49ef}">
          <p14:sldIdLst>
            <p14:sldId id="258"/>
            <p14:sldId id="259"/>
            <p14:sldId id="260"/>
            <p14:sldId id="261"/>
            <p14:sldId id="262"/>
          </p14:sldIdLst>
        </p14:section>
        <p14:section name="Partie pratique" id="{94ee91ab-8e1b-c7c3-4955-765d3a1c7c29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1a75ec05-bcd2-aef9-524a-3bca3b1edde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thème 10 : qualité et tests. Fil rouge : la plateforme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volets : la théorie de la qualité et des tests, puis son application à CoopHabitat.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qualité fixe le niveau de qualité attendu et la façon de le garantir et de le 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 agit sur le processus pour prévenir ; CQ agit sur le produit pour détecter.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9001 porte sur le système de management ; ISO/IEC 25010 sur la qualité du produit logiciel.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Beaucoup de tests unitaires rapides à la base, peu de tests de recette lents et coûteux au sommet.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TDD : on écrit le test avant le code. BDD : on décrit le comportement en langage naturel.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niveaux de tests, chacun avec ses outils et son critère de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caractéristiques retenues parmi les huit, avec le moyen de vérification associé.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Definition of Ready protège l'entrée dans le sprint, la Definition of Done protège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des sept cas de tests du plan : paiement, échec, pénalité, rappel, accès par rôle, PV d'attribution.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indicateurs sur six atteignent leur cible ; le taux de réussite de recette est le point d'attention.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non-conformités : deux corrigées, une en cours, une ouverte.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messages à retenir.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Thème 10 — Qualité et Tests · CoopHabitat · Groupe 11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2E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Eyebrow"/>
          <p:cNvSpPr txBox="1"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THÈME 10 · PROJET COOPHABITAT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0116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Qualité et Tests dans les Projets IT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6576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Plan de tests, critères d'acceptation et métriques qualité appliqués à la plateforme de gestion numérique d'une coopérative d'habitat.</a:t>
            </a:r>
            <a:endParaRPr lang="en-US" sz="1800" dirty="0"/>
          </a:p>
        </p:txBody>
      </p:sp>
      <p:sp>
        <p:nvSpPr>
          <p:cNvPr id="7" name="Groupe"/>
          <p:cNvSpPr txBox="1"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8" name="Membres"/>
          <p:cNvSpPr txBox="1"/>
          <p:nvPr/>
        </p:nvSpPr>
        <p:spPr>
          <a:xfrm>
            <a:off x="822960" y="5596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que nous allons voir</a:t>
            </a:r>
            <a:endParaRPr lang="en-US" sz="3400" dirty="0"/>
          </a:p>
        </p:txBody>
      </p:sp>
      <p:sp>
        <p:nvSpPr>
          <p:cNvPr id="5" name="Carte PARTIE THÉORIQUE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6" name="Pastille FaBook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THÉORIQUE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 qualité et assurance qualité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Assurance qualité vs contrôle qualité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Normes : ISO 9001 et ISO/IEC 25010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Stratégies de tests, de l'unitaire à la recette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TDD et BDD</a:t>
            </a:r>
            <a:endParaRPr lang="en-US" sz="2000" dirty="0"/>
          </a:p>
        </p:txBody>
      </p:sp>
      <p:sp>
        <p:nvSpPr>
          <p:cNvPr id="10" name="Carte PARTIE PRATIQUE — CoopHabitat"/>
          <p:cNvSpPr/>
          <p:nvPr/>
        </p:nvSpPr>
        <p:spPr>
          <a:xfrm>
            <a:off x="6199632" y="16916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11" name="Pastille FaTasks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Tas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chemeClr val="accent1"/>
                </a:solidFill>
              </a:rPr>
              <a:t>PARTIE PRATIQUE — CoopHabitat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565392" y="292608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Plan de tests de la plateforme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Caractéristiques ISO/IEC 25010 prioritaires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Definition of Ready et Definition of Done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Cas de tests fonctionnels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Métriques qualité et non-conformités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 plan qualité du projet</a:t>
            </a:r>
            <a:endParaRPr lang="en-US" sz="3400" dirty="0"/>
          </a:p>
        </p:txBody>
      </p:sp>
      <p:sp>
        <p:nvSpPr>
          <p:cNvPr id="5" name="Carte Objectifs qualité"/>
          <p:cNvSpPr/>
          <p:nvPr/>
        </p:nvSpPr>
        <p:spPr>
          <a:xfrm>
            <a:off x="548640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6" name="Pastille FaBullseye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61972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Objectifs qualité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Niveau de qualité attendu, traduit en exigences vérifiables</a:t>
            </a:r>
            <a:endParaRPr lang="en-US" sz="1400" dirty="0"/>
          </a:p>
        </p:txBody>
      </p:sp>
      <p:sp>
        <p:nvSpPr>
          <p:cNvPr id="10" name="Carte Normes et standards"/>
          <p:cNvSpPr/>
          <p:nvPr/>
        </p:nvSpPr>
        <p:spPr>
          <a:xfrm>
            <a:off x="4338828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1" name="Pastille FaCertificate"/>
          <p:cNvSpPr/>
          <p:nvPr/>
        </p:nvSpPr>
        <p:spPr>
          <a:xfrm>
            <a:off x="4567428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Certific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61972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98948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Normes et standards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4567428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Référentiels retenus : ISO 9001, ISO/IEC 25010</a:t>
            </a:r>
            <a:endParaRPr lang="en-US" sz="1400" dirty="0"/>
          </a:p>
        </p:txBody>
      </p:sp>
      <p:sp>
        <p:nvSpPr>
          <p:cNvPr id="15" name="Carte Rôles et responsabilités"/>
          <p:cNvSpPr/>
          <p:nvPr/>
        </p:nvSpPr>
        <p:spPr>
          <a:xfrm>
            <a:off x="8129016" y="169164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6" name="Pastille FaUsers"/>
          <p:cNvSpPr/>
          <p:nvPr/>
        </p:nvSpPr>
        <p:spPr>
          <a:xfrm>
            <a:off x="8357616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206197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89136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Rôles et responsabilités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357616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 conçoit, teste, valide et signe la recette</a:t>
            </a:r>
            <a:endParaRPr lang="en-US" sz="1400" dirty="0"/>
          </a:p>
        </p:txBody>
      </p:sp>
      <p:sp>
        <p:nvSpPr>
          <p:cNvPr id="20" name="Carte Activités AQ et CQ"/>
          <p:cNvSpPr/>
          <p:nvPr/>
        </p:nvSpPr>
        <p:spPr>
          <a:xfrm>
            <a:off x="548640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1" name="Pastille FaClipboardCheck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165092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08760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Activités AQ et CQ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Revues, audits, tests et inspections planifiés</a:t>
            </a:r>
            <a:endParaRPr lang="en-US" sz="1400" dirty="0"/>
          </a:p>
        </p:txBody>
      </p:sp>
      <p:sp>
        <p:nvSpPr>
          <p:cNvPr id="25" name="Carte Critères d'acceptation"/>
          <p:cNvSpPr/>
          <p:nvPr/>
        </p:nvSpPr>
        <p:spPr>
          <a:xfrm>
            <a:off x="4338828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6" name="Pastille FaCheckDouble"/>
          <p:cNvSpPr/>
          <p:nvPr/>
        </p:nvSpPr>
        <p:spPr>
          <a:xfrm>
            <a:off x="4567428" y="4023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4" descr="icône CheckDou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165092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98948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Critères d'acceptation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4567428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Definition of Ready, Definition of Done, critères de recette</a:t>
            </a:r>
            <a:endParaRPr lang="en-US" sz="1400" dirty="0"/>
          </a:p>
        </p:txBody>
      </p:sp>
      <p:sp>
        <p:nvSpPr>
          <p:cNvPr id="30" name="Carte Métriques et suivi"/>
          <p:cNvSpPr/>
          <p:nvPr/>
        </p:nvSpPr>
        <p:spPr>
          <a:xfrm>
            <a:off x="8129016" y="3794760"/>
            <a:ext cx="3511296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31" name="Pastille FaChartLine"/>
          <p:cNvSpPr/>
          <p:nvPr/>
        </p:nvSpPr>
        <p:spPr>
          <a:xfrm>
            <a:off x="8357616" y="4023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5" descr="icône ChartLi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348" y="4165092"/>
            <a:ext cx="283464" cy="28346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089136" y="4023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Métriques et suivi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8357616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Indicateurs, seuils et rapport de non-conformités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 plan qualité est un document vivant, mis à jour à chaque sprint.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Assurance qualité vs contrôle qualité</a:t>
            </a:r>
            <a:endParaRPr lang="en-US" sz="3400" dirty="0"/>
          </a:p>
        </p:txBody>
      </p:sp>
      <p:sp>
        <p:nvSpPr>
          <p:cNvPr id="5" name="Carte Assurance qualité (AQ)"/>
          <p:cNvSpPr/>
          <p:nvPr/>
        </p:nvSpPr>
        <p:spPr>
          <a:xfrm>
            <a:off x="548640" y="1691640"/>
            <a:ext cx="5440680" cy="3611880"/>
          </a:xfrm>
          <a:prstGeom prst="roundRect">
            <a:avLst>
              <a:gd name="adj" fmla="val 2025"/>
            </a:avLst>
          </a:prstGeom>
          <a:solidFill>
            <a:schemeClr val="accent1"/>
          </a:solidFill>
          <a:ln/>
        </p:spPr>
      </p:sp>
      <p:sp>
        <p:nvSpPr>
          <p:cNvPr id="6" name="Pastille FaShieldAlt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icône 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13741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Assurance qualité (AQ)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Prévenir : bien faire dès le départ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3375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Agit sur le processus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Préventive, tout au long du projet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Ex. : revues de code, Definition of Done, intégration continue</a:t>
            </a:r>
            <a:endParaRPr lang="en-US" sz="1700" dirty="0"/>
          </a:p>
        </p:txBody>
      </p:sp>
      <p:sp>
        <p:nvSpPr>
          <p:cNvPr id="11" name="Carte Contrôle qualité (CQ)"/>
          <p:cNvSpPr/>
          <p:nvPr/>
        </p:nvSpPr>
        <p:spPr>
          <a:xfrm>
            <a:off x="6199632" y="1691640"/>
            <a:ext cx="5440680" cy="36118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/>
        </p:spPr>
      </p:sp>
      <p:sp>
        <p:nvSpPr>
          <p:cNvPr id="12" name="Pastille FaSearch"/>
          <p:cNvSpPr/>
          <p:nvPr/>
        </p:nvSpPr>
        <p:spPr>
          <a:xfrm>
            <a:off x="6519672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icôn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122" y="213741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96912" y="1965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Contrôle qualité (CQ)</a:t>
            </a:r>
            <a:endParaRPr lang="en-US" sz="2200" dirty="0"/>
          </a:p>
        </p:txBody>
      </p:sp>
      <p:sp>
        <p:nvSpPr>
          <p:cNvPr id="15" name="Text 10"/>
          <p:cNvSpPr txBox="1"/>
          <p:nvPr/>
        </p:nvSpPr>
        <p:spPr>
          <a:xfrm>
            <a:off x="6565392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Détecter : vérifier le produit livré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565392" y="33375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Agit sur le produit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Détective, sur les livrables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Ex. : exécution des tests, inspection des PDF, rapport de non-conformités</a:t>
            </a:r>
            <a:endParaRPr lang="en-US" sz="1700" dirty="0"/>
          </a:p>
        </p:txBody>
      </p:sp>
      <p:sp>
        <p:nvSpPr>
          <p:cNvPr id="17" name="Bandeau conclusion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82296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L'AQ évite que les défauts apparaissent ; le CQ vérifie ceux qui sont passés entre les mailles.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Normes : ISO 9001 et ISO/IEC 25010</a:t>
            </a:r>
            <a:endParaRPr lang="en-US" sz="3400" dirty="0"/>
          </a:p>
        </p:txBody>
      </p:sp>
      <p:sp>
        <p:nvSpPr>
          <p:cNvPr id="5" name="Carte ISO 9001"/>
          <p:cNvSpPr/>
          <p:nvPr/>
        </p:nvSpPr>
        <p:spPr>
          <a:xfrm>
            <a:off x="548640" y="1691640"/>
            <a:ext cx="50292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6" name="Pastille FaCertificat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Certif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06883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20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ISO 9001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Système de management de la qualité : maîtrise des processus, amélioration continue, satisfaction du client.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55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Inspire notre assurance qualité</a:t>
            </a:r>
            <a:endParaRPr lang="en-US" sz="1400" dirty="0"/>
          </a:p>
        </p:txBody>
      </p:sp>
      <p:sp>
        <p:nvSpPr>
          <p:cNvPr id="11" name="Carte ISO/IEC 25010"/>
          <p:cNvSpPr/>
          <p:nvPr/>
        </p:nvSpPr>
        <p:spPr>
          <a:xfrm>
            <a:off x="548640" y="3931920"/>
            <a:ext cx="50292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2" name="Pastille FaLayerGroup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icône 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430911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160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ISO/IEC 25010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Modèle de qualité du produit logiciel : huit caractéristiques pour décider quoi vérifier.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77724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chemeClr val="accent1"/>
                </a:solidFill>
              </a:rPr>
              <a:t>Guide notre contrôle qualité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5943600" y="1691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Les 8 caractéristiques de qualité (ISO/IEC 25010)</a:t>
            </a:r>
            <a:endParaRPr lang="en-US" sz="1600" dirty="0"/>
          </a:p>
        </p:txBody>
      </p:sp>
      <p:sp>
        <p:nvSpPr>
          <p:cNvPr id="18" name="Caractéristique Adéquation fonctionnelle"/>
          <p:cNvSpPr/>
          <p:nvPr/>
        </p:nvSpPr>
        <p:spPr>
          <a:xfrm>
            <a:off x="5943600" y="219456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08076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Adéquation fonctionnelle</a:t>
            </a:r>
            <a:endParaRPr lang="en-US" sz="1500" dirty="0"/>
          </a:p>
        </p:txBody>
      </p:sp>
      <p:sp>
        <p:nvSpPr>
          <p:cNvPr id="20" name="Caractéristique Efficacité de performance"/>
          <p:cNvSpPr/>
          <p:nvPr/>
        </p:nvSpPr>
        <p:spPr>
          <a:xfrm>
            <a:off x="8823960" y="219456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961120" y="21945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Efficacité de performance</a:t>
            </a:r>
            <a:endParaRPr lang="en-US" sz="1500" dirty="0"/>
          </a:p>
        </p:txBody>
      </p:sp>
      <p:sp>
        <p:nvSpPr>
          <p:cNvPr id="22" name="Caractéristique Compatibilité"/>
          <p:cNvSpPr/>
          <p:nvPr/>
        </p:nvSpPr>
        <p:spPr>
          <a:xfrm>
            <a:off x="5943600" y="315468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80760" y="3154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Compatibilité</a:t>
            </a:r>
            <a:endParaRPr lang="en-US" sz="1500" dirty="0"/>
          </a:p>
        </p:txBody>
      </p:sp>
      <p:sp>
        <p:nvSpPr>
          <p:cNvPr id="24" name="Caractéristique Facilité d'utilisation"/>
          <p:cNvSpPr/>
          <p:nvPr/>
        </p:nvSpPr>
        <p:spPr>
          <a:xfrm>
            <a:off x="8823960" y="315468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961120" y="3154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Facilité d'utilisation</a:t>
            </a:r>
            <a:endParaRPr lang="en-US" sz="1500" dirty="0"/>
          </a:p>
        </p:txBody>
      </p:sp>
      <p:sp>
        <p:nvSpPr>
          <p:cNvPr id="26" name="Caractéristique Fiabilité"/>
          <p:cNvSpPr/>
          <p:nvPr/>
        </p:nvSpPr>
        <p:spPr>
          <a:xfrm>
            <a:off x="5943600" y="411480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6080760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Fiabilité</a:t>
            </a:r>
            <a:endParaRPr lang="en-US" sz="1500" dirty="0"/>
          </a:p>
        </p:txBody>
      </p:sp>
      <p:sp>
        <p:nvSpPr>
          <p:cNvPr id="28" name="Caractéristique Sécurité"/>
          <p:cNvSpPr/>
          <p:nvPr/>
        </p:nvSpPr>
        <p:spPr>
          <a:xfrm>
            <a:off x="8823960" y="411480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961120" y="4114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Sécurité</a:t>
            </a:r>
            <a:endParaRPr lang="en-US" sz="1500" dirty="0"/>
          </a:p>
        </p:txBody>
      </p:sp>
      <p:sp>
        <p:nvSpPr>
          <p:cNvPr id="30" name="Caractéristique Maintenabilité"/>
          <p:cNvSpPr/>
          <p:nvPr/>
        </p:nvSpPr>
        <p:spPr>
          <a:xfrm>
            <a:off x="5943600" y="507492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08076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Maintenabilité</a:t>
            </a:r>
            <a:endParaRPr lang="en-US" sz="1500" dirty="0"/>
          </a:p>
        </p:txBody>
      </p:sp>
      <p:sp>
        <p:nvSpPr>
          <p:cNvPr id="32" name="Caractéristique Portabilité"/>
          <p:cNvSpPr/>
          <p:nvPr/>
        </p:nvSpPr>
        <p:spPr>
          <a:xfrm>
            <a:off x="8823960" y="5074920"/>
            <a:ext cx="27432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96112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Portabilité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Stratégies de tests : la pyramide</a:t>
            </a:r>
            <a:endParaRPr lang="en-US" sz="3400" dirty="0"/>
          </a:p>
        </p:txBody>
      </p:sp>
      <p:sp>
        <p:nvSpPr>
          <p:cNvPr id="5" name="Niveau Recette (UAT)"/>
          <p:cNvSpPr/>
          <p:nvPr/>
        </p:nvSpPr>
        <p:spPr>
          <a:xfrm>
            <a:off x="2377440" y="1737360"/>
            <a:ext cx="2377440" cy="960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2377440" y="173736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Recette (UAT)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737360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Recette (UAT)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Validation par les utilisateurs métier, selon les critères d'acceptation</a:t>
            </a:r>
            <a:endParaRPr lang="en-US" sz="1600" dirty="0"/>
          </a:p>
        </p:txBody>
      </p:sp>
      <p:sp>
        <p:nvSpPr>
          <p:cNvPr id="8" name="Niveau Système"/>
          <p:cNvSpPr/>
          <p:nvPr/>
        </p:nvSpPr>
        <p:spPr>
          <a:xfrm>
            <a:off x="1783080" y="2807208"/>
            <a:ext cx="3566160" cy="960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783080" y="280720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Système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807208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Système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Parcours de bout en bout sur un environnement complet</a:t>
            </a:r>
            <a:endParaRPr lang="en-US" sz="1600" dirty="0"/>
          </a:p>
        </p:txBody>
      </p:sp>
      <p:sp>
        <p:nvSpPr>
          <p:cNvPr id="11" name="Niveau Intégration"/>
          <p:cNvSpPr/>
          <p:nvPr/>
        </p:nvSpPr>
        <p:spPr>
          <a:xfrm>
            <a:off x="1188720" y="3877056"/>
            <a:ext cx="4754880" cy="9601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3877056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Intégration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877056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Intégration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Interfaces entre modules : API, base de données, services externes</a:t>
            </a:r>
            <a:endParaRPr lang="en-US" sz="1600" dirty="0"/>
          </a:p>
        </p:txBody>
      </p:sp>
      <p:sp>
        <p:nvSpPr>
          <p:cNvPr id="14" name="Niveau Unitaires"/>
          <p:cNvSpPr/>
          <p:nvPr/>
        </p:nvSpPr>
        <p:spPr>
          <a:xfrm>
            <a:off x="548640" y="4946904"/>
            <a:ext cx="6035040" cy="9601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946904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Unitaires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4946904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Unitaires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Plus petites unités de code : rapides, nombreuses, automatisées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Plus on monte : moins de tests, plus lents, plus coûteux.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THÉORIQUE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TDD et BDD</a:t>
            </a:r>
            <a:endParaRPr lang="en-US" sz="3400" dirty="0"/>
          </a:p>
        </p:txBody>
      </p:sp>
      <p:sp>
        <p:nvSpPr>
          <p:cNvPr id="5" name="Étape Red"/>
          <p:cNvSpPr/>
          <p:nvPr/>
        </p:nvSpPr>
        <p:spPr>
          <a:xfrm>
            <a:off x="548640" y="1691640"/>
            <a:ext cx="1965960" cy="22402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6" name="Pastille FaStopCircle"/>
          <p:cNvSpPr/>
          <p:nvPr/>
        </p:nvSpPr>
        <p:spPr>
          <a:xfrm>
            <a:off x="1188720" y="18288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0" descr="icône Stop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00025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Red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Écrire un test qui échoue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1460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Étape Green"/>
          <p:cNvSpPr/>
          <p:nvPr/>
        </p:nvSpPr>
        <p:spPr>
          <a:xfrm>
            <a:off x="2834640" y="1691640"/>
            <a:ext cx="1965960" cy="22402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2" name="Pastille FaCheckCircle"/>
          <p:cNvSpPr/>
          <p:nvPr/>
        </p:nvSpPr>
        <p:spPr>
          <a:xfrm>
            <a:off x="347472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icône 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000250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2608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Green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Écrire le code minimal pour le faire passer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0060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Étape Refactor"/>
          <p:cNvSpPr/>
          <p:nvPr/>
        </p:nvSpPr>
        <p:spPr>
          <a:xfrm>
            <a:off x="5120640" y="1691640"/>
            <a:ext cx="1965960" cy="22402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8" name="Pastille FaRedoAlt"/>
          <p:cNvSpPr/>
          <p:nvPr/>
        </p:nvSpPr>
        <p:spPr>
          <a:xfrm>
            <a:off x="576072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2" descr="icône Redo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2000250"/>
            <a:ext cx="342900" cy="342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12080" y="2606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Refactor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257800" y="30175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Améliorer le code, tests toujours verts</a:t>
            </a:r>
            <a:endParaRPr lang="en-US" sz="1400" dirty="0"/>
          </a:p>
        </p:txBody>
      </p:sp>
      <p:sp>
        <p:nvSpPr>
          <p:cNvPr id="22" name="Carte BDD"/>
          <p:cNvSpPr/>
          <p:nvPr/>
        </p:nvSpPr>
        <p:spPr>
          <a:xfrm>
            <a:off x="548640" y="4114800"/>
            <a:ext cx="640080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BDD : parler le langage du métier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475488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Scénarios écrits en langage naturel (Gherkin)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Lisibles par le Trésorier comme par les développeurs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Chaque scénario devient un test automatisé</a:t>
            </a:r>
            <a:endParaRPr lang="en-US" sz="1500" dirty="0"/>
          </a:p>
        </p:txBody>
      </p:sp>
      <p:sp>
        <p:nvSpPr>
          <p:cNvPr id="25" name="Carte exemple Gherkin"/>
          <p:cNvSpPr/>
          <p:nvPr/>
        </p:nvSpPr>
        <p:spPr>
          <a:xfrm>
            <a:off x="7223760" y="1691640"/>
            <a:ext cx="4416552" cy="4526280"/>
          </a:xfrm>
          <a:prstGeom prst="roundRect">
            <a:avLst>
              <a:gd name="adj" fmla="val 1656"/>
            </a:avLst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49808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Exemple BDD — CoopHabitat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98080" y="23774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Fonctionnalité : Rappel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Scénario : rappel à J-3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Étant donné un membre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dont l'échéance 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dans 3 jours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Quand la tâche de rappel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s'exécute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Alors un SMS et un e-mail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sont envoyés au membre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 de tests de CoopHabitat</a:t>
            </a:r>
            <a:endParaRPr lang="en-US" sz="3400" dirty="0"/>
          </a:p>
        </p:txBody>
      </p:sp>
      <p:graphicFrame>
        <p:nvGraphicFramePr>
          <p:cNvPr id="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Niveau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Périmètre CoopHabitat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Outils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Critère de sortie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Unitaires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Services Spring Boot (pénalités, solde) et composants Angular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JUnit 5, Mockito, Jasmine / Karma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Couverture ≥ 60 %, tests verts en intégration continue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Intégration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API REST ↔ PostgreSQL, JWT, callbacks Wave / SendFlash, PDF Jasper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Spring Boot Test, base de test, Postman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Endpoints Swagger validés, aucune anomalie bloquante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Système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Parcours inscription → cotisation → reçu → solde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Scénarios sur l'environnement de recette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Tous les parcours critiques passent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Recette (UAT)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Président, Trésorier, Secrétaire et échantillon de membres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Cahier de recette, critères d'acceptation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PV de recette signé par le Trésorier (PO)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ISO/IEC 25010 : nos priorités</a:t>
            </a:r>
            <a:endParaRPr lang="en-US" sz="3400" dirty="0"/>
          </a:p>
        </p:txBody>
      </p:sp>
      <p:graphicFrame>
        <p:nvGraphicFramePr>
          <p:cNvPr id="10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572000"/>
                <a:gridCol w="40507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Caractéristique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Exigence CoopHabitat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Moyen de vérification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Adéquation fonctionnelle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Soldes, pénalités de retard et reçus exacts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unitaires, cas CT-01 à CT-04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Fiabilité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Aucun paiement perdu ou dupliqué malgré la latence des callbacks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d'intégration sandbox, mécanisme de Retry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Sécurité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JWT, accès selon le rôle, protection des données des membres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d'accès par rôle (CT-05), audit avant production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Facilité d'utilisation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Mobile-first, utilisable par des membres peu familiers du numérique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Recette avec un échantillon de membres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Compatibilité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 offline partiel (Service Worker), navigateurs mobiles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Tests de consultation hors ligne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Maintenabilité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 SOLID, couverture ≥ 60 %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Revue de code, rapport de couverture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DoR et DoD : critères d'acceptation</a:t>
            </a:r>
            <a:endParaRPr lang="en-US" sz="3400" dirty="0"/>
          </a:p>
        </p:txBody>
      </p:sp>
      <p:sp>
        <p:nvSpPr>
          <p:cNvPr id="5" name="Carte Definition of Ready"/>
          <p:cNvSpPr/>
          <p:nvPr/>
        </p:nvSpPr>
        <p:spPr>
          <a:xfrm>
            <a:off x="548640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6" name="Pastille FaPlayCircle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Play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2311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Definition of Ready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Une User Story entre dans un sprint si…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27889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Elle est formulée « En tant que… je veux… afin de… »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Ses critères d'acceptation sont écrits et validés par le PO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Elle est estimée en points par l'équipe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Ses dépendances sont identifiées (ex. sandbox Wave)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 règles de gestion et maquettes sont disponibles</a:t>
            </a:r>
            <a:endParaRPr lang="en-US" sz="1700" dirty="0"/>
          </a:p>
        </p:txBody>
      </p:sp>
      <p:sp>
        <p:nvSpPr>
          <p:cNvPr id="11" name="Carte Definition of Done"/>
          <p:cNvSpPr/>
          <p:nvPr/>
        </p:nvSpPr>
        <p:spPr>
          <a:xfrm>
            <a:off x="6199632" y="1691640"/>
            <a:ext cx="5440680" cy="4526280"/>
          </a:xfrm>
          <a:prstGeom prst="roundRect">
            <a:avLst>
              <a:gd name="adj" fmla="val 1616"/>
            </a:avLst>
          </a:prstGeom>
          <a:solidFill>
            <a:schemeClr val="bg2"/>
          </a:solidFill>
          <a:ln/>
        </p:spPr>
      </p:sp>
      <p:sp>
        <p:nvSpPr>
          <p:cNvPr id="12" name="Pastille FaFlagCheckered"/>
          <p:cNvSpPr/>
          <p:nvPr/>
        </p:nvSpPr>
        <p:spPr>
          <a:xfrm>
            <a:off x="6473952" y="1874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icône FlagChecke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2" y="202311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05472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Definition of Done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205472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Une User Story est terminée si…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6565392" y="27889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 code est relu et fusionné dans develop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 tests unitaires passent, couverture ≥ 60 %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Les tests d'intégration passent en intégration continue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L'endpoint est documenté dans Swagger (OpenAPI 3.0)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Le PO a validé les critères d'acceptation en recette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4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Cas de tests fonctionnels</a:t>
            </a:r>
            <a:endParaRPr lang="en-US" sz="3400" dirty="0"/>
          </a:p>
        </p:txBody>
      </p:sp>
      <p:graphicFrame>
        <p:nvGraphicFramePr>
          <p:cNvPr id="12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194560"/>
                <a:gridCol w="4114800"/>
                <a:gridCol w="39136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Exigence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Scénario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Résultat attendu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Paiement de cotisation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Membre actif, échéance due : paiement Mobile Money (sandbox)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Paiement enregistré, solde mis à jour, reçu PDF généré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Échec du paiement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 sandbox renvoie une erreur pendant le paiement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Statut « en attente », aucun reçu, nouvelle tentative possible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Pénalité de retard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Échéance dépassée de 10 jours, taux configuré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Pénalité calculée et ajoutée au solde dû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Rappel J-3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Échéance dans 3 jours : exécution de la tâche planifiée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SMS et e-mail envoyés, une seule fois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Contrôle d'accès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 utilisateur « Membre » appelle le rapport financier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Accès refusé (HTTP 403)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CT-07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PV d'attribution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Attribution d'un lot validée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PV PDF généré, bénéficiaire notifié, lot « attribué »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5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Métriques qualité du Sprint 3</a:t>
            </a:r>
            <a:endParaRPr lang="en-US" sz="3400" dirty="0"/>
          </a:p>
        </p:txBody>
      </p:sp>
      <p:sp>
        <p:nvSpPr>
          <p:cNvPr id="5" name="KPI Couverture de tests"/>
          <p:cNvSpPr/>
          <p:nvPr/>
        </p:nvSpPr>
        <p:spPr>
          <a:xfrm>
            <a:off x="548640" y="169164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Couverture de tests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cible ≥ 60 % — atteint</a:t>
            </a:r>
            <a:endParaRPr lang="en-US" sz="1300" dirty="0"/>
          </a:p>
        </p:txBody>
      </p:sp>
      <p:sp>
        <p:nvSpPr>
          <p:cNvPr id="9" name="KPI Anomalie bloquante"/>
          <p:cNvSpPr/>
          <p:nvPr/>
        </p:nvSpPr>
        <p:spPr>
          <a:xfrm>
            <a:off x="3376879" y="169164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76879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514039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Anomalie bloquante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14039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cible 0 — atteint</a:t>
            </a:r>
            <a:endParaRPr lang="en-US" sz="1300" dirty="0"/>
          </a:p>
        </p:txBody>
      </p:sp>
      <p:sp>
        <p:nvSpPr>
          <p:cNvPr id="13" name="KPI Anomalie majeure ouverte"/>
          <p:cNvSpPr/>
          <p:nvPr/>
        </p:nvSpPr>
        <p:spPr>
          <a:xfrm>
            <a:off x="6205118" y="169164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05118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6342278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Anomalie majeure ouverte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42278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cible ≤ 2 — atteint</a:t>
            </a:r>
            <a:endParaRPr lang="en-US" sz="1300" dirty="0"/>
          </a:p>
        </p:txBody>
      </p:sp>
      <p:sp>
        <p:nvSpPr>
          <p:cNvPr id="17" name="KPI Réussite des tests de recette"/>
          <p:cNvSpPr/>
          <p:nvPr/>
        </p:nvSpPr>
        <p:spPr>
          <a:xfrm>
            <a:off x="9033358" y="1691640"/>
            <a:ext cx="26060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33358" y="182880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92 %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9170518" y="2926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Réussite des tests de recette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170518" y="3520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cible ≥ 95 % — à améliorer</a:t>
            </a:r>
            <a:endParaRPr lang="en-US" sz="1300" dirty="0"/>
          </a:p>
        </p:txBody>
      </p:sp>
      <p:sp>
        <p:nvSpPr>
          <p:cNvPr id="21" name="Carte lecture"/>
          <p:cNvSpPr/>
          <p:nvPr/>
        </p:nvSpPr>
        <p:spPr>
          <a:xfrm>
            <a:off x="548640" y="443484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2" name="Pastille FaLightbulb"/>
          <p:cNvSpPr/>
          <p:nvPr/>
        </p:nvSpPr>
        <p:spPr>
          <a:xfrm>
            <a:off x="822960" y="4937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0" descr="icône 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12064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874520" y="4526280"/>
            <a:ext cx="9509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Lecture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cinq indicateurs sur six atteignent leur cible, et les 3 anomalies mineures ouvertes restent sous le seuil de 5. Le taux de réussite de recette est le point d'attention : il renvoie à la non-conformité NC-03.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PARTIE PRATIQUE · 6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Rapport de non-conformités</a:t>
            </a:r>
            <a:endParaRPr lang="en-US" sz="3400" dirty="0"/>
          </a:p>
        </p:txBody>
      </p:sp>
      <p:graphicFrame>
        <p:nvGraphicFramePr>
          <p:cNvPr id="14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4023360"/>
                <a:gridCol w="1234440"/>
                <a:gridCol w="3566160"/>
                <a:gridCol w="13990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Sévérité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 corrective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NC-01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Latence des callbacks Wave Sandbox : paiements confirmés avec retard (risque R2)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Majeure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Mécanisme de Retry et statut « en attente »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Corrigée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NC-02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Pénalité de retard mal arrondie en fin de mois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Mineure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Règle d'arrondi ajoutée aux critères d'acceptation + test unitaire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Corrigée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NC-03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Reçu PDF affichant le solde avant paiement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Majeure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Inverser l'ordre mise à jour du solde / reçu + test CT-01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En cours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NC-04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Libellé de statut des lots non traduit sur mobile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Mineure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Compléter le fichier de traductions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Ouverte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SYNTHÈSE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qu'il faut retenir</a:t>
            </a:r>
            <a:endParaRPr lang="en-US" sz="3400" dirty="0"/>
          </a:p>
        </p:txBody>
      </p:sp>
      <p:sp>
        <p:nvSpPr>
          <p:cNvPr id="5" name="Message La qualité se prépare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6" name="Pastille FaShieldAlt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icône 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259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 qualité se prépare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AQ en amont sur le processus, CQ en aval sur le produit : les deux sont nécessaires.</a:t>
            </a:r>
            <a:endParaRPr lang="en-US" sz="1700" dirty="0"/>
          </a:p>
        </p:txBody>
      </p:sp>
      <p:sp>
        <p:nvSpPr>
          <p:cNvPr id="10" name="Message Tester à chaque niveau"/>
          <p:cNvSpPr/>
          <p:nvPr/>
        </p:nvSpPr>
        <p:spPr>
          <a:xfrm>
            <a:off x="6245352" y="1691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1" name="Pastille FaLayerGroup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icône LayerGro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1259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42632" y="1965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Tester à chaque niveau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788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Beaucoup de tests unitaires, la recette par les utilisateurs métier.</a:t>
            </a:r>
            <a:endParaRPr lang="en-US" sz="1700" dirty="0"/>
          </a:p>
        </p:txBody>
      </p:sp>
      <p:sp>
        <p:nvSpPr>
          <p:cNvPr id="15" name="Message DoR et DoD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Pastille FaCheckDouble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icône CheckDou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DoR et DoD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822960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Des critères d'acceptation écrits avant l'estimation évitent la plupart des non-conformités.</a:t>
            </a:r>
            <a:endParaRPr lang="en-US" sz="1700" dirty="0"/>
          </a:p>
        </p:txBody>
      </p:sp>
      <p:sp>
        <p:nvSpPr>
          <p:cNvPr id="20" name="Message Mesurer honnêtement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1" name="Pastille FaChartLine"/>
          <p:cNvSpPr/>
          <p:nvPr/>
        </p:nvSpPr>
        <p:spPr>
          <a:xfrm>
            <a:off x="6519672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icône 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4119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42632" y="42519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Mesurer honnêtement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6519672" y="50749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indicateur sous sa cible est une information utile, pas un échec à masquer.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A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écor haut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Décor bas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73736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Merci de votre attention</a:t>
            </a:r>
            <a:endParaRPr lang="en-US" sz="4600" dirty="0"/>
          </a:p>
        </p:txBody>
      </p:sp>
      <p:sp>
        <p:nvSpPr>
          <p:cNvPr id="5" name="Questions"/>
          <p:cNvSpPr txBox="1"/>
          <p:nvPr/>
        </p:nvSpPr>
        <p:spPr>
          <a:xfrm>
            <a:off x="82296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Des questions ?</a:t>
            </a:r>
            <a:endParaRPr lang="en-US" sz="2400" dirty="0"/>
          </a:p>
        </p:txBody>
      </p:sp>
      <p:sp>
        <p:nvSpPr>
          <p:cNvPr id="6" name="Groupe"/>
          <p:cNvSpPr txBox="1"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GROUPE 11</a:t>
            </a:r>
            <a:endParaRPr lang="en-US" sz="1400" dirty="0"/>
          </a:p>
        </p:txBody>
      </p:sp>
      <p:sp>
        <p:nvSpPr>
          <p:cNvPr id="7" name="Membres"/>
          <p:cNvSpPr txBox="1"/>
          <p:nvPr/>
        </p:nvSpPr>
        <p:spPr>
          <a:xfrm>
            <a:off x="822960" y="52303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Abdourahmane Diaw   ·   Coumbel Ka   ·   Ousmane Niang   ·   Hawa Diallo   ·   Abib Traoré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pHabitat Teal">
  <a:themeElements>
    <a:clrScheme name="CoopHabitat Teal">
      <a:dk1>
        <a:srgbClr val="16302F"/>
      </a:dk1>
      <a:lt1>
        <a:srgbClr val="FFFFFF"/>
      </a:lt1>
      <a:dk2>
        <a:srgbClr val="0B2E30"/>
      </a:dk2>
      <a:lt2>
        <a:srgbClr val="F2F8F7"/>
      </a:lt2>
      <a:accent1>
        <a:srgbClr val="028090"/>
      </a:accent1>
      <a:accent2>
        <a:srgbClr val="00A896"/>
      </a:accent2>
      <a:accent3>
        <a:srgbClr val="02C39A"/>
      </a:accent3>
      <a:accent4>
        <a:srgbClr val="E0722F"/>
      </a:accent4>
      <a:accent5>
        <a:srgbClr val="5C7A7D"/>
      </a:accent5>
      <a:accent6>
        <a:srgbClr val="C9DAD8"/>
      </a:accent6>
      <a:hlink>
        <a:srgbClr val="028090"/>
      </a:hlink>
      <a:folHlink>
        <a:srgbClr val="5C7A7D"/>
      </a:folHlink>
    </a:clrScheme>
    <a:fontScheme name="CoopHabitat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Groupe 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Thème 10 — Qualité et Tests dans les Projets IT</dc:title>
  <dc:subject>PptxGenJS Presentation</dc:subject>
  <dc:creator>Groupe 11</dc:creator>
  <cp:lastModifiedBy>Groupe 11</cp:lastModifiedBy>
  <cp:revision>1</cp:revision>
  <dcterms:created xsi:type="dcterms:W3CDTF">2026-10-14T18:43:20Z</dcterms:created>
  <dcterms:modified xsi:type="dcterms:W3CDTF">2026-10-14T18:43:20Z</dcterms:modified>
</cp:coreProperties>
</file>