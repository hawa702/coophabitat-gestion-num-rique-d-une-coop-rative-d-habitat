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 réalisés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302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Sprint 1</c:v>
                </c:pt>
                <c:pt idx="1">
                  <c:v>Sprint 2</c:v>
                </c:pt>
                <c:pt idx="2">
                  <c:v>Sprint 3</c:v>
                </c:pt>
                <c:pt idx="3">
                  <c:v>Sprint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22</c:v>
                </c:pt>
                <c:pt idx="3">
                  <c:v>27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507719584"/>
        <c:axId val="507721936"/>
      </c:barChart>
      <c:catAx>
        <c:axId val="5077195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E6E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7D"/>
                </a:solidFill>
                <a:latin typeface="Arial"/>
              </a:defRPr>
            </a:pPr>
            <a:endParaRPr lang="fr-FR"/>
          </a:p>
        </c:txPr>
        <c:crossAx val="507721936"/>
        <c:crosses val="autoZero"/>
        <c:auto val="1"/>
        <c:lblAlgn val="ctr"/>
        <c:lblOffset val="100"/>
        <c:noMultiLvlLbl val="1"/>
      </c:catAx>
      <c:valAx>
        <c:axId val="507721936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7D"/>
                </a:solidFill>
                <a:latin typeface="Arial"/>
              </a:defRPr>
            </a:pPr>
            <a:endParaRPr lang="fr-FR"/>
          </a:p>
        </c:txPr>
        <c:crossAx val="50771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Restant théorique</c:v>
                </c:pt>
              </c:strCache>
            </c:strRef>
          </c:tx>
          <c:spPr>
            <a:ln w="31750" cap="flat">
              <a:solidFill>
                <a:srgbClr val="00A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J0</c:v>
                </c:pt>
                <c:pt idx="1">
                  <c:v>J2</c:v>
                </c:pt>
                <c:pt idx="2">
                  <c:v>J4</c:v>
                </c:pt>
                <c:pt idx="3">
                  <c:v>J6</c:v>
                </c:pt>
                <c:pt idx="4">
                  <c:v>J8</c:v>
                </c:pt>
                <c:pt idx="5">
                  <c:v>J10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</c:v>
                </c:pt>
                <c:pt idx="1">
                  <c:v>19.2</c:v>
                </c:pt>
                <c:pt idx="2">
                  <c:v>14.4</c:v>
                </c:pt>
                <c:pt idx="3">
                  <c:v>9.6</c:v>
                </c:pt>
                <c:pt idx="4">
                  <c:v>4.8</c:v>
                </c:pt>
                <c:pt idx="5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Restant réel</c:v>
                </c:pt>
              </c:strCache>
            </c:strRef>
          </c:tx>
          <c:spPr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J0</c:v>
                </c:pt>
                <c:pt idx="1">
                  <c:v>J2</c:v>
                </c:pt>
                <c:pt idx="2">
                  <c:v>J4</c:v>
                </c:pt>
                <c:pt idx="3">
                  <c:v>J6</c:v>
                </c:pt>
                <c:pt idx="4">
                  <c:v>J8</c:v>
                </c:pt>
                <c:pt idx="5">
                  <c:v>J10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</c:v>
                </c:pt>
                <c:pt idx="1">
                  <c:v>21</c:v>
                </c:pt>
                <c:pt idx="2">
                  <c:v>17</c:v>
                </c:pt>
                <c:pt idx="3">
                  <c:v>13</c:v>
                </c:pt>
                <c:pt idx="4">
                  <c:v>6</c:v>
                </c:pt>
                <c:pt idx="5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7721152"/>
        <c:axId val="507722328"/>
      </c:lineChart>
      <c:catAx>
        <c:axId val="5077211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D5A5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fr-FR"/>
          </a:p>
        </c:txPr>
        <c:crossAx val="507722328"/>
        <c:crosses val="autoZero"/>
        <c:auto val="1"/>
        <c:lblAlgn val="ctr"/>
        <c:lblOffset val="100"/>
        <c:noMultiLvlLbl val="1"/>
      </c:catAx>
      <c:valAx>
        <c:axId val="507722328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45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fr-FR"/>
          </a:p>
        </c:txPr>
        <c:crossAx val="507721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36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5 / 14 · </a:t>
            </a:r>
            <a:r>
              <a:rPr lang="en-US" sz="1300" b="1" kern="0" spc="300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COOPHABITAT </a:t>
            </a:r>
            <a:r>
              <a:rPr lang="en-US" sz="1300" b="1" u="sng" kern="0" spc="3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11</a:t>
            </a:r>
            <a:endParaRPr lang="en-US" sz="1300" u="sng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Thème 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Méthodes Agiles : Scrum &amp; Kanban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2743200" cy="502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Manifeste Agile au pilotage opérationnel du développement de la plateforme de gestion numérique d'une coopérative </a:t>
            </a:r>
            <a:r>
              <a:rPr lang="en-US" sz="15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d'habitat</a:t>
            </a:r>
            <a:r>
              <a:rPr lang="en-US" sz="1500" i="1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500" i="1" dirty="0" smtClean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i="1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11: 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Coumbel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Abdourahmane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Diaw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Ousmane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Niang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Hawa Diallo,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Abib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Traore</a:t>
            </a:r>
            <a:endParaRPr lang="en-US" sz="1400" dirty="0"/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/home/claude/pptx_project/icon_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502005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4892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théorique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0" y="4892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pptx_project/icon_tas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502005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9160" y="4892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projet : Spring Boot · Angular · PostgreSQL · Jasper Reports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volets : comprendre les fondamentaux Agile, puis les appliquer au projet CoopHabitat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1691640"/>
            <a:ext cx="5394960" cy="448056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THÉORIQUE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Manifeste Agile : valeurs &amp; principes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Scrum : rôles, artefacts, cérémonies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: flux tiré, limites WIP, visualisation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vs Kanban : usages comparés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Agile : vélocité, burndown chart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d'un Sprint Planning – projet web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CoopHabitat priorisé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Kanban (Trello / Jira)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de User Stories au format standard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4 – Méthodes Agiles : Scrum &amp; Kanban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Manifeste Agile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valeurs fondamentales — préférer le terme de gauche sans négliger celui de droite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194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x_project/icon_user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04825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7452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Individus &amp; interactions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37360" y="256032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que processus et outils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440680" cy="2194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9202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ptx_project/icon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2048256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87452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Logiciel fonctionnel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06640" y="256032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que documentation exhaustive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40680" cy="2194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3434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ptx_project/icon_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471416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9768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 client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37360" y="498348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que négociation contractuelle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440680" cy="2194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3434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pptx_project/icon_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4471416"/>
            <a:ext cx="429768" cy="4297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9768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Réponse au changement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06640" y="498348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que suivi d'un plan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4 – Méthodes Agiles : Scrum &amp; Kanban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12 principes fondamentaux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Déclinaison opérationnelle des 4 valeurs du Manifeste Agile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051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373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673352"/>
            <a:ext cx="2880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Satisfaire le client par des livraisons continues et rapides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70248" y="1600200"/>
            <a:ext cx="3611880" cy="1051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9" name="Shape 7"/>
          <p:cNvSpPr/>
          <p:nvPr/>
        </p:nvSpPr>
        <p:spPr>
          <a:xfrm>
            <a:off x="4407408" y="17373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407408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673352"/>
            <a:ext cx="2880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Accueillir le changement, même tard dans le projet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91856" y="1600200"/>
            <a:ext cx="3611880" cy="1051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9016" y="17373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129016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86216" y="1673352"/>
            <a:ext cx="2880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 fréquemment (semaines plutôt que mois)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61488"/>
            <a:ext cx="3611880" cy="1051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89864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2834640"/>
            <a:ext cx="2880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quotidienne métier / développeurs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70248" y="2761488"/>
            <a:ext cx="3611880" cy="1051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407408" y="28986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407408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2834640"/>
            <a:ext cx="2880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Bâtir des projets autour d'individus motivés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91856" y="2761488"/>
            <a:ext cx="3611880" cy="1051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25" name="Shape 23"/>
          <p:cNvSpPr/>
          <p:nvPr/>
        </p:nvSpPr>
        <p:spPr>
          <a:xfrm>
            <a:off x="8129016" y="289864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8129016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86216" y="2834640"/>
            <a:ext cx="2880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Privilégier le dialogue en face à face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922776"/>
            <a:ext cx="3611880" cy="1051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4059936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3995928"/>
            <a:ext cx="2880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logiciel fonctionnel est la principale mesure d'avancement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70248" y="3922776"/>
            <a:ext cx="3611880" cy="1051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33" name="Shape 31"/>
          <p:cNvSpPr/>
          <p:nvPr/>
        </p:nvSpPr>
        <p:spPr>
          <a:xfrm>
            <a:off x="4407408" y="405993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4407408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64608" y="3995928"/>
            <a:ext cx="2880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Rythme de développement soutenable et durable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91856" y="3922776"/>
            <a:ext cx="3611880" cy="1051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9016" y="4059936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8129016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586216" y="3995928"/>
            <a:ext cx="2880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 technique et bonne conception en continu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084064"/>
            <a:ext cx="3611880" cy="1051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41" name="Shape 39"/>
          <p:cNvSpPr/>
          <p:nvPr/>
        </p:nvSpPr>
        <p:spPr>
          <a:xfrm>
            <a:off x="685800" y="522122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5221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143000" y="5157216"/>
            <a:ext cx="2880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Simplicité : maximiser le travail non fait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70248" y="5084064"/>
            <a:ext cx="3611880" cy="1051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45" name="Shape 43"/>
          <p:cNvSpPr/>
          <p:nvPr/>
        </p:nvSpPr>
        <p:spPr>
          <a:xfrm>
            <a:off x="4407408" y="522122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6" name="Text 44"/>
          <p:cNvSpPr/>
          <p:nvPr/>
        </p:nvSpPr>
        <p:spPr>
          <a:xfrm>
            <a:off x="4407408" y="5221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64608" y="5157216"/>
            <a:ext cx="2880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auto-organisées pour les meilleures solutions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991856" y="5084064"/>
            <a:ext cx="3611880" cy="1051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9016" y="522122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0" name="Text 48"/>
          <p:cNvSpPr/>
          <p:nvPr/>
        </p:nvSpPr>
        <p:spPr>
          <a:xfrm>
            <a:off x="8129016" y="5221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586216" y="5157216"/>
            <a:ext cx="2880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régulier des comportements de l'équipe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4 – Méthodes Agiles : Scrum &amp; Kanban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Scrum — Les rôles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responsabilités complémentaires, sans hiérarchie de pouvoir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480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18745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x_project/icon_user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116" y="2002536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803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 la vision produit, priorise le Product Backlog et arbitre la valeur métier.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4800600"/>
            <a:ext cx="3063240" cy="9144"/>
          </a:xfrm>
          <a:prstGeom prst="rect">
            <a:avLst/>
          </a:prstGeom>
          <a:solidFill>
            <a:srgbClr val="5C7A7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93776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CoopHabitat : le Trésorier / Président priorise « paiement Mobile Money » avant « AG numérique ».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1600200"/>
            <a:ext cx="3611880" cy="4480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2" name="Shape 9"/>
          <p:cNvSpPr/>
          <p:nvPr/>
        </p:nvSpPr>
        <p:spPr>
          <a:xfrm>
            <a:off x="5692140" y="18745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/home/claude/pptx_project/icon_usersc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156" y="2002536"/>
            <a:ext cx="566928" cy="5669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28803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72000" y="33832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 les cérémonies, protège l'équipe des obstacles et fait vivre le cadre Scrum.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0" y="4800600"/>
            <a:ext cx="3063240" cy="9144"/>
          </a:xfrm>
          <a:prstGeom prst="rect">
            <a:avLst/>
          </a:prstGeom>
          <a:solidFill>
            <a:srgbClr val="5C7A7D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0" y="493776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CoopHabitat : anime le Daily et lève les blocages d'intégration Wave / SendFlash.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46720" y="1600200"/>
            <a:ext cx="3611880" cy="4480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9" name="Shape 15"/>
          <p:cNvSpPr/>
          <p:nvPr/>
        </p:nvSpPr>
        <p:spPr>
          <a:xfrm>
            <a:off x="9441180" y="18745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2" descr="/home/claude/pptx_project/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196" y="2002536"/>
            <a:ext cx="566928" cy="5669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0" y="28803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Équipe de développement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321040" y="33832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Auto-organisée et pluridisciplinaire, elle conçoit, code, teste et livre l'incrément.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321040" y="4800600"/>
            <a:ext cx="3063240" cy="9144"/>
          </a:xfrm>
          <a:prstGeom prst="rect">
            <a:avLst/>
          </a:prstGeom>
          <a:solidFill>
            <a:srgbClr val="5C7A7D"/>
          </a:solidFill>
          <a:ln/>
        </p:spPr>
      </p:sp>
      <p:sp>
        <p:nvSpPr>
          <p:cNvPr id="24" name="Text 19"/>
          <p:cNvSpPr/>
          <p:nvPr/>
        </p:nvSpPr>
        <p:spPr>
          <a:xfrm>
            <a:off x="8321040" y="493776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CoopHabitat : dev Angular, dev Spring Boot, QA se répartissent les User Stories du sprint.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4 – Méthodes Agiles : Scrum &amp; Kanban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Scrum — Les artefacts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Scrum produit et rend transparent à chaque instant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434340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pptx_project/icon_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0482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priorisée et évolutive de toutes les fonctionnalités du produit.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70916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gestion des membres, cotisations, lots, AG numérique…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645920"/>
            <a:ext cx="3611880" cy="434340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19202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pptx_project/icon_list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0482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Backlog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0" y="320040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Sous-ensemble du backlog sélectionné pour le sprint courant, plus le plan de réalisation.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0" y="470916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« Module cotisation + reçu PDF » pour le sprint 2.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46720" y="1645920"/>
            <a:ext cx="3611880" cy="434340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17" name="Shape 13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/home/claude/pptx_project/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204825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Incrément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21040" y="320040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des éléments terminés du backlog, potentiellement livrable à chaque sprint.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321040" y="470916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API cotisation déployée sur Render à la fin du sprint.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4 – Méthodes Agiles : Scrum &amp; Kanban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Scrum — Les cérémonies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rythme d'un sprint, du cadrage à l'amélioration continue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ptx_project/icon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5054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3429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" y="3794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&amp; estimation des US du sprint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783080" y="2816352"/>
            <a:ext cx="1600200" cy="36576"/>
          </a:xfrm>
          <a:prstGeom prst="rect">
            <a:avLst/>
          </a:prstGeom>
          <a:solidFill>
            <a:srgbClr val="5C7A7D"/>
          </a:solidFill>
          <a:ln/>
        </p:spPr>
      </p:sp>
      <p:sp>
        <p:nvSpPr>
          <p:cNvPr id="9" name="Shape 6"/>
          <p:cNvSpPr/>
          <p:nvPr/>
        </p:nvSpPr>
        <p:spPr>
          <a:xfrm>
            <a:off x="3429000" y="237744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/home/claude/pptx_project/icon_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25054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88920" y="3429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Scrum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788920" y="3794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 quotidienne 15 min de l'équipe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89120" y="2816352"/>
            <a:ext cx="1600200" cy="36576"/>
          </a:xfrm>
          <a:prstGeom prst="rect">
            <a:avLst/>
          </a:prstGeom>
          <a:solidFill>
            <a:srgbClr val="5C7A7D"/>
          </a:solidFill>
          <a:ln/>
        </p:spPr>
      </p:sp>
      <p:sp>
        <p:nvSpPr>
          <p:cNvPr id="14" name="Shape 10"/>
          <p:cNvSpPr/>
          <p:nvPr/>
        </p:nvSpPr>
        <p:spPr>
          <a:xfrm>
            <a:off x="6035040" y="237744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/home/claude/pptx_project/icon_fl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2505456"/>
            <a:ext cx="658368" cy="6583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94960" y="3429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Review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394960" y="3794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de l'incrément aux parties prenantes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995160" y="2816352"/>
            <a:ext cx="1600200" cy="36576"/>
          </a:xfrm>
          <a:prstGeom prst="rect">
            <a:avLst/>
          </a:prstGeom>
          <a:solidFill>
            <a:srgbClr val="5C7A7D"/>
          </a:solidFill>
          <a:ln/>
        </p:spPr>
      </p:sp>
      <p:sp>
        <p:nvSpPr>
          <p:cNvPr id="19" name="Shape 14"/>
          <p:cNvSpPr/>
          <p:nvPr/>
        </p:nvSpPr>
        <p:spPr>
          <a:xfrm>
            <a:off x="8641080" y="23774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/home/claude/pptx_project/icon_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9096" y="2505456"/>
            <a:ext cx="658368" cy="6583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01000" y="3429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Rétrospective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001000" y="3794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continue du fonctionnement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40080" y="4846320"/>
            <a:ext cx="10881360" cy="123444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24" name="Text 18"/>
          <p:cNvSpPr/>
          <p:nvPr/>
        </p:nvSpPr>
        <p:spPr>
          <a:xfrm>
            <a:off x="914400" y="498348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type d'un sprint : </a:t>
            </a: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à 4 semaines. </a:t>
            </a: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CoopHabitat, un sprint de 2 semaines permet de livrer un module cohérent (ex. « Espace membre ») tout en gardant un retour rapide du Product Owner (Trésorier).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4 – Méthodes Agiles : Scrum &amp; Kanban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méthode de flux continu, visuelle et sans itérations imposées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7373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pptx_project/icon_colum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0025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 du flux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tâches sont représentées sur un tableau à colonnes (statuts).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51960" y="1645920"/>
            <a:ext cx="3520440" cy="17373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18745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pptx_project/icon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20025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8288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 WIP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80560" y="24688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nombre maximal de tâches « en cours » par colonne pour éviter la surcharge.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1645920"/>
            <a:ext cx="3520440" cy="17373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18745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pptx_project/icon_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200253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18288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 tiré (pull)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83880" y="24688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tâche n'avance que lorsqu'une capacité se libère en aval.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2606040" cy="2651760"/>
          </a:xfrm>
          <a:prstGeom prst="rect">
            <a:avLst/>
          </a:prstGeom>
          <a:solidFill>
            <a:srgbClr val="F7FAF9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3657600"/>
            <a:ext cx="260604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3657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85800" y="4206240"/>
            <a:ext cx="2331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77240" y="4206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membre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85800" y="4864608"/>
            <a:ext cx="2331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7724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SMS retard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291840" y="3657600"/>
            <a:ext cx="2606040" cy="2651760"/>
          </a:xfrm>
          <a:prstGeom prst="rect">
            <a:avLst/>
          </a:prstGeom>
          <a:solidFill>
            <a:srgbClr val="F7FAF9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291840" y="3657600"/>
            <a:ext cx="260604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8" name="Text 23"/>
          <p:cNvSpPr/>
          <p:nvPr/>
        </p:nvSpPr>
        <p:spPr>
          <a:xfrm>
            <a:off x="3291840" y="3657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  (WIP 2)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3429000" y="4206240"/>
            <a:ext cx="2331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4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520440" y="4206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 PDF paiement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3429000" y="4864608"/>
            <a:ext cx="2331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52044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des lots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6035040" y="3657600"/>
            <a:ext cx="2606040" cy="2651760"/>
          </a:xfrm>
          <a:prstGeom prst="rect">
            <a:avLst/>
          </a:prstGeom>
          <a:solidFill>
            <a:srgbClr val="F7FAF9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035040" y="3657600"/>
            <a:ext cx="260604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5" name="Text 30"/>
          <p:cNvSpPr/>
          <p:nvPr/>
        </p:nvSpPr>
        <p:spPr>
          <a:xfrm>
            <a:off x="6035040" y="3657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REVUE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6172200" y="4206240"/>
            <a:ext cx="2331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263640" y="4206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financier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8778240" y="3657600"/>
            <a:ext cx="2606040" cy="2651760"/>
          </a:xfrm>
          <a:prstGeom prst="rect">
            <a:avLst/>
          </a:prstGeom>
          <a:solidFill>
            <a:srgbClr val="F7FAF9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8778240" y="3657600"/>
            <a:ext cx="2606040" cy="411480"/>
          </a:xfrm>
          <a:prstGeom prst="rect">
            <a:avLst/>
          </a:prstGeom>
          <a:solidFill>
            <a:srgbClr val="5C7A7D"/>
          </a:solidFill>
          <a:ln/>
        </p:spPr>
      </p:sp>
      <p:sp>
        <p:nvSpPr>
          <p:cNvPr id="40" name="Text 35"/>
          <p:cNvSpPr/>
          <p:nvPr/>
        </p:nvSpPr>
        <p:spPr>
          <a:xfrm>
            <a:off x="8778240" y="3657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8915400" y="4206240"/>
            <a:ext cx="2331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4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9006840" y="4206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8915400" y="4864608"/>
            <a:ext cx="2331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4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900684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membres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4 – Méthodes Agiles : Scrum &amp; Kanban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vs Kanban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approches Agiles complémentaires, à choisir selon le contexte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54864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0" y="1691640"/>
            <a:ext cx="416052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7452360" y="1691640"/>
            <a:ext cx="416052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69164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52360" y="169164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E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028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Itérations fixes (sprints)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35240" y="22402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continu, sans itération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53512"/>
            <a:ext cx="11064240" cy="713232"/>
          </a:xfrm>
          <a:prstGeom prst="rect">
            <a:avLst/>
          </a:prstGeom>
          <a:solidFill>
            <a:srgbClr val="F2F8F7"/>
          </a:solidFill>
          <a:ln w="9525">
            <a:solidFill>
              <a:srgbClr val="E3EE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5351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74720" y="295351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PO, Scrum Master, Équipe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35240" y="295351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rôle imposé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66744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E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66674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en cours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74720" y="3666744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Évité pendant le sprint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35240" y="3666744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Accepté à tout moment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379976"/>
            <a:ext cx="11064240" cy="713232"/>
          </a:xfrm>
          <a:prstGeom prst="rect">
            <a:avLst/>
          </a:prstGeom>
          <a:solidFill>
            <a:srgbClr val="F2F8F7"/>
          </a:solidFill>
          <a:ln w="9525">
            <a:solidFill>
              <a:srgbClr val="E3EE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37997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74720" y="4379976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Vélocité par sprint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35240" y="4379976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cycle (lead time)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093208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E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09320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type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74720" y="509320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de nouveaux modules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35240" y="509320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maintenance, flux continu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4 – Méthodes Agiles : Scrum &amp; Kanban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Indicateurs Agile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Vélocité et burndown chart pilotent l'avancement du sprint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434340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Vélocité par sprint (points)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22960" y="2286000"/>
          <a:ext cx="47548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1645920"/>
            <a:ext cx="5440680" cy="434340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Burndown chart — Sprint 2 (10 jours)</a:t>
            </a:r>
            <a:endParaRPr lang="en-US" sz="14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400800" y="2331720"/>
          <a:ext cx="49377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4 – Méthodes Agiles : Scrum &amp; Kanban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 pratique — Simulation d'un Sprint Planning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 projet web CoopHabitat — Sprint 2 (2 semaines)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228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577340" y="1920240"/>
            <a:ext cx="640080" cy="640080"/>
          </a:xfrm>
          <a:prstGeom prst="ellipse">
            <a:avLst/>
          </a:prstGeom>
          <a:solidFill>
            <a:srgbClr val="0B2E30"/>
          </a:solidFill>
          <a:ln/>
        </p:spPr>
      </p:sp>
      <p:pic>
        <p:nvPicPr>
          <p:cNvPr id="6" name="Image 0" descr="/home/claude/pptx_project/icon_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356" y="20482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Objectif du sprint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3154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à un membre de payer sa cotisation en ligne et recevoir un reçu PDF automatique.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64992" y="1691640"/>
            <a:ext cx="2697480" cy="2286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Shape 7"/>
          <p:cNvSpPr/>
          <p:nvPr/>
        </p:nvSpPr>
        <p:spPr>
          <a:xfrm>
            <a:off x="4393692" y="1920240"/>
            <a:ext cx="640080" cy="640080"/>
          </a:xfrm>
          <a:prstGeom prst="ellipse">
            <a:avLst/>
          </a:prstGeom>
          <a:solidFill>
            <a:srgbClr val="0B2E30"/>
          </a:solidFill>
          <a:ln/>
        </p:spPr>
      </p:sp>
      <p:pic>
        <p:nvPicPr>
          <p:cNvPr id="11" name="Image 1" descr="/home/claude/pptx_project/icon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708" y="20482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Choix des US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47872" y="3154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 présente les US les mieux classées du Product Backlog à l'équipe.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81344" y="1691640"/>
            <a:ext cx="2697480" cy="228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Shape 11"/>
          <p:cNvSpPr/>
          <p:nvPr/>
        </p:nvSpPr>
        <p:spPr>
          <a:xfrm>
            <a:off x="7210044" y="1920240"/>
            <a:ext cx="640080" cy="640080"/>
          </a:xfrm>
          <a:prstGeom prst="ellipse">
            <a:avLst/>
          </a:prstGeom>
          <a:solidFill>
            <a:srgbClr val="0B2E30"/>
          </a:solidFill>
          <a:ln/>
        </p:spPr>
      </p:sp>
      <p:pic>
        <p:nvPicPr>
          <p:cNvPr id="16" name="Image 2" descr="/home/claude/pptx_project/icon_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60" y="204825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Estimation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64224" y="3154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estime en points (Planning Poker) : complexité, incertitude, effort.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997696" y="1691640"/>
            <a:ext cx="2697480" cy="2286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26396" y="1920240"/>
            <a:ext cx="640080" cy="640080"/>
          </a:xfrm>
          <a:prstGeom prst="ellipse">
            <a:avLst/>
          </a:prstGeom>
          <a:solidFill>
            <a:srgbClr val="0B2E30"/>
          </a:solidFill>
          <a:ln/>
        </p:spPr>
      </p:sp>
      <p:pic>
        <p:nvPicPr>
          <p:cNvPr id="21" name="Image 3" descr="/home/claude/pptx_project/icon_task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4412" y="204825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0576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Engagement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180576" y="3154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s'engage sur un Sprint Backlog compatible avec sa vélocité (~24 pts).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206240"/>
            <a:ext cx="11018520" cy="182880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Backlog retenu (extrait)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22960" y="470916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: Saisir un paiement de cotisation — 5 pts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: Générer un reçu PDF automatique — 3 pts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: Afficher le solde cumulé du membre — 5 pts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: Envoyer un rappel 3 jours avant échéance — 8 pts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4 – Méthodes Agiles : Scrum &amp; Kanban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 CoopHabitat (extrait priorisé)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par valeur métier — méthode MoSCoW simplifiée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512064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773936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739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69164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 + gestion des rôles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783080"/>
            <a:ext cx="96012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78308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295144"/>
            <a:ext cx="5303520" cy="512064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237744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377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2295144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des membres &amp; numéro d'adhérent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386584"/>
            <a:ext cx="96012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38658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898648"/>
            <a:ext cx="5303520" cy="512064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298094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80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2898648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des cotisations + reçu PDF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990088"/>
            <a:ext cx="96012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99008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502152"/>
            <a:ext cx="5303520" cy="512064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3584448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84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5568" y="350215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via Wave / SendFlash (sandbox)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593592"/>
            <a:ext cx="960120" cy="3291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59359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1691640"/>
            <a:ext cx="5303520" cy="512064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29" name="Shape 27"/>
          <p:cNvSpPr/>
          <p:nvPr/>
        </p:nvSpPr>
        <p:spPr>
          <a:xfrm>
            <a:off x="6144768" y="1773936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6144768" y="17739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01968" y="169164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d'attribution des lots + PV PDF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287000" y="1783080"/>
            <a:ext cx="960120" cy="3291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10287000" y="178308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2295144"/>
            <a:ext cx="5303520" cy="512064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35" name="Shape 33"/>
          <p:cNvSpPr/>
          <p:nvPr/>
        </p:nvSpPr>
        <p:spPr>
          <a:xfrm>
            <a:off x="6144768" y="2377440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6144768" y="2377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01968" y="2295144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automatiques SMS / e-mail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287000" y="2386584"/>
            <a:ext cx="960120" cy="3291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9" name="Text 37"/>
          <p:cNvSpPr/>
          <p:nvPr/>
        </p:nvSpPr>
        <p:spPr>
          <a:xfrm>
            <a:off x="10287000" y="238658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35040" y="2898648"/>
            <a:ext cx="5303520" cy="512064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41" name="Shape 39"/>
          <p:cNvSpPr/>
          <p:nvPr/>
        </p:nvSpPr>
        <p:spPr>
          <a:xfrm>
            <a:off x="6144768" y="2980944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6144768" y="2980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01968" y="2898648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Assemblée générale numérique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287000" y="2990088"/>
            <a:ext cx="960120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5" name="Text 43"/>
          <p:cNvSpPr/>
          <p:nvPr/>
        </p:nvSpPr>
        <p:spPr>
          <a:xfrm>
            <a:off x="10287000" y="299008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35040" y="3502152"/>
            <a:ext cx="5303520" cy="512064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47" name="Shape 45"/>
          <p:cNvSpPr/>
          <p:nvPr/>
        </p:nvSpPr>
        <p:spPr>
          <a:xfrm>
            <a:off x="6144768" y="3584448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8" name="Text 46"/>
          <p:cNvSpPr/>
          <p:nvPr/>
        </p:nvSpPr>
        <p:spPr>
          <a:xfrm>
            <a:off x="6144768" y="3584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601968" y="350215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offline partiel (Service Worker)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287000" y="3593592"/>
            <a:ext cx="960120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1" name="Text 49"/>
          <p:cNvSpPr/>
          <p:nvPr/>
        </p:nvSpPr>
        <p:spPr>
          <a:xfrm>
            <a:off x="10287000" y="359359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4 – Méthodes Agiles : Scrum &amp; Kanban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Kanban CoopHabitat (Trello / Jira)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visuel des tâches de développement en flux tiré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21408" cy="4572000"/>
          </a:xfrm>
          <a:prstGeom prst="rect">
            <a:avLst/>
          </a:prstGeom>
          <a:solidFill>
            <a:srgbClr val="0F3B3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2121408" cy="457200"/>
          </a:xfrm>
          <a:prstGeom prst="rect">
            <a:avLst/>
          </a:prstGeom>
          <a:solidFill>
            <a:srgbClr val="5C7A7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2286000"/>
            <a:ext cx="1901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comptable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3054096"/>
            <a:ext cx="1901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54096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 rapports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61488" y="1691640"/>
            <a:ext cx="2121408" cy="4572000"/>
          </a:xfrm>
          <a:prstGeom prst="rect">
            <a:avLst/>
          </a:prstGeom>
          <a:solidFill>
            <a:srgbClr val="0F3B3D"/>
          </a:solidFill>
          <a:ln/>
        </p:spPr>
      </p:sp>
      <p:sp>
        <p:nvSpPr>
          <p:cNvPr id="12" name="Shape 10"/>
          <p:cNvSpPr/>
          <p:nvPr/>
        </p:nvSpPr>
        <p:spPr>
          <a:xfrm>
            <a:off x="2761488" y="1691640"/>
            <a:ext cx="2121408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2761488" y="169164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71216" y="2286000"/>
            <a:ext cx="1901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944368" y="2286000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SMS J-3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71216" y="3054096"/>
            <a:ext cx="1901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944368" y="3054096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lot litigieux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74336" y="1691640"/>
            <a:ext cx="2121408" cy="4572000"/>
          </a:xfrm>
          <a:prstGeom prst="rect">
            <a:avLst/>
          </a:prstGeom>
          <a:solidFill>
            <a:srgbClr val="0F3B3D"/>
          </a:solidFill>
          <a:ln/>
        </p:spPr>
      </p:sp>
      <p:sp>
        <p:nvSpPr>
          <p:cNvPr id="19" name="Shape 17"/>
          <p:cNvSpPr/>
          <p:nvPr/>
        </p:nvSpPr>
        <p:spPr>
          <a:xfrm>
            <a:off x="4974336" y="1691640"/>
            <a:ext cx="2121408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4974336" y="169164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 (WIP: 3)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84064" y="2286000"/>
            <a:ext cx="1901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157216" y="2286000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 PDF paiement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84064" y="3054096"/>
            <a:ext cx="1901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157216" y="3054096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adhésion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84064" y="3822192"/>
            <a:ext cx="1901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157216" y="3822192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attribution PDF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87184" y="1691640"/>
            <a:ext cx="2121408" cy="4572000"/>
          </a:xfrm>
          <a:prstGeom prst="rect">
            <a:avLst/>
          </a:prstGeom>
          <a:solidFill>
            <a:srgbClr val="0F3B3D"/>
          </a:solidFill>
          <a:ln/>
        </p:spPr>
      </p:sp>
      <p:sp>
        <p:nvSpPr>
          <p:cNvPr id="28" name="Shape 26"/>
          <p:cNvSpPr/>
          <p:nvPr/>
        </p:nvSpPr>
        <p:spPr>
          <a:xfrm>
            <a:off x="7187184" y="1691640"/>
            <a:ext cx="2121408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7187184" y="169164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96912" y="2286000"/>
            <a:ext cx="1901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370064" y="2286000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cotisations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400032" y="1691640"/>
            <a:ext cx="2121408" cy="4572000"/>
          </a:xfrm>
          <a:prstGeom prst="rect">
            <a:avLst/>
          </a:prstGeom>
          <a:solidFill>
            <a:srgbClr val="0F3B3D"/>
          </a:solidFill>
          <a:ln/>
        </p:spPr>
      </p:sp>
      <p:sp>
        <p:nvSpPr>
          <p:cNvPr id="33" name="Shape 31"/>
          <p:cNvSpPr/>
          <p:nvPr/>
        </p:nvSpPr>
        <p:spPr>
          <a:xfrm>
            <a:off x="9400032" y="1691640"/>
            <a:ext cx="2121408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9400032" y="169164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509760" y="2286000"/>
            <a:ext cx="1901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9582912" y="2286000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509760" y="3054096"/>
            <a:ext cx="1901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9582912" y="3054096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API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4 – Méthodes Agiles : Scrum &amp; Kanban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Stories — format standard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tant que… je veux… afin de…" + critères d'acceptation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18520" cy="105156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pptx_project/icon_book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7510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00200"/>
            <a:ext cx="9784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tant que </a:t>
            </a: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&lt;rôle&gt;</a:t>
            </a:r>
            <a:r>
              <a:rPr lang="en-US" sz="17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je veux </a:t>
            </a: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&lt;fonctionnalité&gt;</a:t>
            </a:r>
            <a:r>
              <a:rPr lang="en-US" sz="17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afin de </a:t>
            </a: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&lt;bénéfice&gt;</a:t>
            </a:r>
            <a:r>
              <a:rPr lang="en-US" sz="17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18520" cy="1051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191256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17320" y="297180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que </a:t>
            </a: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Trésorier</a:t>
            </a: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je veux </a:t>
            </a:r>
            <a:r>
              <a:rPr lang="en-US" sz="12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 solde cumulé de chaque membre</a:t>
            </a: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afin de </a:t>
            </a:r>
            <a:r>
              <a:rPr lang="en-US" sz="12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rapidement les retards de cotisation</a:t>
            </a: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069080"/>
            <a:ext cx="11018520" cy="1051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4379976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3799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17320" y="416052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que </a:t>
            </a: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</a:t>
            </a: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je veux </a:t>
            </a:r>
            <a:r>
              <a:rPr lang="en-US" sz="12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recevoir un rappel 3 jours avant l'échéance</a:t>
            </a: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afin de </a:t>
            </a:r>
            <a:r>
              <a:rPr lang="en-US" sz="12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les pénalités de retard</a:t>
            </a: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5257800"/>
            <a:ext cx="11018520" cy="1051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7" name="Shape 14"/>
          <p:cNvSpPr/>
          <p:nvPr/>
        </p:nvSpPr>
        <p:spPr>
          <a:xfrm>
            <a:off x="777240" y="5568696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55686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17320" y="534924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que </a:t>
            </a: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Président</a:t>
            </a: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je veux </a:t>
            </a:r>
            <a:r>
              <a:rPr lang="en-US" sz="12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un PV d'attribution signé numériquement</a:t>
            </a: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afin de </a:t>
            </a:r>
            <a:r>
              <a:rPr lang="en-US" sz="12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la traçabilité du tirage des lots</a:t>
            </a: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4 – Méthodes Agiles : Scrum &amp; Kanban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n'est pas une fin en soi :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un cadre au service de la valeur livrée à la coopérative.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structure les sprints de développement ; Kanban fluidifie le support et la maintenance. CoopHabitat combinera les deux selon les phases du projet.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 — Questions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1382</Words>
  <Application>Microsoft Office PowerPoint</Application>
  <PresentationFormat>Grand écran</PresentationFormat>
  <Paragraphs>247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bmd tech</cp:lastModifiedBy>
  <cp:revision>4</cp:revision>
  <dcterms:created xsi:type="dcterms:W3CDTF">2026-07-13T22:48:12Z</dcterms:created>
  <dcterms:modified xsi:type="dcterms:W3CDTF">2026-07-20T08:02:50Z</dcterms:modified>
</cp:coreProperties>
</file>