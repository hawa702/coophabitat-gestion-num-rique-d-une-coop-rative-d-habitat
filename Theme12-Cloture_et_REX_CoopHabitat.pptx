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686a1e5-126b-9471-50c8-437227b98f65}">
          <p14:sldIdLst>
            <p14:sldId id="256"/>
            <p14:sldId id="257"/>
          </p14:sldIdLst>
        </p14:section>
        <p14:section name="Partie théorique" id="{0afaec92-c865-86e7-cea5-cbaa251a81f5}">
          <p14:sldIdLst>
            <p14:sldId id="258"/>
            <p14:sldId id="259"/>
            <p14:sldId id="260"/>
            <p14:sldId id="261"/>
            <p14:sldId id="262"/>
          </p14:sldIdLst>
        </p14:section>
        <p14:section name="Partie pratique" id="{591df106-1bf7-b5bb-69f1-85faa738c47e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nclusion" id="{7eac1a27-8dca-1efb-c532-0bb32c69c588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prévu (BAC)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3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Cotisations</c:v>
                  </c:pt>
                  <c:pt idx="1">
                    <c:v>Gestion des lots</c:v>
                  </c:pt>
                  <c:pt idx="2">
                    <c:v>Espace membre</c:v>
                  </c:pt>
                  <c:pt idx="3">
                    <c:v>Comptabilité et AG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20000</c:v>
                </c:pt>
                <c:pt idx="1">
                  <c:v>16000</c:v>
                </c:pt>
                <c:pt idx="2">
                  <c:v>12000</c:v>
                </c:pt>
                <c:pt idx="3">
                  <c:v>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Coût final</c:v>
                </c:pt>
              </c:strCache>
            </c:strRef>
          </c:tx>
          <c:spPr>
            <a:solidFill>
              <a:srgbClr val="E07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3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Cotisations</c:v>
                  </c:pt>
                  <c:pt idx="1">
                    <c:v>Gestion des lots</c:v>
                  </c:pt>
                  <c:pt idx="2">
                    <c:v>Espace membre</c:v>
                  </c:pt>
                  <c:pt idx="3">
                    <c:v>Comptabilité et AG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23600</c:v>
                </c:pt>
                <c:pt idx="1">
                  <c:v>16000</c:v>
                </c:pt>
                <c:pt idx="2">
                  <c:v>12000</c:v>
                </c:pt>
                <c:pt idx="3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630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30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0"/>
          <c:min val="0"/>
        </c:scaling>
        <c:delete val="0"/>
        <c:axPos val="l"/>
        <c:majorGridlines>
          <c:spPr>
            <a:ln w="12700" cap="flat">
              <a:solidFill>
                <a:srgbClr val="E3EE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30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Dernier thème : comment clore un projet et capitaliser ce qu'il nous a appris.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notions théoriques, puis le rapport de clôture et le retour d'expérience de CoopHabitat.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étapes, de la validation des livrables à la clôture administrative.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transfert réussi se mesure à l'autonomie de l'équipe opérationnelle.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Capitaliser, c'est capturer, valider, archiver, diffuser puis réutiliser.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évalue le projet à la clôture, puis ses bénéfices réels quelques mois plus tard.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Plusieurs formats de rétrospective ; l'essentiel est le climat sans blâme et les actions concrètes.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Rapport simulé construit sur nos indicateurs : les valeurs finales seront remplacées par les valeurs réelles.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critères du cahier des charges atteints ; l'objectif de délai de la charte est partiel.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que nous remettons au Bureau de la coopérative et ce que nous archivons.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étapes chronométrées ; trois actions maximum à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Presque chaque ligne renvoie à un thème du portfolio.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Extrait des leçons du portfolio : une leçon, une recommandation.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catégories de contenu, un propriétaire, un format unique de fiche.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messages à retenir.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Thème 12 — Clôture de Projet et REX · CoopHabitat · Groupe 11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8503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10241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haut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écor bas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Eyebrow"/>
          <p:cNvSpPr txBox="1"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THÈME 12 · PROJET COOPHABITAT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011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Clôture de Projet et Retour d'Expérience (REX)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6576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Rapport de clôture, rétrospective et base de connaissance : transformer le projet CoopHabitat terminé en savoir réutilisable.</a:t>
            </a:r>
            <a:endParaRPr lang="en-US" sz="1800" dirty="0"/>
          </a:p>
        </p:txBody>
      </p:sp>
      <p:sp>
        <p:nvSpPr>
          <p:cNvPr id="7" name="Groupe"/>
          <p:cNvSpPr txBox="1"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GROUPE 11</a:t>
            </a:r>
            <a:endParaRPr lang="en-US" sz="1400" dirty="0"/>
          </a:p>
        </p:txBody>
      </p:sp>
      <p:sp>
        <p:nvSpPr>
          <p:cNvPr id="8" name="Membres"/>
          <p:cNvSpPr txBox="1"/>
          <p:nvPr/>
        </p:nvSpPr>
        <p:spPr>
          <a:xfrm>
            <a:off x="822960" y="5596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Abdourahmane Diaw   ·   Coumbel Ka   ·   Ousmane Niang   ·   Hawa Diallo   ·   Abib Traoré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Ce que nous allons voir</a:t>
            </a:r>
            <a:endParaRPr lang="en-US" sz="3400" dirty="0"/>
          </a:p>
        </p:txBody>
      </p:sp>
      <p:sp>
        <p:nvSpPr>
          <p:cNvPr id="5" name="Carte PARTIE THÉORIQUE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6" name="Pastille FaBook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PARTIE THÉORIQUE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9260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Étapes et livrables de la clôture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Transfert de compétences et passation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Archivage et capitalisation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Indicateurs finaux et évaluation post-projet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Rétrospective (post-mortem)</a:t>
            </a:r>
            <a:endParaRPr lang="en-US" sz="2000" dirty="0"/>
          </a:p>
        </p:txBody>
      </p:sp>
      <p:sp>
        <p:nvSpPr>
          <p:cNvPr id="10" name="Carte PARTIE PRATIQUE — CoopHabitat"/>
          <p:cNvSpPr/>
          <p:nvPr/>
        </p:nvSpPr>
        <p:spPr>
          <a:xfrm>
            <a:off x="6199632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11" name="Pastille FaTasks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Tas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PARTIE PRATIQUE — CoopHabitat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565392" y="29260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Rapport de clôture du projet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Rétrospective Start / Stop / Continue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Leçons apprises et recommandations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Base de connaissance pour projets futurs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Étapes et livrables de la clôture</a:t>
            </a:r>
            <a:endParaRPr lang="en-US" sz="3400" dirty="0"/>
          </a:p>
        </p:txBody>
      </p:sp>
      <p:sp>
        <p:nvSpPr>
          <p:cNvPr id="5" name="Étape Valider les livrables"/>
          <p:cNvSpPr/>
          <p:nvPr/>
        </p:nvSpPr>
        <p:spPr>
          <a:xfrm>
            <a:off x="548640" y="1691640"/>
            <a:ext cx="351129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Numéro 1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Valider les livrables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Recette finale : tous les livrables conformes aux exigences</a:t>
            </a:r>
            <a:endParaRPr lang="en-US" sz="1500" dirty="0"/>
          </a:p>
        </p:txBody>
      </p:sp>
      <p:sp>
        <p:nvSpPr>
          <p:cNvPr id="10" name="Étape Obtenir l'acceptation"/>
          <p:cNvSpPr/>
          <p:nvPr/>
        </p:nvSpPr>
        <p:spPr>
          <a:xfrm>
            <a:off x="4338828" y="1691640"/>
            <a:ext cx="351129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Numéro 2"/>
          <p:cNvSpPr/>
          <p:nvPr/>
        </p:nvSpPr>
        <p:spPr>
          <a:xfrm>
            <a:off x="4613148" y="19659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31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36108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Obtenir l'acceptation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613148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Procès-verbal d'acceptation signé par le sponsor</a:t>
            </a:r>
            <a:endParaRPr lang="en-US" sz="1500" dirty="0"/>
          </a:p>
        </p:txBody>
      </p:sp>
      <p:sp>
        <p:nvSpPr>
          <p:cNvPr id="15" name="Étape Passer le relais"/>
          <p:cNvSpPr/>
          <p:nvPr/>
        </p:nvSpPr>
        <p:spPr>
          <a:xfrm>
            <a:off x="8129016" y="1691640"/>
            <a:ext cx="351129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Numéro 3"/>
          <p:cNvSpPr/>
          <p:nvPr/>
        </p:nvSpPr>
        <p:spPr>
          <a:xfrm>
            <a:off x="8403336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0333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9226296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Passer le relais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403336" y="2788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Formation, documentation et support à l'équipe opérationnelle</a:t>
            </a:r>
            <a:endParaRPr lang="en-US" sz="1500" dirty="0"/>
          </a:p>
        </p:txBody>
      </p:sp>
      <p:sp>
        <p:nvSpPr>
          <p:cNvPr id="20" name="Étape Établir le bilan"/>
          <p:cNvSpPr/>
          <p:nvPr/>
        </p:nvSpPr>
        <p:spPr>
          <a:xfrm>
            <a:off x="548640" y="3977640"/>
            <a:ext cx="351129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Numéro 4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645920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Établir le bilan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074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Objectifs, délais, coûts et qualité : prévu contre réalisé</a:t>
            </a:r>
            <a:endParaRPr lang="en-US" sz="1500" dirty="0"/>
          </a:p>
        </p:txBody>
      </p:sp>
      <p:sp>
        <p:nvSpPr>
          <p:cNvPr id="25" name="Étape Archiver et capitaliser"/>
          <p:cNvSpPr/>
          <p:nvPr/>
        </p:nvSpPr>
        <p:spPr>
          <a:xfrm>
            <a:off x="4338828" y="3977640"/>
            <a:ext cx="351129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6" name="Numéro 5"/>
          <p:cNvSpPr/>
          <p:nvPr/>
        </p:nvSpPr>
        <p:spPr>
          <a:xfrm>
            <a:off x="4613148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613148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5436108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Archiver et capitaliser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613148" y="5074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Dossier de projet et leçons apprises conservés et retrouvables</a:t>
            </a:r>
            <a:endParaRPr lang="en-US" sz="1500" dirty="0"/>
          </a:p>
        </p:txBody>
      </p:sp>
      <p:sp>
        <p:nvSpPr>
          <p:cNvPr id="30" name="Étape Clore et libérer"/>
          <p:cNvSpPr/>
          <p:nvPr/>
        </p:nvSpPr>
        <p:spPr>
          <a:xfrm>
            <a:off x="8129016" y="3977640"/>
            <a:ext cx="351129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31" name="Numéro 6"/>
          <p:cNvSpPr/>
          <p:nvPr/>
        </p:nvSpPr>
        <p:spPr>
          <a:xfrm>
            <a:off x="8403336" y="42519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403336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9226296" y="4251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Clore et libérer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403336" y="5074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Contrats, comptes et ressources libérés : clôture administrative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Transfert de compétences et passation</a:t>
            </a:r>
            <a:endParaRPr lang="en-US" sz="3400" dirty="0"/>
          </a:p>
        </p:txBody>
      </p:sp>
      <p:sp>
        <p:nvSpPr>
          <p:cNvPr id="5" name="Carte Former"/>
          <p:cNvSpPr/>
          <p:nvPr/>
        </p:nvSpPr>
        <p:spPr>
          <a:xfrm>
            <a:off x="548640" y="169164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6" name="Pastille FaChalkboardTeacher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ChalkboardTeac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13741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Former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24048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utilisateurs et l'équipe d'exploitation, avec des supports adaptés à chacun</a:t>
            </a:r>
            <a:endParaRPr lang="en-US" sz="1500" dirty="0"/>
          </a:p>
        </p:txBody>
      </p:sp>
      <p:sp>
        <p:nvSpPr>
          <p:cNvPr id="10" name="Carte Documenter"/>
          <p:cNvSpPr/>
          <p:nvPr/>
        </p:nvSpPr>
        <p:spPr>
          <a:xfrm>
            <a:off x="6245352" y="169164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1" name="Pastille FaFileAlt"/>
          <p:cNvSpPr/>
          <p:nvPr/>
        </p:nvSpPr>
        <p:spPr>
          <a:xfrm>
            <a:off x="6519672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122" y="213741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34072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Documenter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7434072" y="24048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Documentation technique et guide utilisateur, à jour et accessible</a:t>
            </a:r>
            <a:endParaRPr lang="en-US" sz="1500" dirty="0"/>
          </a:p>
        </p:txBody>
      </p:sp>
      <p:sp>
        <p:nvSpPr>
          <p:cNvPr id="15" name="Carte Transférer les accès"/>
          <p:cNvSpPr/>
          <p:nvPr/>
        </p:nvSpPr>
        <p:spPr>
          <a:xfrm>
            <a:off x="548640" y="352044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6" name="Pastille FaLock"/>
          <p:cNvSpPr/>
          <p:nvPr/>
        </p:nvSpPr>
        <p:spPr>
          <a:xfrm>
            <a:off x="822960" y="3794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ône 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396621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37360" y="3749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Transférer les accès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737360" y="42336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Dépôts, hébergement, comptes et responsabilités clairement remis</a:t>
            </a:r>
            <a:endParaRPr lang="en-US" sz="1500" dirty="0"/>
          </a:p>
        </p:txBody>
      </p:sp>
      <p:sp>
        <p:nvSpPr>
          <p:cNvPr id="20" name="Carte Assurer le support"/>
          <p:cNvSpPr/>
          <p:nvPr/>
        </p:nvSpPr>
        <p:spPr>
          <a:xfrm>
            <a:off x="6245352" y="3520440"/>
            <a:ext cx="53949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21" name="Pastille FaHeadset"/>
          <p:cNvSpPr/>
          <p:nvPr/>
        </p:nvSpPr>
        <p:spPr>
          <a:xfrm>
            <a:off x="6519672" y="3794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icône Heads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22" y="396621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34072" y="3749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Assurer le support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7434072" y="42336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Période de support post-lancement et procédure de gestion des incidents</a:t>
            </a:r>
            <a:endParaRPr lang="en-US" sz="1500" dirty="0"/>
          </a:p>
        </p:txBody>
      </p:sp>
      <p:sp>
        <p:nvSpPr>
          <p:cNvPr id="25" name="Bandeau passation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 transfert réussi se mesure à l'autonomie de l'équipe opérationnelle, pas à la remise des documents.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Archivage et capitalisation</a:t>
            </a:r>
            <a:endParaRPr lang="en-US" sz="3400" dirty="0"/>
          </a:p>
        </p:txBody>
      </p:sp>
      <p:sp>
        <p:nvSpPr>
          <p:cNvPr id="5" name="Pastille FaSearch"/>
          <p:cNvSpPr/>
          <p:nvPr/>
        </p:nvSpPr>
        <p:spPr>
          <a:xfrm>
            <a:off x="118872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côn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9431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943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Capturer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2377440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Pastille FaCheckCircle"/>
          <p:cNvSpPr/>
          <p:nvPr/>
        </p:nvSpPr>
        <p:spPr>
          <a:xfrm>
            <a:off x="3436315" y="17373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icône 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055" y="194310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41955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Valider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4625035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Pastille FaArchive"/>
          <p:cNvSpPr/>
          <p:nvPr/>
        </p:nvSpPr>
        <p:spPr>
          <a:xfrm>
            <a:off x="568391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icône Arch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50" y="194310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08955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Archiver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6872630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Pastille FaComments"/>
          <p:cNvSpPr/>
          <p:nvPr/>
        </p:nvSpPr>
        <p:spPr>
          <a:xfrm>
            <a:off x="7931506" y="17373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mage 3" descr="icône Comm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246" y="194310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337146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Diffuser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9120226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Pastille FaSyncAlt"/>
          <p:cNvSpPr/>
          <p:nvPr/>
        </p:nvSpPr>
        <p:spPr>
          <a:xfrm>
            <a:off x="10179101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4" descr="icône Sync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4841" y="1943100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584741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Réutiliser</a:t>
            </a:r>
            <a:endParaRPr lang="en-US" sz="1700" dirty="0"/>
          </a:p>
        </p:txBody>
      </p:sp>
      <p:sp>
        <p:nvSpPr>
          <p:cNvPr id="24" name="Carte que capitaliser"/>
          <p:cNvSpPr/>
          <p:nvPr/>
        </p:nvSpPr>
        <p:spPr>
          <a:xfrm>
            <a:off x="548640" y="3429000"/>
            <a:ext cx="5440680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 capitaliser ?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822960" y="40690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livrables et le dossier de projet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décisions et leur justification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données de référence : estimations, vélocité, coûts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Les leçons apprises</a:t>
            </a:r>
            <a:endParaRPr lang="en-US" sz="1800" dirty="0"/>
          </a:p>
        </p:txBody>
      </p:sp>
      <p:sp>
        <p:nvSpPr>
          <p:cNvPr id="27" name="Carte bonnes pratiques"/>
          <p:cNvSpPr/>
          <p:nvPr/>
        </p:nvSpPr>
        <p:spPr>
          <a:xfrm>
            <a:off x="6199632" y="3429000"/>
            <a:ext cx="5440680" cy="2788920"/>
          </a:xfrm>
          <a:prstGeom prst="roundRect">
            <a:avLst>
              <a:gd name="adj" fmla="val 2623"/>
            </a:avLst>
          </a:prstGeom>
          <a:solidFill>
            <a:schemeClr val="bg2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473952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Bonnes pratiques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6473952" y="406908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format standard pour chaque fiche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propriétaire désigné pour la base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contenu facile à retrouver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Une revue à chaque clôture de projet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4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Indicateurs finaux et évaluation</a:t>
            </a:r>
            <a:endParaRPr lang="en-US" sz="3400" dirty="0"/>
          </a:p>
        </p:txBody>
      </p:sp>
      <p:sp>
        <p:nvSpPr>
          <p:cNvPr id="5" name="Carte Succès du projet"/>
          <p:cNvSpPr/>
          <p:nvPr/>
        </p:nvSpPr>
        <p:spPr>
          <a:xfrm>
            <a:off x="548640" y="1691640"/>
            <a:ext cx="3566160" cy="38404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6" name="Pastille FaChartLine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Chart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Succès du projet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8346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Délai : prévu contre réalisé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Coût : budget contre dépenses finales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Périmètre et qualité livrés</a:t>
            </a:r>
            <a:endParaRPr lang="en-US" sz="1700" dirty="0"/>
          </a:p>
        </p:txBody>
      </p:sp>
      <p:sp>
        <p:nvSpPr>
          <p:cNvPr id="10" name="Carte Satisfaction"/>
          <p:cNvSpPr/>
          <p:nvPr/>
        </p:nvSpPr>
        <p:spPr>
          <a:xfrm>
            <a:off x="4402836" y="1691640"/>
            <a:ext cx="3566160" cy="38404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1" name="Pastille FaUsers"/>
          <p:cNvSpPr/>
          <p:nvPr/>
        </p:nvSpPr>
        <p:spPr>
          <a:xfrm>
            <a:off x="4677156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0345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00116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Satisfaction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722876" y="28346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Des parties prenantes (Président, Trésorier, Secrétaire)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Des utilisateurs finaux (les membres)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 l'équipe projet</a:t>
            </a:r>
            <a:endParaRPr lang="en-US" sz="1700" dirty="0"/>
          </a:p>
        </p:txBody>
      </p:sp>
      <p:sp>
        <p:nvSpPr>
          <p:cNvPr id="15" name="Carte Bénéfices obtenus"/>
          <p:cNvSpPr/>
          <p:nvPr/>
        </p:nvSpPr>
        <p:spPr>
          <a:xfrm>
            <a:off x="8257032" y="1691640"/>
            <a:ext cx="3566160" cy="38404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6" name="Pastille FaBullseye"/>
          <p:cNvSpPr/>
          <p:nvPr/>
        </p:nvSpPr>
        <p:spPr>
          <a:xfrm>
            <a:off x="8531352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ône 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203454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54312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Bénéfices obtenus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577072" y="28346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Atteinte des objectifs du business case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Mesurés quelques mois après la mise en service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Comparés aux objectifs de la charte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Évaluer deux fois : à la clôture (produit livré) et quelques mois plus tard (bénéfices réels).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Rétrospective (post-mortem)</a:t>
            </a:r>
            <a:endParaRPr lang="en-US" sz="3400" dirty="0"/>
          </a:p>
        </p:txBody>
      </p:sp>
      <p:sp>
        <p:nvSpPr>
          <p:cNvPr id="5" name="Méthode Start / Stop / Continue"/>
          <p:cNvSpPr/>
          <p:nvPr/>
        </p:nvSpPr>
        <p:spPr>
          <a:xfrm>
            <a:off x="548640" y="1691640"/>
            <a:ext cx="2788920" cy="2103120"/>
          </a:xfrm>
          <a:prstGeom prst="roundRect">
            <a:avLst>
              <a:gd name="adj" fmla="val 3478"/>
            </a:avLst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1874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Start / Stop / Continue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Que démarrer, arrêter, poursuivre ?</a:t>
            </a:r>
            <a:endParaRPr lang="en-US" sz="1400" dirty="0"/>
          </a:p>
        </p:txBody>
      </p:sp>
      <p:sp>
        <p:nvSpPr>
          <p:cNvPr id="8" name="Méthode 4L"/>
          <p:cNvSpPr/>
          <p:nvPr/>
        </p:nvSpPr>
        <p:spPr>
          <a:xfrm>
            <a:off x="3520440" y="1691640"/>
            <a:ext cx="2788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703320" y="1874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25603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Liked, Learned, Lacked, Longed for : apprécié, appris, manqué, désiré</a:t>
            </a:r>
            <a:endParaRPr lang="en-US" sz="1400" dirty="0"/>
          </a:p>
        </p:txBody>
      </p:sp>
      <p:sp>
        <p:nvSpPr>
          <p:cNvPr id="11" name="Méthode Étoile de mer"/>
          <p:cNvSpPr/>
          <p:nvPr/>
        </p:nvSpPr>
        <p:spPr>
          <a:xfrm>
            <a:off x="548640" y="3977640"/>
            <a:ext cx="2788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4160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Étoile de mer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8463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Plus de, moins de, garder, commencer, arrêter</a:t>
            </a:r>
            <a:endParaRPr lang="en-US" sz="1400" dirty="0"/>
          </a:p>
        </p:txBody>
      </p:sp>
      <p:sp>
        <p:nvSpPr>
          <p:cNvPr id="14" name="Méthode Voilier"/>
          <p:cNvSpPr/>
          <p:nvPr/>
        </p:nvSpPr>
        <p:spPr>
          <a:xfrm>
            <a:off x="3520440" y="3977640"/>
            <a:ext cx="278892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703320" y="41605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Voilier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48463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Vents porteurs, ancres et rochers (risques)</a:t>
            </a:r>
            <a:endParaRPr lang="en-US" sz="1400" dirty="0"/>
          </a:p>
        </p:txBody>
      </p:sp>
      <p:sp>
        <p:nvSpPr>
          <p:cNvPr id="17" name="Carte bonnes pratiques rétrospective"/>
          <p:cNvSpPr/>
          <p:nvPr/>
        </p:nvSpPr>
        <p:spPr>
          <a:xfrm>
            <a:off x="6583680" y="1691640"/>
            <a:ext cx="5056632" cy="4389120"/>
          </a:xfrm>
          <a:prstGeom prst="roundRect">
            <a:avLst>
              <a:gd name="adj" fmla="val 1667"/>
            </a:avLst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Bonnes pratiques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46888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Un climat de confiance : on analyse les processus, pas les personnes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Une séance limitée dans le temps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Des actions concrètes, avec un responsable et une échéance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Un suivi des actions à la séance suivante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Rapport de clôture : le bilan</a:t>
            </a:r>
            <a:endParaRPr lang="en-US" sz="3400" dirty="0"/>
          </a:p>
        </p:txBody>
      </p:sp>
      <p:sp>
        <p:nvSpPr>
          <p:cNvPr id="5" name="KPI Délai"/>
          <p:cNvSpPr/>
          <p:nvPr/>
        </p:nvSpPr>
        <p:spPr>
          <a:xfrm>
            <a:off x="548640" y="16916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 sem.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Délai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11 semaines pour 10 prévues</a:t>
            </a:r>
            <a:endParaRPr lang="en-US" sz="1300" dirty="0"/>
          </a:p>
        </p:txBody>
      </p:sp>
      <p:sp>
        <p:nvSpPr>
          <p:cNvPr id="9" name="KPI Coût total"/>
          <p:cNvSpPr/>
          <p:nvPr/>
        </p:nvSpPr>
        <p:spPr>
          <a:xfrm>
            <a:off x="3376879" y="16916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76879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+6,2 %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3468319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Coût total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68319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61 600 € pour 58 000 €</a:t>
            </a:r>
            <a:endParaRPr lang="en-US" sz="1300" dirty="0"/>
          </a:p>
        </p:txBody>
      </p:sp>
      <p:sp>
        <p:nvSpPr>
          <p:cNvPr id="13" name="KPI Couverture de tests"/>
          <p:cNvSpPr/>
          <p:nvPr/>
        </p:nvSpPr>
        <p:spPr>
          <a:xfrm>
            <a:off x="6205118" y="16916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05118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68 %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296558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Couverture de tests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96558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cible ≥ 60 %</a:t>
            </a:r>
            <a:endParaRPr lang="en-US" sz="1300" dirty="0"/>
          </a:p>
        </p:txBody>
      </p:sp>
      <p:sp>
        <p:nvSpPr>
          <p:cNvPr id="17" name="KPI Anomalie critique à la recette"/>
          <p:cNvSpPr/>
          <p:nvPr/>
        </p:nvSpPr>
        <p:spPr>
          <a:xfrm>
            <a:off x="9033358" y="16916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33358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9124798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Anomalie critique à la recette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124798" y="2834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conforme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Budget prévu et coût final par lot (€)</a:t>
            </a:r>
            <a:endParaRPr lang="en-US" sz="15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3886200"/>
          <a:ext cx="69494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Carte lecture bilan"/>
          <p:cNvSpPr/>
          <p:nvPr/>
        </p:nvSpPr>
        <p:spPr>
          <a:xfrm>
            <a:off x="7772400" y="3566160"/>
            <a:ext cx="386791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00100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Lecture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001000" y="41148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L'écart vient du module cotisations : +3 600 € contre +7 400 € projetés sans correction (Thème 7)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Rapport simulé : valeurs à remplacer par les valeurs réelles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Objectifs et critères de réussite</a:t>
            </a:r>
            <a:endParaRPr lang="en-US" sz="3400" dirty="0"/>
          </a:p>
        </p:txBody>
      </p:sp>
      <p:graphicFrame>
        <p:nvGraphicFramePr>
          <p:cNvPr id="10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280160"/>
                <a:gridCol w="39593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Critère du cahier des charges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Preuve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Tableau de bord trésorier en temps réel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Atteint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Tableau de bord trésorerie (Thème 9)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Rappel automatique 3 jours avant l'échéance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Atteint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Cas de tests CT-04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PV d'attribution PDF signé numériquement, bénéficiaire notifié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Atteint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Cas de tests CT-07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Espace membre : historique complet et solde restant dû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Atteint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Lot « Espace membre » (Thème 5)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Rapports financiers exportables en PDF et Excel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Atteint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JasperReports et export Excel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 SOLID, couverture de tests ≥ 60 %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Atteint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Couverture de 68 %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Carte réserves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22960" y="55778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Réserves : « MVP en 10 semaines » partiel (11 semaines) ; AG numérique limitée à la publication des comptes rendus, convocations et délibérations reportées en phase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Passation et archivage</a:t>
            </a:r>
            <a:endParaRPr lang="en-US" sz="3400" dirty="0"/>
          </a:p>
        </p:txBody>
      </p:sp>
      <p:sp>
        <p:nvSpPr>
          <p:cNvPr id="5" name="Carte Passation au Bureau"/>
          <p:cNvSpPr/>
          <p:nvPr/>
        </p:nvSpPr>
        <p:spPr>
          <a:xfrm>
            <a:off x="548640" y="1691640"/>
            <a:ext cx="544068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6" name="Pastille FaChalkboardTeacher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ChalkboardTeac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2311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874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Passation au Bureau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Formation du Président, du Trésorier et du Secrétaire, avec guide utilisateur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README, diagrammes UML, collection Postman, fichier OpenAPI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Transfert des accès : dépôt Git, hébergement Render, sandbox Wave / SendFlash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Support post-lancement et gestion des incidents de paiement (ITIL allégé)</a:t>
            </a:r>
            <a:endParaRPr lang="en-US" sz="1600" dirty="0"/>
          </a:p>
        </p:txBody>
      </p:sp>
      <p:sp>
        <p:nvSpPr>
          <p:cNvPr id="10" name="Carte Archivage"/>
          <p:cNvSpPr/>
          <p:nvPr/>
        </p:nvSpPr>
        <p:spPr>
          <a:xfrm>
            <a:off x="6199632" y="1691640"/>
            <a:ext cx="544068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1" name="Pastille FaArchive"/>
          <p:cNvSpPr/>
          <p:nvPr/>
        </p:nvSpPr>
        <p:spPr>
          <a:xfrm>
            <a:off x="6473952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Arch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202311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05472" y="18745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Archivage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65392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Dépôt Git complet (main, develop, feature)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PV de recette et rapports financiers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Registre des risques final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Rapports d'avancement et portfolio d'équipe</a:t>
            </a:r>
            <a:endParaRPr lang="en-US" sz="1600" dirty="0"/>
          </a:p>
        </p:txBody>
      </p:sp>
      <p:sp>
        <p:nvSpPr>
          <p:cNvPr id="15" name="Bandeau acceptation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Acceptation formelle 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signature du Président (sponsor), du Trésorier (Product Owner) et du chef de projet.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4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Rétrospective : déroulé de 60 minutes</a:t>
            </a:r>
            <a:endParaRPr lang="en-US" sz="3400" dirty="0"/>
          </a:p>
        </p:txBody>
      </p:sp>
      <p:sp>
        <p:nvSpPr>
          <p:cNvPr id="5" name="Étape Ouverture"/>
          <p:cNvSpPr/>
          <p:nvPr/>
        </p:nvSpPr>
        <p:spPr>
          <a:xfrm>
            <a:off x="548640" y="1691640"/>
            <a:ext cx="2103120" cy="31089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Ouverture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Objectif de la séance et règle : processus, pas personnes</a:t>
            </a:r>
            <a:endParaRPr lang="en-US" sz="1600" dirty="0"/>
          </a:p>
        </p:txBody>
      </p:sp>
      <p:sp>
        <p:nvSpPr>
          <p:cNvPr id="9" name="Étape Collecte"/>
          <p:cNvSpPr/>
          <p:nvPr/>
        </p:nvSpPr>
        <p:spPr>
          <a:xfrm>
            <a:off x="2796235" y="1691640"/>
            <a:ext cx="2103120" cy="31089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96235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2933395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Collecte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979115" y="30632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Chacun note ce qu'il faut démarrer, arrêter, continuer</a:t>
            </a:r>
            <a:endParaRPr lang="en-US" sz="1600" dirty="0"/>
          </a:p>
        </p:txBody>
      </p:sp>
      <p:sp>
        <p:nvSpPr>
          <p:cNvPr id="13" name="Étape Regroupement"/>
          <p:cNvSpPr/>
          <p:nvPr/>
        </p:nvSpPr>
        <p:spPr>
          <a:xfrm>
            <a:off x="5043830" y="1691640"/>
            <a:ext cx="2103120" cy="31089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383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18099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Regroupement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226710" y="30632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Idées similaires regroupées, vote pour les plus importantes</a:t>
            </a:r>
            <a:endParaRPr lang="en-US" sz="1600" dirty="0"/>
          </a:p>
        </p:txBody>
      </p:sp>
      <p:sp>
        <p:nvSpPr>
          <p:cNvPr id="17" name="Étape Décisions"/>
          <p:cNvSpPr/>
          <p:nvPr/>
        </p:nvSpPr>
        <p:spPr>
          <a:xfrm>
            <a:off x="7291426" y="1691640"/>
            <a:ext cx="2103120" cy="31089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91426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7428586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Décisions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474306" y="30632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Trois actions maximum, avec responsable et échéance</a:t>
            </a:r>
            <a:endParaRPr lang="en-US" sz="1600" dirty="0"/>
          </a:p>
        </p:txBody>
      </p:sp>
      <p:sp>
        <p:nvSpPr>
          <p:cNvPr id="21" name="Étape Clôture"/>
          <p:cNvSpPr/>
          <p:nvPr/>
        </p:nvSpPr>
        <p:spPr>
          <a:xfrm>
            <a:off x="9539021" y="1691640"/>
            <a:ext cx="2103120" cy="310896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539021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9676181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Clôture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9721901" y="30632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Remerciements et retour sur le temps investi</a:t>
            </a:r>
            <a:endParaRPr lang="en-US" sz="1600" dirty="0"/>
          </a:p>
        </p:txBody>
      </p:sp>
      <p:sp>
        <p:nvSpPr>
          <p:cNvPr id="25" name="Bandeau règle d'or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26" name="Pastille FaShieldAlt"/>
          <p:cNvSpPr/>
          <p:nvPr/>
        </p:nvSpPr>
        <p:spPr>
          <a:xfrm>
            <a:off x="822960" y="5303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0" descr="icône Shiel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463540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737360" y="5029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Règle d'or : on analyse les processus, jamais les personnes. Une rétrospective sans blâme produit des actions qui seront réellement appliquées.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Start / Stop / Continue</a:t>
            </a:r>
            <a:endParaRPr lang="en-US" sz="3400" dirty="0"/>
          </a:p>
        </p:txBody>
      </p:sp>
      <p:sp>
        <p:nvSpPr>
          <p:cNvPr id="5" name="Colonne Start"/>
          <p:cNvSpPr/>
          <p:nvPr/>
        </p:nvSpPr>
        <p:spPr>
          <a:xfrm>
            <a:off x="548640" y="169164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6" name="Pastille FaPlayCircle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Play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Start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À démarrer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Tester l'intégration Wave / SendFlash dès le sprint 1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Suivre CPI et SPI chaque semaine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Désigner un relais pour le suivi des cotisations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les critères d'acceptation avant l'estimation</a:t>
            </a:r>
            <a:endParaRPr lang="en-US" sz="1700" dirty="0"/>
          </a:p>
        </p:txBody>
      </p:sp>
      <p:sp>
        <p:nvSpPr>
          <p:cNvPr id="11" name="Colonne Stop"/>
          <p:cNvSpPr/>
          <p:nvPr/>
        </p:nvSpPr>
        <p:spPr>
          <a:xfrm>
            <a:off x="4402836" y="169164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2" name="Pastille FaStopCircle"/>
          <p:cNvSpPr/>
          <p:nvPr/>
        </p:nvSpPr>
        <p:spPr>
          <a:xfrm>
            <a:off x="4677156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1" descr="icône Stop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0345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00116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Stop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5500116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À arrêter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722876" y="28346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Dépasser 3 tâches en cours en parallèle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Modifier un contrat d'API sans revue ni notification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Estimer une User Story sans critères d'acceptation</a:t>
            </a:r>
            <a:endParaRPr lang="en-US" sz="1700" dirty="0"/>
          </a:p>
        </p:txBody>
      </p:sp>
      <p:sp>
        <p:nvSpPr>
          <p:cNvPr id="17" name="Colonne Continue"/>
          <p:cNvSpPr/>
          <p:nvPr/>
        </p:nvSpPr>
        <p:spPr>
          <a:xfrm>
            <a:off x="8257032" y="169164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/>
        </p:spPr>
      </p:sp>
      <p:sp>
        <p:nvSpPr>
          <p:cNvPr id="18" name="Pastille FaRedoAlt"/>
          <p:cNvSpPr/>
          <p:nvPr/>
        </p:nvSpPr>
        <p:spPr>
          <a:xfrm>
            <a:off x="8531352" y="1874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icône Redo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372" y="20345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54312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Continue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9354312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À poursuivre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577072" y="283464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Daily Scrum court et binômage senior / junior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Démonstration au Trésorier à chaque sprint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Registre des risques mis à jour à chaque sprint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PV et rapports générés automatiquement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Leçons apprises et recommandations</a:t>
            </a:r>
            <a:endParaRPr lang="en-US" sz="3400" dirty="0"/>
          </a:p>
        </p:txBody>
      </p:sp>
      <p:graphicFrame>
        <p:nvGraphicFramePr>
          <p:cNvPr id="14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1422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Thème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Leçon apprise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Recommandation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 — Planification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 chemin critique n'est pas le module le plus complexe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Calculer le chemin critique avant de répartir la vigilance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 — Risques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dépendance externe (Wave / SendFlash) était le risque le plus exposé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Chiffrer l'exposition et prévoir une solution de repli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 — Coûts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CPI et SPI ont dérivé ensemble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Les lire ensemble, corriger par une réaffectation ciblée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 — RH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 Trésorier cumulait A et R sur une tâche critique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Prévoir un relais pour chaque responsable unique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10 — Qualité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Des User Stories sans critères d'acceptation faussent estimation et recette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Imposer la Definition of Ready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11 — Gouvernance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cadre complet est trop lourd pour une petite équipe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Composer un modèle hybride allégé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Extrait : les neuf leçons complètes figurent dans le portfolio.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7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Base de connaissance</a:t>
            </a:r>
            <a:endParaRPr lang="en-US" sz="3400" dirty="0"/>
          </a:p>
        </p:txBody>
      </p:sp>
      <p:sp>
        <p:nvSpPr>
          <p:cNvPr id="5" name="Catégorie Modèles réutilisables"/>
          <p:cNvSpPr/>
          <p:nvPr/>
        </p:nvSpPr>
        <p:spPr>
          <a:xfrm>
            <a:off x="548640" y="169164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6" name="Pastille FaFileAlt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Modèles réutilisables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Charte, RACI, plan de communication, registre des risques, plan de tests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01-Modèles</a:t>
            </a:r>
            <a:endParaRPr lang="en-US" sz="1200" dirty="0"/>
          </a:p>
        </p:txBody>
      </p:sp>
      <p:sp>
        <p:nvSpPr>
          <p:cNvPr id="11" name="Catégorie Données de référence"/>
          <p:cNvSpPr/>
          <p:nvPr/>
        </p:nvSpPr>
        <p:spPr>
          <a:xfrm>
            <a:off x="4338828" y="169164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2" name="Pastille FaDatabase"/>
          <p:cNvSpPr/>
          <p:nvPr/>
        </p:nvSpPr>
        <p:spPr>
          <a:xfrm>
            <a:off x="4567428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icône 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20116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53228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Données de référence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67428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Vélocité, estimations contre réalisé, écarts CPI / SPI, coûts par lot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567428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Fichier de suivi</a:t>
            </a:r>
            <a:endParaRPr lang="en-US" sz="1200" dirty="0"/>
          </a:p>
        </p:txBody>
      </p:sp>
      <p:sp>
        <p:nvSpPr>
          <p:cNvPr id="17" name="Catégorie Décisions d'architecture"/>
          <p:cNvSpPr/>
          <p:nvPr/>
        </p:nvSpPr>
        <p:spPr>
          <a:xfrm>
            <a:off x="8129016" y="169164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8" name="Pastille FaSitemap"/>
          <p:cNvSpPr/>
          <p:nvPr/>
        </p:nvSpPr>
        <p:spPr>
          <a:xfrm>
            <a:off x="8357616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icône Site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0116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3416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Décisions d'architecture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357616" y="2560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Spring Boot, Angular, PostgreSQL, JWT, stratégie de Retry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357616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02-Architecture</a:t>
            </a:r>
            <a:endParaRPr lang="en-US" sz="1200" dirty="0"/>
          </a:p>
        </p:txBody>
      </p:sp>
      <p:sp>
        <p:nvSpPr>
          <p:cNvPr id="23" name="Catégorie Leçons apprises"/>
          <p:cNvSpPr/>
          <p:nvPr/>
        </p:nvSpPr>
        <p:spPr>
          <a:xfrm>
            <a:off x="548640" y="379476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4" name="Pastille FaLightbulb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3" descr="icône Lightbul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148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Leçons apprises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" y="4663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Fiches de leçons, rétrospectives, non-conformités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03-REX</a:t>
            </a:r>
            <a:endParaRPr lang="en-US" sz="1200" dirty="0"/>
          </a:p>
        </p:txBody>
      </p:sp>
      <p:sp>
        <p:nvSpPr>
          <p:cNvPr id="29" name="Catégorie Checklists"/>
          <p:cNvSpPr/>
          <p:nvPr/>
        </p:nvSpPr>
        <p:spPr>
          <a:xfrm>
            <a:off x="4338828" y="379476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30" name="Pastille FaClipboardCheck"/>
          <p:cNvSpPr/>
          <p:nvPr/>
        </p:nvSpPr>
        <p:spPr>
          <a:xfrm>
            <a:off x="4567428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4" descr="icône Clipboar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588" y="41148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253228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Checklists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4567428" y="4663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Definition of Ready, Definition of Done, recette, passation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4567428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04-Checklists</a:t>
            </a:r>
            <a:endParaRPr lang="en-US" sz="1200" dirty="0"/>
          </a:p>
        </p:txBody>
      </p:sp>
      <p:sp>
        <p:nvSpPr>
          <p:cNvPr id="35" name="Catégorie Prestataires"/>
          <p:cNvSpPr/>
          <p:nvPr/>
        </p:nvSpPr>
        <p:spPr>
          <a:xfrm>
            <a:off x="8129016" y="379476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36" name="Pastille FaHandshake"/>
          <p:cNvSpPr/>
          <p:nvPr/>
        </p:nvSpPr>
        <p:spPr>
          <a:xfrm>
            <a:off x="8357616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5" descr="icône Handsh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11480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043416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Prestataires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8357616" y="4663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Accès sandbox Wave / SendFlash, hébergeur, conditions d'usage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8357616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05-Prestataires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Règle : une leçon n'est archivée que si elle est accompagnée d'une action concrète pour le prochain projet.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Ce qu'il faut retenir</a:t>
            </a:r>
            <a:endParaRPr lang="en-US" sz="3400" dirty="0"/>
          </a:p>
        </p:txBody>
      </p:sp>
      <p:sp>
        <p:nvSpPr>
          <p:cNvPr id="5" name="Message Une clôture complète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Pastille FaFlagCheckered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FlagChecke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Une clôture complète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Livrables validés, acceptation formelle, passation, archivage.</a:t>
            </a:r>
            <a:endParaRPr lang="en-US" sz="1700" dirty="0"/>
          </a:p>
        </p:txBody>
      </p:sp>
      <p:sp>
        <p:nvSpPr>
          <p:cNvPr id="10" name="Message Mesurer deux fois"/>
          <p:cNvSpPr/>
          <p:nvPr/>
        </p:nvSpPr>
        <p:spPr>
          <a:xfrm>
            <a:off x="6245352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Pastille FaChartLine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Mesurer deux fois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788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À la clôture pour le produit, quelques mois plus tard pour les bénéfices.</a:t>
            </a:r>
            <a:endParaRPr lang="en-US" sz="1700" dirty="0"/>
          </a:p>
        </p:txBody>
      </p:sp>
      <p:sp>
        <p:nvSpPr>
          <p:cNvPr id="15" name="Message Une rétrospective sans blâme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Pastille FaComments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ône 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Une rétrospective sans blâme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Start / Stop / Continue, trois actions maximum, un responsable pour chacune.</a:t>
            </a:r>
            <a:endParaRPr lang="en-US" sz="1700" dirty="0"/>
          </a:p>
        </p:txBody>
      </p:sp>
      <p:sp>
        <p:nvSpPr>
          <p:cNvPr id="20" name="Message Capitaliser pour réutiliser"/>
          <p:cNvSpPr/>
          <p:nvPr/>
        </p:nvSpPr>
        <p:spPr>
          <a:xfrm>
            <a:off x="6245352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Pastille FaDatabase"/>
          <p:cNvSpPr/>
          <p:nvPr/>
        </p:nvSpPr>
        <p:spPr>
          <a:xfrm>
            <a:off x="6519672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icône 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44119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42632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Capitaliser pour réutiliser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6519672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Une leçon, une action, une base de connaissance retrouvable.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haut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écor bas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373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Merci de votre attention</a:t>
            </a:r>
            <a:endParaRPr lang="en-US" sz="4600" dirty="0"/>
          </a:p>
        </p:txBody>
      </p:sp>
      <p:sp>
        <p:nvSpPr>
          <p:cNvPr id="5" name="Questions"/>
          <p:cNvSpPr txBox="1"/>
          <p:nvPr/>
        </p:nvSpPr>
        <p:spPr>
          <a:xfrm>
            <a:off x="82296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Des questions ?</a:t>
            </a:r>
            <a:endParaRPr lang="en-US" sz="2400" dirty="0"/>
          </a:p>
        </p:txBody>
      </p:sp>
      <p:sp>
        <p:nvSpPr>
          <p:cNvPr id="6" name="Groupe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GROUPE 11</a:t>
            </a:r>
            <a:endParaRPr lang="en-US" sz="1400" dirty="0"/>
          </a:p>
        </p:txBody>
      </p:sp>
      <p:sp>
        <p:nvSpPr>
          <p:cNvPr id="7" name="Membres"/>
          <p:cNvSpPr txBox="1"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Abdourahmane Diaw   ·   Coumbel Ka   ·   Ousmane Niang   ·   Hawa Diallo   ·   Abib Traoré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pHabitat Teal">
  <a:themeElements>
    <a:clrScheme name="CoopHabitat Teal">
      <a:dk1>
        <a:srgbClr val="16302F"/>
      </a:dk1>
      <a:lt1>
        <a:srgbClr val="FFFFFF"/>
      </a:lt1>
      <a:dk2>
        <a:srgbClr val="0B2E30"/>
      </a:dk2>
      <a:lt2>
        <a:srgbClr val="F2F8F7"/>
      </a:lt2>
      <a:accent1>
        <a:srgbClr val="028090"/>
      </a:accent1>
      <a:accent2>
        <a:srgbClr val="00A896"/>
      </a:accent2>
      <a:accent3>
        <a:srgbClr val="02C39A"/>
      </a:accent3>
      <a:accent4>
        <a:srgbClr val="E0722F"/>
      </a:accent4>
      <a:accent5>
        <a:srgbClr val="5C7A7D"/>
      </a:accent5>
      <a:accent6>
        <a:srgbClr val="C9DAD8"/>
      </a:accent6>
      <a:hlink>
        <a:srgbClr val="028090"/>
      </a:hlink>
      <a:folHlink>
        <a:srgbClr val="5C7A7D"/>
      </a:folHlink>
    </a:clrScheme>
    <a:fontScheme name="CoopHabitat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Groupe 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Thème 12 — Clôture de Projet et Retour d'Expérience (REX)</dc:title>
  <dc:subject>PptxGenJS Presentation</dc:subject>
  <dc:creator>Groupe 11</dc:creator>
  <cp:lastModifiedBy>Groupe 11</cp:lastModifiedBy>
  <cp:revision>1</cp:revision>
  <dcterms:created xsi:type="dcterms:W3CDTF">2026-10-15T00:11:33Z</dcterms:created>
  <dcterms:modified xsi:type="dcterms:W3CDTF">2026-10-15T00:11:33Z</dcterms:modified>
</cp:coreProperties>
</file>