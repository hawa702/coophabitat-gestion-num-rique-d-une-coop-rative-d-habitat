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4" autoAdjust="0"/>
    <p:restoredTop sz="85000" autoAdjust="0"/>
  </p:normalViewPr>
  <p:slideViewPr>
    <p:cSldViewPr snapToGrid="0" snapToObjects="1">
      <p:cViewPr>
        <p:scale>
          <a:sx n="91" d="100"/>
          <a:sy n="91" d="100"/>
        </p:scale>
        <p:origin x="192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Probabilité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Inadéquation Besoins</c:v>
                </c:pt>
                <c:pt idx="1">
                  <c:v>Bugs d'Intégration Tardifs</c:v>
                </c:pt>
                <c:pt idx="2">
                  <c:v>Dérive budgétaire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70</c:v>
                </c:pt>
                <c:pt idx="2">
                  <c:v>45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15432112"/>
        <c:axId val="515432504"/>
      </c:barChart>
      <c:catAx>
        <c:axId val="5154321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Arial"/>
              </a:defRPr>
            </a:pPr>
            <a:endParaRPr lang="fr-FR"/>
          </a:p>
        </c:txPr>
        <c:crossAx val="515432504"/>
        <c:crosses val="autoZero"/>
        <c:auto val="1"/>
        <c:lblAlgn val="ctr"/>
        <c:lblOffset val="100"/>
        <c:noMultiLvlLbl val="1"/>
      </c:catAx>
      <c:valAx>
        <c:axId val="515432504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fr-FR"/>
          </a:p>
        </c:txPr>
        <c:crossAx val="515432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2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2926080" cy="292608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840480"/>
            <a:ext cx="2011680" cy="201168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en V et Waterfall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classiques de gestion de projet 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en Gestion de Projet </a:t>
            </a:r>
            <a:r>
              <a:rPr lang="en-US" sz="1200" dirty="0" err="1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</a:t>
            </a: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Avancée</a:t>
            </a:r>
            <a:endParaRPr lang="en-US" sz="1200" dirty="0" smtClean="0">
              <a:solidFill>
                <a:srgbClr val="9FB3C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i="1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11: 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Coumbel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Abdourahmane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Diaw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Ousmane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Hawa Diallo,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Abib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Traore</a:t>
            </a:r>
            <a:endParaRPr lang="en-US" sz="120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EAF0F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Fondements Théoriques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structure séquentielle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THÉORIQUES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Waterfall (Cascade)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en cascade est une approche linéaire où chaque phase dépend de l'achèvement de la précédente.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Exigences: 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 complet des besoins.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780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Conception: 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spécifications.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5409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169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œuvre: 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code.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55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finaux et conformité.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Maintenance: 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post-déploiement.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74920" y="123444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37160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58968" y="1234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46520" y="1801368"/>
            <a:ext cx="0" cy="548640"/>
          </a:xfrm>
          <a:prstGeom prst="line">
            <a:avLst/>
          </a:prstGeom>
          <a:noFill/>
          <a:ln w="19050">
            <a:solidFill>
              <a:srgbClr val="B8C4D6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5788152" y="180136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93852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172200" y="18013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159752" y="2368296"/>
            <a:ext cx="0" cy="548640"/>
          </a:xfrm>
          <a:prstGeom prst="line">
            <a:avLst/>
          </a:prstGeom>
          <a:noFill/>
          <a:ln w="19050">
            <a:solidFill>
              <a:srgbClr val="B8C4D6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6501384" y="236829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505456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85432" y="23682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872984" y="2935224"/>
            <a:ext cx="0" cy="548640"/>
          </a:xfrm>
          <a:prstGeom prst="line">
            <a:avLst/>
          </a:prstGeom>
          <a:noFill/>
          <a:ln w="19050">
            <a:solidFill>
              <a:srgbClr val="B8C4D6"/>
            </a:solidFill>
            <a:prstDash val="dash"/>
          </a:ln>
        </p:spPr>
      </p:sp>
      <p:sp>
        <p:nvSpPr>
          <p:cNvPr id="27" name="Shape 22"/>
          <p:cNvSpPr/>
          <p:nvPr/>
        </p:nvSpPr>
        <p:spPr>
          <a:xfrm>
            <a:off x="7214616" y="2935224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056" y="3072384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98664" y="293522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8586216" y="3502152"/>
            <a:ext cx="0" cy="548640"/>
          </a:xfrm>
          <a:prstGeom prst="line">
            <a:avLst/>
          </a:prstGeom>
          <a:noFill/>
          <a:ln w="19050">
            <a:solidFill>
              <a:srgbClr val="B8C4D6"/>
            </a:solidFill>
            <a:prstDash val="dash"/>
          </a:ln>
        </p:spPr>
      </p:sp>
      <p:sp>
        <p:nvSpPr>
          <p:cNvPr id="31" name="Shape 25"/>
          <p:cNvSpPr/>
          <p:nvPr/>
        </p:nvSpPr>
        <p:spPr>
          <a:xfrm>
            <a:off x="7927848" y="3502152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9288" y="3639312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311896" y="35021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— Cycle en V et Waterfall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THÉORIQUES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en V : la Qualité d'Abord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709160" y="1371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du Waterfall, il lie chaque phase de conception à une phase de test correspondante.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09160" y="217627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4983480" y="20391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Descendante: 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(Besoins &amp; Architecture).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286207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27249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 du V: 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(Codage).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354787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34107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Ascendante: </a:t>
            </a: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(Tests Unitaires → Intégration → Recette).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Besoins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D4E89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Acceptation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1417320"/>
            <a:ext cx="14173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13232" y="175564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1755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Système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0088" y="175564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D4E89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90088" y="1755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Système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84832" y="1984248"/>
            <a:ext cx="905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69264" y="2322576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9264" y="23225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Logicielle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34056" y="2322576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D4E89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34056" y="23225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Intégration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40864" y="2551176"/>
            <a:ext cx="39319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225296" y="2889504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25296" y="28895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Module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78024" y="2889504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D4E89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78024" y="28895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96896" y="3118104"/>
            <a:ext cx="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481328" y="3456432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481328" y="3456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— Cycle en V et Waterfall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THÉORIQUES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 et Limites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1828800"/>
            <a:ext cx="731520" cy="731520"/>
          </a:xfrm>
          <a:prstGeom prst="ellipse">
            <a:avLst/>
          </a:prstGeom>
          <a:solidFill>
            <a:srgbClr val="E8D4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claire, jalons bien définis, facilité de gestion budgétaire, traçabilité rigoureuse des livrables.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731520" cy="731520"/>
          </a:xfrm>
          <a:prstGeom prst="ellipse">
            <a:avLst/>
          </a:prstGeom>
          <a:solidFill>
            <a:srgbClr val="F0D6D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011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tunnel, rigidité face au changement, découverte tardive des bugs d'intégration, risque élevé sur le long terme.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— Cycle en V et Waterfall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THÉORIQUES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Exigences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828800"/>
            <a:ext cx="685800" cy="685800"/>
          </a:xfrm>
          <a:prstGeom prst="ellipse">
            <a:avLst/>
          </a:prstGeom>
          <a:solidFill>
            <a:srgbClr val="E8D4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" y="20025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Spécifications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les besoins métiers en documents contractuels non ambigus avant le code.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9272" y="155448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33672" y="1828800"/>
            <a:ext cx="685800" cy="685800"/>
          </a:xfrm>
          <a:prstGeom prst="ellipse">
            <a:avLst/>
          </a:prstGeom>
          <a:solidFill>
            <a:srgbClr val="E8D48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20025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9272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02152" y="306324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chaque test valide une exigence spécifique (Matrice de traçabilité).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9904" y="155448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04304" y="1828800"/>
            <a:ext cx="685800" cy="685800"/>
          </a:xfrm>
          <a:prstGeom prst="ellipse">
            <a:avLst/>
          </a:prstGeom>
          <a:solidFill>
            <a:srgbClr val="E8D4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00253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9904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72784" y="306324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le spatial, le médical, ou les ERP où la sécurité et les coûts de changement sont critiques.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— Cycle en V et Waterfall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THÉORIQUES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vs Cycle en V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283464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Waterfall (Cascade)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en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finale unique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Anticipés dès la conception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élevé (découverte tardive)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 (validation croisée)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Projets simples et courts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Projets complexes, multi-modules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Séquentielle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Exhaustive et liée aux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— Cycle en V et Waterfall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371600"/>
            <a:ext cx="3657600" cy="3657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Pratique — CoopHabitat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Digitalisation d'une coopérative d'habitat au Sénégal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COOPHABITAT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Projet (Waterfall)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7863840" cy="0"/>
          </a:xfrm>
          <a:prstGeom prst="line">
            <a:avLst/>
          </a:prstGeom>
          <a:noFill/>
          <a:ln w="25400">
            <a:solidFill>
              <a:srgbClr val="DC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578608"/>
            <a:ext cx="512064" cy="512064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97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22860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: Analyse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-228600" y="3520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membres &amp; cotisations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50008" y="2578608"/>
            <a:ext cx="512064" cy="512064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697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: Conception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737360" y="3520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Modèle Jasper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15968" y="2578608"/>
            <a:ext cx="512064" cy="512064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6974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0332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: Dev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703320" y="3520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/ Angular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81928" y="2578608"/>
            <a:ext cx="512064" cy="512064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6974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: Tests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669280" y="3520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&amp; Wave Sandbox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247888" y="2578608"/>
            <a:ext cx="512064" cy="512064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1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269748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3524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: Déploiement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635240" y="3520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Démo Live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— Cycle en V et Waterfall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COOPHABITAT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Entrées / Sorties par Phase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310896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20040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Entrées (Inputs)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Sorties (Livrables)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de cadrage CoopHabitat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Cahier des charges (SRS)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SRS validé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Diagrammes UML &amp; API Specs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de conception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source (Git) &amp; JAR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&amp; Plan de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de tests (CCT)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 validé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Live &amp; 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— Cycle en V et Waterfall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COOPHABITAT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Risques (Effet Tunnel)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8046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9502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Total = Σ ( Pᵢ × Iᵢ )   pour i = 1 à 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P = Probabilité et I = Impact (Conséquence de la rigidité séquentielle)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— Cycle en V et Waterfall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Shape 1"/>
          <p:cNvSpPr/>
          <p:nvPr/>
        </p:nvSpPr>
        <p:spPr>
          <a:xfrm>
            <a:off x="3794760" y="2331720"/>
            <a:ext cx="68580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343400" y="2606040"/>
            <a:ext cx="502920" cy="411480"/>
          </a:xfrm>
          <a:prstGeom prst="ellipse">
            <a:avLst/>
          </a:prstGeom>
          <a:solidFill>
            <a:srgbClr val="E8D4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et Réponses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CoopHabitat  |  Gestion Digitale  |  Sénégal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606</Words>
  <Application>Microsoft Office PowerPoint</Application>
  <PresentationFormat>Affichage à l'écran (16:9)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 en V et Waterfall</dc:title>
  <dc:subject>PptxGenJS Presentation</dc:subject>
  <dc:creator>Expertise en Gestion de Projet Informatique Avancée</dc:creator>
  <cp:lastModifiedBy>bmd tech</cp:lastModifiedBy>
  <cp:revision>2</cp:revision>
  <dcterms:created xsi:type="dcterms:W3CDTF">2026-07-06T17:07:01Z</dcterms:created>
  <dcterms:modified xsi:type="dcterms:W3CDTF">2026-07-20T08:01:58Z</dcterms:modified>
</cp:coreProperties>
</file>